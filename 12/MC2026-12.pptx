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94" r:id="rId3"/>
    <p:sldId id="282" r:id="rId4"/>
    <p:sldId id="259" r:id="rId5"/>
    <p:sldId id="264" r:id="rId6"/>
    <p:sldId id="265" r:id="rId7"/>
    <p:sldId id="258" r:id="rId8"/>
    <p:sldId id="261" r:id="rId9"/>
    <p:sldId id="262" r:id="rId10"/>
    <p:sldId id="263" r:id="rId11"/>
    <p:sldId id="268" r:id="rId12"/>
    <p:sldId id="272" r:id="rId13"/>
    <p:sldId id="274" r:id="rId14"/>
    <p:sldId id="275" r:id="rId15"/>
    <p:sldId id="276" r:id="rId16"/>
    <p:sldId id="278" r:id="rId17"/>
    <p:sldId id="279" r:id="rId18"/>
    <p:sldId id="288" r:id="rId19"/>
    <p:sldId id="292" r:id="rId20"/>
    <p:sldId id="293" r:id="rId21"/>
    <p:sldId id="283" r:id="rId22"/>
    <p:sldId id="284" r:id="rId23"/>
    <p:sldId id="285" r:id="rId24"/>
    <p:sldId id="286" r:id="rId25"/>
    <p:sldId id="287" r:id="rId26"/>
    <p:sldId id="289" r:id="rId27"/>
    <p:sldId id="291" r:id="rId2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74" autoAdjust="0"/>
    <p:restoredTop sz="94660"/>
  </p:normalViewPr>
  <p:slideViewPr>
    <p:cSldViewPr snapToGrid="0">
      <p:cViewPr varScale="1">
        <p:scale>
          <a:sx n="127" d="100"/>
          <a:sy n="127" d="100"/>
        </p:scale>
        <p:origin x="43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4425CF-E9FB-4146-B8F0-F1A2B2C0531A}" type="datetimeFigureOut">
              <a:rPr kumimoji="1" lang="ja-JP" altLang="en-US" smtClean="0"/>
              <a:t>2026/7/8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724106-AA93-7F4D-80AF-9BB117F4D749}" type="slidenum">
              <a:rPr kumimoji="1" lang="ja-JP" altLang="en-US" smtClean="0"/>
              <a:t>‹#›</a:t>
            </a:fld>
            <a:endParaRPr kumimoji="1" lang="ja-JP" altLang="en-US"/>
          </a:p>
        </p:txBody>
      </p:sp>
    </p:spTree>
    <p:extLst>
      <p:ext uri="{BB962C8B-B14F-4D97-AF65-F5344CB8AC3E}">
        <p14:creationId xmlns:p14="http://schemas.microsoft.com/office/powerpoint/2010/main" val="120513567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1BEB1C0-CC36-FD47-A35D-CC429A028845}" type="slidenum">
              <a:rPr kumimoji="1" lang="ja-JP" altLang="en-US" smtClean="0"/>
              <a:t>26</a:t>
            </a:fld>
            <a:endParaRPr kumimoji="1" lang="ja-JP" altLang="en-US"/>
          </a:p>
        </p:txBody>
      </p:sp>
    </p:spTree>
    <p:extLst>
      <p:ext uri="{BB962C8B-B14F-4D97-AF65-F5344CB8AC3E}">
        <p14:creationId xmlns:p14="http://schemas.microsoft.com/office/powerpoint/2010/main" val="1441357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AA1AE8C7-73AF-44D9-9BCA-335513F90FD7}" type="datetimeFigureOut">
              <a:rPr kumimoji="1" lang="ja-JP" altLang="en-US" smtClean="0"/>
              <a:t>2026/7/8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2372506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Courier New" panose="02070309020205020404" pitchFamily="49" charset="0"/>
                <a:cs typeface="Courier New" panose="02070309020205020404" pitchFamily="49" charset="0"/>
              </a:defRPr>
            </a:lvl1p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lvl1pPr>
              <a:defRPr>
                <a:latin typeface="Courier New" panose="02070309020205020404" pitchFamily="49" charset="0"/>
                <a:cs typeface="Courier New" panose="02070309020205020404" pitchFamily="49" charset="0"/>
              </a:defRPr>
            </a:lvl1pPr>
            <a:lvl2pPr>
              <a:defRPr>
                <a:latin typeface="Courier New" panose="02070309020205020404" pitchFamily="49" charset="0"/>
                <a:cs typeface="Courier New" panose="02070309020205020404" pitchFamily="49" charset="0"/>
              </a:defRPr>
            </a:lvl2pPr>
            <a:lvl3pPr>
              <a:defRPr>
                <a:latin typeface="Courier New" panose="02070309020205020404" pitchFamily="49" charset="0"/>
                <a:cs typeface="Courier New" panose="02070309020205020404" pitchFamily="49" charset="0"/>
              </a:defRPr>
            </a:lvl3pPr>
            <a:lvl4pPr>
              <a:defRPr>
                <a:latin typeface="Courier New" panose="02070309020205020404" pitchFamily="49" charset="0"/>
                <a:cs typeface="Courier New" panose="02070309020205020404" pitchFamily="49" charset="0"/>
              </a:defRPr>
            </a:lvl4pPr>
            <a:lvl5pPr>
              <a:defRPr>
                <a:latin typeface="Courier New" panose="02070309020205020404" pitchFamily="49" charset="0"/>
                <a:cs typeface="Courier New" panose="02070309020205020404" pitchFamily="49" charset="0"/>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AA1AE8C7-73AF-44D9-9BCA-335513F90FD7}" type="datetimeFigureOut">
              <a:rPr kumimoji="1" lang="ja-JP" altLang="en-US" smtClean="0"/>
              <a:t>2026/7/8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2467839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AA1AE8C7-73AF-44D9-9BCA-335513F90FD7}" type="datetimeFigureOut">
              <a:rPr kumimoji="1" lang="ja-JP" altLang="en-US" smtClean="0"/>
              <a:t>2026/7/8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1104734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AA1AE8C7-73AF-44D9-9BCA-335513F90FD7}" type="datetimeFigureOut">
              <a:rPr kumimoji="1" lang="ja-JP" altLang="en-US" smtClean="0"/>
              <a:t>2026/7/8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2122712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AA1AE8C7-73AF-44D9-9BCA-335513F90FD7}" type="datetimeFigureOut">
              <a:rPr kumimoji="1" lang="ja-JP" altLang="en-US" smtClean="0"/>
              <a:t>2026/7/8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2764706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AA1AE8C7-73AF-44D9-9BCA-335513F90FD7}" type="datetimeFigureOut">
              <a:rPr kumimoji="1" lang="ja-JP" altLang="en-US" smtClean="0"/>
              <a:t>2026/7/8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738239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AA1AE8C7-73AF-44D9-9BCA-335513F90FD7}" type="datetimeFigureOut">
              <a:rPr kumimoji="1" lang="ja-JP" altLang="en-US" smtClean="0"/>
              <a:t>2026/7/8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1193903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AA1AE8C7-73AF-44D9-9BCA-335513F90FD7}" type="datetimeFigureOut">
              <a:rPr kumimoji="1" lang="ja-JP" altLang="en-US" smtClean="0"/>
              <a:t>2026/7/8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1389530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AA1AE8C7-73AF-44D9-9BCA-335513F90FD7}" type="datetimeFigureOut">
              <a:rPr kumimoji="1" lang="ja-JP" altLang="en-US" smtClean="0"/>
              <a:t>2026/7/8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1874467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AA1AE8C7-73AF-44D9-9BCA-335513F90FD7}" type="datetimeFigureOut">
              <a:rPr kumimoji="1" lang="ja-JP" altLang="en-US" smtClean="0"/>
              <a:t>2026/7/8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1721491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AA1AE8C7-73AF-44D9-9BCA-335513F90FD7}" type="datetimeFigureOut">
              <a:rPr kumimoji="1" lang="ja-JP" altLang="en-US" smtClean="0"/>
              <a:t>2026/7/8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1215574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367553" y="309282"/>
            <a:ext cx="11492753" cy="927847"/>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367553" y="1497106"/>
            <a:ext cx="11492753" cy="5224369"/>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1AE8C7-73AF-44D9-9BCA-335513F90FD7}" type="datetimeFigureOut">
              <a:rPr kumimoji="1" lang="ja-JP" altLang="en-US" smtClean="0"/>
              <a:t>2026/7/8</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9448800" y="4930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3494674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accent2">
              <a:lumMod val="7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5">
            <a:lumMod val="50000"/>
          </a:schemeClr>
        </a:buClr>
        <a:buFont typeface="Wingdings" panose="05000000000000000000" pitchFamily="2" charset="2"/>
        <a:buChar char="n"/>
        <a:defRPr kumimoji="1" sz="3600" kern="1200">
          <a:solidFill>
            <a:schemeClr val="accent5">
              <a:lumMod val="50000"/>
            </a:schemeClr>
          </a:solidFill>
          <a:latin typeface="+mn-lt"/>
          <a:ea typeface="+mn-ea"/>
          <a:cs typeface="+mn-cs"/>
        </a:defRPr>
      </a:lvl1pPr>
      <a:lvl2pPr marL="685800" indent="-228600" algn="l" defTabSz="914400" rtl="0" eaLnBrk="1" latinLnBrk="0" hangingPunct="1">
        <a:lnSpc>
          <a:spcPct val="100000"/>
        </a:lnSpc>
        <a:spcBef>
          <a:spcPts val="500"/>
        </a:spcBef>
        <a:buFont typeface="Wingdings" panose="05000000000000000000" pitchFamily="2" charset="2"/>
        <a:buChar char="Ø"/>
        <a:defRPr kumimoji="1"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Wingdings" panose="05000000000000000000" pitchFamily="2" charset="2"/>
        <a:buChar char="u"/>
        <a:defRPr kumimoji="1" sz="2800" kern="1200">
          <a:solidFill>
            <a:schemeClr val="accent6">
              <a:lumMod val="50000"/>
            </a:schemeClr>
          </a:solidFill>
          <a:latin typeface="+mn-lt"/>
          <a:ea typeface="+mn-ea"/>
          <a:cs typeface="+mn-cs"/>
        </a:defRPr>
      </a:lvl3pPr>
      <a:lvl4pPr marL="1600200" indent="-228600" algn="l" defTabSz="914400" rtl="0" eaLnBrk="1" latinLnBrk="0" hangingPunct="1">
        <a:lnSpc>
          <a:spcPct val="100000"/>
        </a:lnSpc>
        <a:spcBef>
          <a:spcPts val="500"/>
        </a:spcBef>
        <a:buFont typeface="Wingdings" panose="05000000000000000000" pitchFamily="2" charset="2"/>
        <a:buChar char="ü"/>
        <a:defRPr kumimoji="1"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0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582706" y="1122363"/>
            <a:ext cx="11071412" cy="2387600"/>
          </a:xfrm>
        </p:spPr>
        <p:txBody>
          <a:bodyPr>
            <a:normAutofit fontScale="90000"/>
          </a:bodyPr>
          <a:lstStyle/>
          <a:p>
            <a:r>
              <a:rPr kumimoji="1" lang="ja-JP" altLang="en-US"/>
              <a:t>メディアコンピューティング</a:t>
            </a:r>
            <a:r>
              <a:rPr kumimoji="1" lang="en-US" altLang="ja-JP" dirty="0"/>
              <a:t>2026</a:t>
            </a:r>
            <a:br>
              <a:rPr lang="en-US" altLang="ja-JP" dirty="0"/>
            </a:br>
            <a:endParaRPr kumimoji="1" lang="ja-JP" altLang="en-US" dirty="0"/>
          </a:p>
        </p:txBody>
      </p:sp>
      <p:sp>
        <p:nvSpPr>
          <p:cNvPr id="3" name="サブタイトル 2"/>
          <p:cNvSpPr>
            <a:spLocks noGrp="1"/>
          </p:cNvSpPr>
          <p:nvPr>
            <p:ph type="subTitle" idx="1"/>
          </p:nvPr>
        </p:nvSpPr>
        <p:spPr>
          <a:xfrm>
            <a:off x="1546412" y="3853050"/>
            <a:ext cx="9144000" cy="1655762"/>
          </a:xfrm>
        </p:spPr>
        <p:txBody>
          <a:bodyPr>
            <a:normAutofit/>
          </a:bodyPr>
          <a:lstStyle/>
          <a:p>
            <a:r>
              <a:rPr lang="ja-JP" altLang="en-US" sz="3600"/>
              <a:t>第</a:t>
            </a:r>
            <a:r>
              <a:rPr lang="en-US" altLang="ja-JP" sz="3600" dirty="0"/>
              <a:t>12</a:t>
            </a:r>
            <a:r>
              <a:rPr lang="ja-JP" altLang="en-US" sz="3600"/>
              <a:t>回　パターン認識②</a:t>
            </a:r>
            <a:endParaRPr lang="en-US" altLang="ja-JP" sz="3600" dirty="0"/>
          </a:p>
        </p:txBody>
      </p:sp>
    </p:spTree>
    <p:extLst>
      <p:ext uri="{BB962C8B-B14F-4D97-AF65-F5344CB8AC3E}">
        <p14:creationId xmlns:p14="http://schemas.microsoft.com/office/powerpoint/2010/main" val="2120140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6C5A92-E793-B3E3-A1A6-EF53447D2556}"/>
              </a:ext>
            </a:extLst>
          </p:cNvPr>
          <p:cNvSpPr>
            <a:spLocks noGrp="1"/>
          </p:cNvSpPr>
          <p:nvPr>
            <p:ph type="title"/>
          </p:nvPr>
        </p:nvSpPr>
        <p:spPr/>
        <p:txBody>
          <a:bodyPr/>
          <a:lstStyle/>
          <a:p>
            <a:r>
              <a:rPr kumimoji="1" lang="ja-JP" altLang="en-US"/>
              <a:t>次元削減と主成分分析</a:t>
            </a:r>
          </a:p>
        </p:txBody>
      </p:sp>
      <p:sp>
        <p:nvSpPr>
          <p:cNvPr id="3" name="コンテンツ プレースホルダー 2">
            <a:extLst>
              <a:ext uri="{FF2B5EF4-FFF2-40B4-BE49-F238E27FC236}">
                <a16:creationId xmlns:a16="http://schemas.microsoft.com/office/drawing/2014/main" id="{B2317D6D-4F9B-87A5-88C5-14B1B7B59AD4}"/>
              </a:ext>
            </a:extLst>
          </p:cNvPr>
          <p:cNvSpPr>
            <a:spLocks noGrp="1"/>
          </p:cNvSpPr>
          <p:nvPr>
            <p:ph idx="1"/>
          </p:nvPr>
        </p:nvSpPr>
        <p:spPr/>
        <p:txBody>
          <a:bodyPr>
            <a:normAutofit fontScale="77500" lnSpcReduction="20000"/>
          </a:bodyPr>
          <a:lstStyle/>
          <a:p>
            <a:pPr>
              <a:lnSpc>
                <a:spcPct val="120000"/>
              </a:lnSpc>
            </a:pPr>
            <a:r>
              <a:rPr kumimoji="1" lang="ja-JP" altLang="en-US"/>
              <a:t>対象の識別</a:t>
            </a:r>
            <a:endParaRPr kumimoji="1" lang="en-US" altLang="ja-JP" dirty="0"/>
          </a:p>
          <a:p>
            <a:pPr lvl="1">
              <a:lnSpc>
                <a:spcPct val="120000"/>
              </a:lnSpc>
            </a:pPr>
            <a:r>
              <a:rPr lang="ja-JP" altLang="en-US"/>
              <a:t>色や形，濃度値分布など多次元の特徴量を設計</a:t>
            </a:r>
            <a:endParaRPr lang="en-US" altLang="ja-JP" dirty="0"/>
          </a:p>
          <a:p>
            <a:pPr lvl="1">
              <a:lnSpc>
                <a:spcPct val="120000"/>
              </a:lnSpc>
            </a:pPr>
            <a:r>
              <a:rPr kumimoji="1" lang="ja-JP" altLang="en-US"/>
              <a:t>画像自体を特徴量と考えることもできる</a:t>
            </a:r>
            <a:endParaRPr kumimoji="1" lang="en-US" altLang="ja-JP" dirty="0"/>
          </a:p>
          <a:p>
            <a:pPr lvl="2">
              <a:lnSpc>
                <a:spcPct val="120000"/>
              </a:lnSpc>
            </a:pPr>
            <a:r>
              <a:rPr lang="en-US" altLang="ja-JP" dirty="0"/>
              <a:t>256×256</a:t>
            </a:r>
            <a:r>
              <a:rPr lang="ja-JP" altLang="en-US"/>
              <a:t>の画像　→ </a:t>
            </a:r>
            <a:r>
              <a:rPr lang="en-US" altLang="ja-JP" dirty="0"/>
              <a:t>65,536</a:t>
            </a:r>
            <a:r>
              <a:rPr lang="ja-JP" altLang="en-US"/>
              <a:t>次元のベクトル</a:t>
            </a:r>
            <a:endParaRPr lang="en-US" altLang="ja-JP" dirty="0"/>
          </a:p>
          <a:p>
            <a:pPr lvl="2">
              <a:lnSpc>
                <a:spcPct val="120000"/>
              </a:lnSpc>
            </a:pPr>
            <a:r>
              <a:rPr kumimoji="1" lang="ja-JP" altLang="en-US"/>
              <a:t>似通ったパターンを内包しているはず</a:t>
            </a:r>
            <a:endParaRPr kumimoji="1" lang="en-US" altLang="ja-JP" dirty="0"/>
          </a:p>
          <a:p>
            <a:pPr lvl="1">
              <a:lnSpc>
                <a:spcPct val="120000"/>
              </a:lnSpc>
            </a:pPr>
            <a:r>
              <a:rPr lang="ja-JP" altLang="en-US"/>
              <a:t>次元が高すぎて人間には直感的に扱えない</a:t>
            </a:r>
            <a:endParaRPr kumimoji="1" lang="en-US" altLang="ja-JP" dirty="0"/>
          </a:p>
          <a:p>
            <a:pPr lvl="2">
              <a:lnSpc>
                <a:spcPct val="120000"/>
              </a:lnSpc>
            </a:pPr>
            <a:r>
              <a:rPr kumimoji="1" lang="ja-JP" altLang="en-US"/>
              <a:t>意味のある部分とそうでない部分が大抵ある</a:t>
            </a:r>
            <a:endParaRPr kumimoji="1" lang="en-US" altLang="ja-JP" dirty="0"/>
          </a:p>
          <a:p>
            <a:pPr lvl="3">
              <a:lnSpc>
                <a:spcPct val="120000"/>
              </a:lnSpc>
            </a:pPr>
            <a:r>
              <a:rPr lang="ja-JP" altLang="en-US"/>
              <a:t>情報は一様ではなく，粗・密に分布している</a:t>
            </a:r>
            <a:endParaRPr lang="en-US" altLang="ja-JP" dirty="0"/>
          </a:p>
          <a:p>
            <a:pPr lvl="1">
              <a:lnSpc>
                <a:spcPct val="120000"/>
              </a:lnSpc>
            </a:pPr>
            <a:r>
              <a:rPr kumimoji="1" lang="ja-JP" altLang="en-US"/>
              <a:t>意味のある情報のみを抽出できないか？</a:t>
            </a:r>
            <a:endParaRPr kumimoji="1" lang="en-US" altLang="ja-JP" dirty="0"/>
          </a:p>
          <a:p>
            <a:pPr lvl="2">
              <a:lnSpc>
                <a:spcPct val="120000"/>
              </a:lnSpc>
            </a:pPr>
            <a:r>
              <a:rPr lang="ja-JP" altLang="en-US"/>
              <a:t>線形：主成分分析</a:t>
            </a:r>
            <a:endParaRPr lang="en-US" altLang="ja-JP" dirty="0"/>
          </a:p>
          <a:p>
            <a:pPr lvl="3">
              <a:lnSpc>
                <a:spcPct val="120000"/>
              </a:lnSpc>
            </a:pPr>
            <a:r>
              <a:rPr lang="ja-JP" altLang="en-US"/>
              <a:t>意味のある軸に分解・削減</a:t>
            </a:r>
            <a:endParaRPr lang="en-US" altLang="ja-JP" dirty="0"/>
          </a:p>
          <a:p>
            <a:pPr lvl="2">
              <a:lnSpc>
                <a:spcPct val="120000"/>
              </a:lnSpc>
            </a:pPr>
            <a:r>
              <a:rPr kumimoji="1" lang="ja-JP" altLang="en-US"/>
              <a:t>非線形：畳み込みニューラルネットワーク（</a:t>
            </a:r>
            <a:r>
              <a:rPr kumimoji="1" lang="en-US" altLang="ja-JP" dirty="0"/>
              <a:t>CNN</a:t>
            </a:r>
            <a:r>
              <a:rPr kumimoji="1" lang="ja-JP" altLang="en-US"/>
              <a:t>）</a:t>
            </a:r>
          </a:p>
        </p:txBody>
      </p:sp>
      <p:sp>
        <p:nvSpPr>
          <p:cNvPr id="4" name="角丸四角形 3">
            <a:extLst>
              <a:ext uri="{FF2B5EF4-FFF2-40B4-BE49-F238E27FC236}">
                <a16:creationId xmlns:a16="http://schemas.microsoft.com/office/drawing/2014/main" id="{2D8D3A08-3D6B-9974-8595-02BF61F68853}"/>
              </a:ext>
            </a:extLst>
          </p:cNvPr>
          <p:cNvSpPr/>
          <p:nvPr/>
        </p:nvSpPr>
        <p:spPr>
          <a:xfrm>
            <a:off x="1607580" y="5265176"/>
            <a:ext cx="2359736" cy="4719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56759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4E27F52-4FBA-5310-835B-21C8924B7846}"/>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26A902F9-2FAC-8928-2512-75B2D5FD280E}"/>
              </a:ext>
            </a:extLst>
          </p:cNvPr>
          <p:cNvSpPr txBox="1"/>
          <p:nvPr/>
        </p:nvSpPr>
        <p:spPr>
          <a:xfrm>
            <a:off x="385370" y="120924"/>
            <a:ext cx="2989921" cy="461665"/>
          </a:xfrm>
          <a:prstGeom prst="rect">
            <a:avLst/>
          </a:prstGeom>
          <a:noFill/>
        </p:spPr>
        <p:txBody>
          <a:bodyPr wrap="none" rtlCol="0">
            <a:spAutoFit/>
          </a:bodyPr>
          <a:lstStyle/>
          <a:p>
            <a:r>
              <a:rPr kumimoji="1" lang="en-US" altLang="ja-JP" sz="2400" b="1" dirty="0">
                <a:solidFill>
                  <a:schemeClr val="bg1"/>
                </a:solidFill>
              </a:rPr>
              <a:t>2</a:t>
            </a:r>
            <a:r>
              <a:rPr kumimoji="1" lang="ja-JP" altLang="en-US" sz="2400" b="1">
                <a:solidFill>
                  <a:schemeClr val="bg1"/>
                </a:solidFill>
              </a:rPr>
              <a:t>次元を</a:t>
            </a:r>
            <a:r>
              <a:rPr kumimoji="1" lang="en-US" altLang="ja-JP" sz="2400" b="1" dirty="0">
                <a:solidFill>
                  <a:schemeClr val="bg1"/>
                </a:solidFill>
              </a:rPr>
              <a:t>1</a:t>
            </a:r>
            <a:r>
              <a:rPr kumimoji="1" lang="ja-JP" altLang="en-US" sz="2400" b="1">
                <a:solidFill>
                  <a:schemeClr val="bg1"/>
                </a:solidFill>
              </a:rPr>
              <a:t>次元にする</a:t>
            </a:r>
          </a:p>
        </p:txBody>
      </p:sp>
      <p:grpSp>
        <p:nvGrpSpPr>
          <p:cNvPr id="15" name="グループ化 14">
            <a:extLst>
              <a:ext uri="{FF2B5EF4-FFF2-40B4-BE49-F238E27FC236}">
                <a16:creationId xmlns:a16="http://schemas.microsoft.com/office/drawing/2014/main" id="{DA8121C6-BD92-F313-83CE-C84041CFD648}"/>
              </a:ext>
            </a:extLst>
          </p:cNvPr>
          <p:cNvGrpSpPr/>
          <p:nvPr/>
        </p:nvGrpSpPr>
        <p:grpSpPr>
          <a:xfrm>
            <a:off x="1039401" y="2057129"/>
            <a:ext cx="3600000" cy="3600000"/>
            <a:chOff x="1039401" y="2057129"/>
            <a:chExt cx="3600000" cy="3600000"/>
          </a:xfrm>
        </p:grpSpPr>
        <p:cxnSp>
          <p:nvCxnSpPr>
            <p:cNvPr id="6" name="直線矢印コネクタ 5">
              <a:extLst>
                <a:ext uri="{FF2B5EF4-FFF2-40B4-BE49-F238E27FC236}">
                  <a16:creationId xmlns:a16="http://schemas.microsoft.com/office/drawing/2014/main" id="{89AF832E-992A-BC3C-1BE7-43B9E363D5D5}"/>
                </a:ext>
              </a:extLst>
            </p:cNvPr>
            <p:cNvCxnSpPr>
              <a:cxnSpLocks/>
            </p:cNvCxnSpPr>
            <p:nvPr/>
          </p:nvCxnSpPr>
          <p:spPr>
            <a:xfrm flipV="1">
              <a:off x="1399401"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A3285C60-5813-46FE-E06B-BEDE52A7B82E}"/>
                </a:ext>
              </a:extLst>
            </p:cNvPr>
            <p:cNvCxnSpPr>
              <a:cxnSpLocks/>
            </p:cNvCxnSpPr>
            <p:nvPr/>
          </p:nvCxnSpPr>
          <p:spPr>
            <a:xfrm>
              <a:off x="1039401"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14" name="グループ化 13">
            <a:extLst>
              <a:ext uri="{FF2B5EF4-FFF2-40B4-BE49-F238E27FC236}">
                <a16:creationId xmlns:a16="http://schemas.microsoft.com/office/drawing/2014/main" id="{10A076A3-5F05-8F7D-EB8F-0043067B0653}"/>
              </a:ext>
            </a:extLst>
          </p:cNvPr>
          <p:cNvGrpSpPr/>
          <p:nvPr/>
        </p:nvGrpSpPr>
        <p:grpSpPr>
          <a:xfrm>
            <a:off x="1039401" y="-3833692"/>
            <a:ext cx="3600000" cy="3600000"/>
            <a:chOff x="1039401" y="-3833692"/>
            <a:chExt cx="3600000" cy="3600000"/>
          </a:xfrm>
        </p:grpSpPr>
        <p:cxnSp>
          <p:nvCxnSpPr>
            <p:cNvPr id="11" name="直線矢印コネクタ 10">
              <a:extLst>
                <a:ext uri="{FF2B5EF4-FFF2-40B4-BE49-F238E27FC236}">
                  <a16:creationId xmlns:a16="http://schemas.microsoft.com/office/drawing/2014/main" id="{037ED7D2-83E8-E0AE-2C4A-8B20F91AF81F}"/>
                </a:ext>
              </a:extLst>
            </p:cNvPr>
            <p:cNvCxnSpPr>
              <a:cxnSpLocks/>
            </p:cNvCxnSpPr>
            <p:nvPr/>
          </p:nvCxnSpPr>
          <p:spPr>
            <a:xfrm flipV="1">
              <a:off x="1399401" y="-3833692"/>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0D32960-1661-15FC-E06C-90FEB07EB4B4}"/>
                </a:ext>
              </a:extLst>
            </p:cNvPr>
            <p:cNvCxnSpPr>
              <a:cxnSpLocks/>
            </p:cNvCxnSpPr>
            <p:nvPr/>
          </p:nvCxnSpPr>
          <p:spPr>
            <a:xfrm>
              <a:off x="1039401" y="-595653"/>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C9E11B82-4E4A-BA44-D9D0-85C1E532451C}"/>
                </a:ext>
              </a:extLst>
            </p:cNvPr>
            <p:cNvSpPr/>
            <p:nvPr/>
          </p:nvSpPr>
          <p:spPr>
            <a:xfrm>
              <a:off x="1039401" y="-593692"/>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6" name="グループ化 15">
            <a:extLst>
              <a:ext uri="{FF2B5EF4-FFF2-40B4-BE49-F238E27FC236}">
                <a16:creationId xmlns:a16="http://schemas.microsoft.com/office/drawing/2014/main" id="{CA6063AB-E35E-4754-AE95-D1070C5A8E32}"/>
              </a:ext>
            </a:extLst>
          </p:cNvPr>
          <p:cNvGrpSpPr/>
          <p:nvPr/>
        </p:nvGrpSpPr>
        <p:grpSpPr>
          <a:xfrm>
            <a:off x="7192599" y="2057129"/>
            <a:ext cx="3600000" cy="3600000"/>
            <a:chOff x="1039401" y="2057129"/>
            <a:chExt cx="3600000" cy="3600000"/>
          </a:xfrm>
        </p:grpSpPr>
        <p:cxnSp>
          <p:nvCxnSpPr>
            <p:cNvPr id="17" name="直線矢印コネクタ 16">
              <a:extLst>
                <a:ext uri="{FF2B5EF4-FFF2-40B4-BE49-F238E27FC236}">
                  <a16:creationId xmlns:a16="http://schemas.microsoft.com/office/drawing/2014/main" id="{78C6DD03-2C3A-F3A8-E94D-80CAE46599FD}"/>
                </a:ext>
              </a:extLst>
            </p:cNvPr>
            <p:cNvCxnSpPr>
              <a:cxnSpLocks/>
            </p:cNvCxnSpPr>
            <p:nvPr/>
          </p:nvCxnSpPr>
          <p:spPr>
            <a:xfrm flipV="1">
              <a:off x="1399401"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9BE9D5DE-6FC3-33D1-E49F-429CBB1A4E66}"/>
                </a:ext>
              </a:extLst>
            </p:cNvPr>
            <p:cNvCxnSpPr>
              <a:cxnSpLocks/>
            </p:cNvCxnSpPr>
            <p:nvPr/>
          </p:nvCxnSpPr>
          <p:spPr>
            <a:xfrm>
              <a:off x="1039401"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33" name="グループ化 32">
            <a:extLst>
              <a:ext uri="{FF2B5EF4-FFF2-40B4-BE49-F238E27FC236}">
                <a16:creationId xmlns:a16="http://schemas.microsoft.com/office/drawing/2014/main" id="{E28E5BE3-8936-2CB3-DC2B-EFDB2BE6F51E}"/>
              </a:ext>
            </a:extLst>
          </p:cNvPr>
          <p:cNvGrpSpPr/>
          <p:nvPr/>
        </p:nvGrpSpPr>
        <p:grpSpPr>
          <a:xfrm>
            <a:off x="1669165" y="2562228"/>
            <a:ext cx="2806835" cy="2274690"/>
            <a:chOff x="1669165" y="2562228"/>
            <a:chExt cx="2806835" cy="2274690"/>
          </a:xfrm>
        </p:grpSpPr>
        <p:sp>
          <p:nvSpPr>
            <p:cNvPr id="19" name="円/楕円 18">
              <a:extLst>
                <a:ext uri="{FF2B5EF4-FFF2-40B4-BE49-F238E27FC236}">
                  <a16:creationId xmlns:a16="http://schemas.microsoft.com/office/drawing/2014/main" id="{562982A4-D56B-ABB0-FB83-1ECB96F4C149}"/>
                </a:ext>
              </a:extLst>
            </p:cNvPr>
            <p:cNvSpPr/>
            <p:nvPr/>
          </p:nvSpPr>
          <p:spPr>
            <a:xfrm>
              <a:off x="1790094" y="45602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a:extLst>
                <a:ext uri="{FF2B5EF4-FFF2-40B4-BE49-F238E27FC236}">
                  <a16:creationId xmlns:a16="http://schemas.microsoft.com/office/drawing/2014/main" id="{E8255AA4-7512-DAB8-CA7C-F776DD94F88E}"/>
                </a:ext>
              </a:extLst>
            </p:cNvPr>
            <p:cNvSpPr/>
            <p:nvPr/>
          </p:nvSpPr>
          <p:spPr>
            <a:xfrm>
              <a:off x="1880331" y="413109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a:extLst>
                <a:ext uri="{FF2B5EF4-FFF2-40B4-BE49-F238E27FC236}">
                  <a16:creationId xmlns:a16="http://schemas.microsoft.com/office/drawing/2014/main" id="{337E7BEF-A014-7F27-0124-A569F7D161DB}"/>
                </a:ext>
              </a:extLst>
            </p:cNvPr>
            <p:cNvSpPr/>
            <p:nvPr/>
          </p:nvSpPr>
          <p:spPr>
            <a:xfrm>
              <a:off x="1669165" y="362599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a:extLst>
                <a:ext uri="{FF2B5EF4-FFF2-40B4-BE49-F238E27FC236}">
                  <a16:creationId xmlns:a16="http://schemas.microsoft.com/office/drawing/2014/main" id="{2EE754E5-FB70-680D-55D8-53CAB20CCAB8}"/>
                </a:ext>
              </a:extLst>
            </p:cNvPr>
            <p:cNvSpPr/>
            <p:nvPr/>
          </p:nvSpPr>
          <p:spPr>
            <a:xfrm>
              <a:off x="2060805" y="314488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a:extLst>
                <a:ext uri="{FF2B5EF4-FFF2-40B4-BE49-F238E27FC236}">
                  <a16:creationId xmlns:a16="http://schemas.microsoft.com/office/drawing/2014/main" id="{8F9289E1-886A-56C5-D1D3-1F8FFB1DE8D0}"/>
                </a:ext>
              </a:extLst>
            </p:cNvPr>
            <p:cNvSpPr/>
            <p:nvPr/>
          </p:nvSpPr>
          <p:spPr>
            <a:xfrm>
              <a:off x="2839401" y="424803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23">
              <a:extLst>
                <a:ext uri="{FF2B5EF4-FFF2-40B4-BE49-F238E27FC236}">
                  <a16:creationId xmlns:a16="http://schemas.microsoft.com/office/drawing/2014/main" id="{5BF9CD6B-3EA2-BBAA-DF65-B40492909957}"/>
                </a:ext>
              </a:extLst>
            </p:cNvPr>
            <p:cNvSpPr/>
            <p:nvPr/>
          </p:nvSpPr>
          <p:spPr>
            <a:xfrm>
              <a:off x="3019875" y="4535436"/>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24">
              <a:extLst>
                <a:ext uri="{FF2B5EF4-FFF2-40B4-BE49-F238E27FC236}">
                  <a16:creationId xmlns:a16="http://schemas.microsoft.com/office/drawing/2014/main" id="{B4EACBE6-A58F-1F68-A287-5A0E7AA47F43}"/>
                </a:ext>
              </a:extLst>
            </p:cNvPr>
            <p:cNvSpPr/>
            <p:nvPr/>
          </p:nvSpPr>
          <p:spPr>
            <a:xfrm>
              <a:off x="3110112" y="430149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円/楕円 25">
              <a:extLst>
                <a:ext uri="{FF2B5EF4-FFF2-40B4-BE49-F238E27FC236}">
                  <a16:creationId xmlns:a16="http://schemas.microsoft.com/office/drawing/2014/main" id="{C3F61D4D-B455-8DF5-9A07-0759C126A78A}"/>
                </a:ext>
              </a:extLst>
            </p:cNvPr>
            <p:cNvSpPr/>
            <p:nvPr/>
          </p:nvSpPr>
          <p:spPr>
            <a:xfrm>
              <a:off x="3034626" y="3495675"/>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8784A803-F602-06FD-6E0C-1E654CED2EBF}"/>
                </a:ext>
              </a:extLst>
            </p:cNvPr>
            <p:cNvSpPr/>
            <p:nvPr/>
          </p:nvSpPr>
          <p:spPr>
            <a:xfrm>
              <a:off x="2952760" y="256222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7">
              <a:extLst>
                <a:ext uri="{FF2B5EF4-FFF2-40B4-BE49-F238E27FC236}">
                  <a16:creationId xmlns:a16="http://schemas.microsoft.com/office/drawing/2014/main" id="{A095EA53-CDAE-CAD8-00FF-281DF1C83A89}"/>
                </a:ext>
              </a:extLst>
            </p:cNvPr>
            <p:cNvSpPr/>
            <p:nvPr/>
          </p:nvSpPr>
          <p:spPr>
            <a:xfrm>
              <a:off x="4295526" y="465644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28">
              <a:extLst>
                <a:ext uri="{FF2B5EF4-FFF2-40B4-BE49-F238E27FC236}">
                  <a16:creationId xmlns:a16="http://schemas.microsoft.com/office/drawing/2014/main" id="{A9E2B141-E48F-2F58-F596-F3EF3994563F}"/>
                </a:ext>
              </a:extLst>
            </p:cNvPr>
            <p:cNvSpPr/>
            <p:nvPr/>
          </p:nvSpPr>
          <p:spPr>
            <a:xfrm>
              <a:off x="4065002" y="4327166"/>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29">
              <a:extLst>
                <a:ext uri="{FF2B5EF4-FFF2-40B4-BE49-F238E27FC236}">
                  <a16:creationId xmlns:a16="http://schemas.microsoft.com/office/drawing/2014/main" id="{ABB002B2-D751-D238-42D2-F3CC581A1AE2}"/>
                </a:ext>
              </a:extLst>
            </p:cNvPr>
            <p:cNvSpPr/>
            <p:nvPr/>
          </p:nvSpPr>
          <p:spPr>
            <a:xfrm>
              <a:off x="4222363" y="385706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a:extLst>
                <a:ext uri="{FF2B5EF4-FFF2-40B4-BE49-F238E27FC236}">
                  <a16:creationId xmlns:a16="http://schemas.microsoft.com/office/drawing/2014/main" id="{AAFE2AF1-71C5-1BD4-9A94-F067BB4761D1}"/>
                </a:ext>
              </a:extLst>
            </p:cNvPr>
            <p:cNvSpPr/>
            <p:nvPr/>
          </p:nvSpPr>
          <p:spPr>
            <a:xfrm>
              <a:off x="4096054" y="319258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a:extLst>
                <a:ext uri="{FF2B5EF4-FFF2-40B4-BE49-F238E27FC236}">
                  <a16:creationId xmlns:a16="http://schemas.microsoft.com/office/drawing/2014/main" id="{60296862-A982-2BEA-62BF-48556E328455}"/>
                </a:ext>
              </a:extLst>
            </p:cNvPr>
            <p:cNvSpPr/>
            <p:nvPr/>
          </p:nvSpPr>
          <p:spPr>
            <a:xfrm>
              <a:off x="4257507" y="273433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グループ化 33">
            <a:extLst>
              <a:ext uri="{FF2B5EF4-FFF2-40B4-BE49-F238E27FC236}">
                <a16:creationId xmlns:a16="http://schemas.microsoft.com/office/drawing/2014/main" id="{0AB7FE8B-844D-9211-84FE-A84424FA94B2}"/>
              </a:ext>
            </a:extLst>
          </p:cNvPr>
          <p:cNvGrpSpPr/>
          <p:nvPr/>
        </p:nvGrpSpPr>
        <p:grpSpPr>
          <a:xfrm>
            <a:off x="7801724" y="2669120"/>
            <a:ext cx="2806835" cy="2274690"/>
            <a:chOff x="1669165" y="2562228"/>
            <a:chExt cx="2806835" cy="2274690"/>
          </a:xfrm>
        </p:grpSpPr>
        <p:sp>
          <p:nvSpPr>
            <p:cNvPr id="35" name="円/楕円 34">
              <a:extLst>
                <a:ext uri="{FF2B5EF4-FFF2-40B4-BE49-F238E27FC236}">
                  <a16:creationId xmlns:a16="http://schemas.microsoft.com/office/drawing/2014/main" id="{63462F36-38AD-CB67-498C-6F2E3DA0F34D}"/>
                </a:ext>
              </a:extLst>
            </p:cNvPr>
            <p:cNvSpPr/>
            <p:nvPr/>
          </p:nvSpPr>
          <p:spPr>
            <a:xfrm>
              <a:off x="1790094" y="45602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円/楕円 35">
              <a:extLst>
                <a:ext uri="{FF2B5EF4-FFF2-40B4-BE49-F238E27FC236}">
                  <a16:creationId xmlns:a16="http://schemas.microsoft.com/office/drawing/2014/main" id="{346CB700-68D7-A58C-4579-68366CC7188A}"/>
                </a:ext>
              </a:extLst>
            </p:cNvPr>
            <p:cNvSpPr/>
            <p:nvPr/>
          </p:nvSpPr>
          <p:spPr>
            <a:xfrm>
              <a:off x="1880331" y="413109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楕円 36">
              <a:extLst>
                <a:ext uri="{FF2B5EF4-FFF2-40B4-BE49-F238E27FC236}">
                  <a16:creationId xmlns:a16="http://schemas.microsoft.com/office/drawing/2014/main" id="{4221B51F-14A9-2999-C253-BF78456D83A2}"/>
                </a:ext>
              </a:extLst>
            </p:cNvPr>
            <p:cNvSpPr/>
            <p:nvPr/>
          </p:nvSpPr>
          <p:spPr>
            <a:xfrm>
              <a:off x="1669165" y="362599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楕円 37">
              <a:extLst>
                <a:ext uri="{FF2B5EF4-FFF2-40B4-BE49-F238E27FC236}">
                  <a16:creationId xmlns:a16="http://schemas.microsoft.com/office/drawing/2014/main" id="{9F14AC9B-E9E4-1E0E-2830-7BEC321FE9FC}"/>
                </a:ext>
              </a:extLst>
            </p:cNvPr>
            <p:cNvSpPr/>
            <p:nvPr/>
          </p:nvSpPr>
          <p:spPr>
            <a:xfrm>
              <a:off x="2060805" y="314488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a:extLst>
                <a:ext uri="{FF2B5EF4-FFF2-40B4-BE49-F238E27FC236}">
                  <a16:creationId xmlns:a16="http://schemas.microsoft.com/office/drawing/2014/main" id="{A380E0BB-DD33-83A7-DAE6-BDD47A1FF751}"/>
                </a:ext>
              </a:extLst>
            </p:cNvPr>
            <p:cNvSpPr/>
            <p:nvPr/>
          </p:nvSpPr>
          <p:spPr>
            <a:xfrm>
              <a:off x="2839401" y="424803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a:extLst>
                <a:ext uri="{FF2B5EF4-FFF2-40B4-BE49-F238E27FC236}">
                  <a16:creationId xmlns:a16="http://schemas.microsoft.com/office/drawing/2014/main" id="{94BB6FEA-F14D-4139-7318-CC837BA2FC86}"/>
                </a:ext>
              </a:extLst>
            </p:cNvPr>
            <p:cNvSpPr/>
            <p:nvPr/>
          </p:nvSpPr>
          <p:spPr>
            <a:xfrm>
              <a:off x="3019875" y="4535436"/>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0">
              <a:extLst>
                <a:ext uri="{FF2B5EF4-FFF2-40B4-BE49-F238E27FC236}">
                  <a16:creationId xmlns:a16="http://schemas.microsoft.com/office/drawing/2014/main" id="{5BEEA6A3-90CC-E222-446A-B76D8A3DFAD9}"/>
                </a:ext>
              </a:extLst>
            </p:cNvPr>
            <p:cNvSpPr/>
            <p:nvPr/>
          </p:nvSpPr>
          <p:spPr>
            <a:xfrm>
              <a:off x="3110112" y="430149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円/楕円 41">
              <a:extLst>
                <a:ext uri="{FF2B5EF4-FFF2-40B4-BE49-F238E27FC236}">
                  <a16:creationId xmlns:a16="http://schemas.microsoft.com/office/drawing/2014/main" id="{2D5DDC0C-F96F-D126-9F3D-D21A48307A90}"/>
                </a:ext>
              </a:extLst>
            </p:cNvPr>
            <p:cNvSpPr/>
            <p:nvPr/>
          </p:nvSpPr>
          <p:spPr>
            <a:xfrm>
              <a:off x="3034626" y="3495675"/>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楕円 42">
              <a:extLst>
                <a:ext uri="{FF2B5EF4-FFF2-40B4-BE49-F238E27FC236}">
                  <a16:creationId xmlns:a16="http://schemas.microsoft.com/office/drawing/2014/main" id="{9EFEC45D-CAE3-E23F-6345-802F97106568}"/>
                </a:ext>
              </a:extLst>
            </p:cNvPr>
            <p:cNvSpPr/>
            <p:nvPr/>
          </p:nvSpPr>
          <p:spPr>
            <a:xfrm>
              <a:off x="2952760" y="256222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43">
              <a:extLst>
                <a:ext uri="{FF2B5EF4-FFF2-40B4-BE49-F238E27FC236}">
                  <a16:creationId xmlns:a16="http://schemas.microsoft.com/office/drawing/2014/main" id="{FB0F06CF-9A34-D8F7-ED79-404FD8097364}"/>
                </a:ext>
              </a:extLst>
            </p:cNvPr>
            <p:cNvSpPr/>
            <p:nvPr/>
          </p:nvSpPr>
          <p:spPr>
            <a:xfrm>
              <a:off x="4295526" y="465644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44">
              <a:extLst>
                <a:ext uri="{FF2B5EF4-FFF2-40B4-BE49-F238E27FC236}">
                  <a16:creationId xmlns:a16="http://schemas.microsoft.com/office/drawing/2014/main" id="{0A4C0B7F-4688-1999-FD23-1CE0E9857E94}"/>
                </a:ext>
              </a:extLst>
            </p:cNvPr>
            <p:cNvSpPr/>
            <p:nvPr/>
          </p:nvSpPr>
          <p:spPr>
            <a:xfrm>
              <a:off x="4065002" y="4327166"/>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円/楕円 45">
              <a:extLst>
                <a:ext uri="{FF2B5EF4-FFF2-40B4-BE49-F238E27FC236}">
                  <a16:creationId xmlns:a16="http://schemas.microsoft.com/office/drawing/2014/main" id="{CE01C3AB-49A2-6482-5CF4-7D3429D1EB06}"/>
                </a:ext>
              </a:extLst>
            </p:cNvPr>
            <p:cNvSpPr/>
            <p:nvPr/>
          </p:nvSpPr>
          <p:spPr>
            <a:xfrm>
              <a:off x="4222363" y="385706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円/楕円 46">
              <a:extLst>
                <a:ext uri="{FF2B5EF4-FFF2-40B4-BE49-F238E27FC236}">
                  <a16:creationId xmlns:a16="http://schemas.microsoft.com/office/drawing/2014/main" id="{66407FC5-5B78-825C-7C23-CAEF7254F44C}"/>
                </a:ext>
              </a:extLst>
            </p:cNvPr>
            <p:cNvSpPr/>
            <p:nvPr/>
          </p:nvSpPr>
          <p:spPr>
            <a:xfrm>
              <a:off x="4096054" y="319258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円/楕円 47">
              <a:extLst>
                <a:ext uri="{FF2B5EF4-FFF2-40B4-BE49-F238E27FC236}">
                  <a16:creationId xmlns:a16="http://schemas.microsoft.com/office/drawing/2014/main" id="{CF1FBFAD-77DC-3820-ACD6-EB8E8EED1214}"/>
                </a:ext>
              </a:extLst>
            </p:cNvPr>
            <p:cNvSpPr/>
            <p:nvPr/>
          </p:nvSpPr>
          <p:spPr>
            <a:xfrm>
              <a:off x="4257507" y="273433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50" name="直線コネクタ 49">
            <a:extLst>
              <a:ext uri="{FF2B5EF4-FFF2-40B4-BE49-F238E27FC236}">
                <a16:creationId xmlns:a16="http://schemas.microsoft.com/office/drawing/2014/main" id="{5AC1BC25-48A6-FA86-3C4D-8459EF326A36}"/>
              </a:ext>
            </a:extLst>
          </p:cNvPr>
          <p:cNvCxnSpPr>
            <a:cxnSpLocks/>
          </p:cNvCxnSpPr>
          <p:nvPr/>
        </p:nvCxnSpPr>
        <p:spPr>
          <a:xfrm flipH="1">
            <a:off x="8319682" y="2068083"/>
            <a:ext cx="1839116" cy="3600000"/>
          </a:xfrm>
          <a:prstGeom prst="line">
            <a:avLst/>
          </a:prstGeom>
          <a:ln w="635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3" name="円/楕円 52">
            <a:extLst>
              <a:ext uri="{FF2B5EF4-FFF2-40B4-BE49-F238E27FC236}">
                <a16:creationId xmlns:a16="http://schemas.microsoft.com/office/drawing/2014/main" id="{B9FDDFD9-2875-39F3-F082-A2338ADDFD92}"/>
              </a:ext>
            </a:extLst>
          </p:cNvPr>
          <p:cNvSpPr/>
          <p:nvPr/>
        </p:nvSpPr>
        <p:spPr>
          <a:xfrm>
            <a:off x="712478" y="1411588"/>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chemeClr val="accent1">
                    <a:lumMod val="75000"/>
                  </a:schemeClr>
                </a:solidFill>
              </a:rPr>
              <a:t>１</a:t>
            </a:r>
          </a:p>
        </p:txBody>
      </p:sp>
      <p:sp>
        <p:nvSpPr>
          <p:cNvPr id="54" name="円/楕円 53">
            <a:extLst>
              <a:ext uri="{FF2B5EF4-FFF2-40B4-BE49-F238E27FC236}">
                <a16:creationId xmlns:a16="http://schemas.microsoft.com/office/drawing/2014/main" id="{8D8C75B4-167A-CB39-E759-14E7529AF112}"/>
              </a:ext>
            </a:extLst>
          </p:cNvPr>
          <p:cNvSpPr/>
          <p:nvPr/>
        </p:nvSpPr>
        <p:spPr>
          <a:xfrm>
            <a:off x="6865676" y="1409195"/>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accent1">
                    <a:lumMod val="75000"/>
                  </a:schemeClr>
                </a:solidFill>
              </a:rPr>
              <a:t>２</a:t>
            </a:r>
            <a:endParaRPr kumimoji="1" lang="ja-JP" altLang="en-US" sz="2800" b="1">
              <a:solidFill>
                <a:schemeClr val="accent1">
                  <a:lumMod val="75000"/>
                </a:schemeClr>
              </a:solidFill>
            </a:endParaRPr>
          </a:p>
        </p:txBody>
      </p:sp>
    </p:spTree>
    <p:extLst>
      <p:ext uri="{BB962C8B-B14F-4D97-AF65-F5344CB8AC3E}">
        <p14:creationId xmlns:p14="http://schemas.microsoft.com/office/powerpoint/2010/main" val="4204704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DA8121C6-BD92-F313-83CE-C84041CFD648}"/>
              </a:ext>
            </a:extLst>
          </p:cNvPr>
          <p:cNvGrpSpPr/>
          <p:nvPr/>
        </p:nvGrpSpPr>
        <p:grpSpPr>
          <a:xfrm>
            <a:off x="1039401" y="2057129"/>
            <a:ext cx="3600000" cy="3600000"/>
            <a:chOff x="1039401" y="2057129"/>
            <a:chExt cx="3600000" cy="3600000"/>
          </a:xfrm>
        </p:grpSpPr>
        <p:cxnSp>
          <p:nvCxnSpPr>
            <p:cNvPr id="6" name="直線矢印コネクタ 5">
              <a:extLst>
                <a:ext uri="{FF2B5EF4-FFF2-40B4-BE49-F238E27FC236}">
                  <a16:creationId xmlns:a16="http://schemas.microsoft.com/office/drawing/2014/main" id="{89AF832E-992A-BC3C-1BE7-43B9E363D5D5}"/>
                </a:ext>
              </a:extLst>
            </p:cNvPr>
            <p:cNvCxnSpPr>
              <a:cxnSpLocks/>
            </p:cNvCxnSpPr>
            <p:nvPr/>
          </p:nvCxnSpPr>
          <p:spPr>
            <a:xfrm flipV="1">
              <a:off x="1399401"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A3285C60-5813-46FE-E06B-BEDE52A7B82E}"/>
                </a:ext>
              </a:extLst>
            </p:cNvPr>
            <p:cNvCxnSpPr>
              <a:cxnSpLocks/>
            </p:cNvCxnSpPr>
            <p:nvPr/>
          </p:nvCxnSpPr>
          <p:spPr>
            <a:xfrm>
              <a:off x="1039401"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14" name="グループ化 13">
            <a:extLst>
              <a:ext uri="{FF2B5EF4-FFF2-40B4-BE49-F238E27FC236}">
                <a16:creationId xmlns:a16="http://schemas.microsoft.com/office/drawing/2014/main" id="{10A076A3-5F05-8F7D-EB8F-0043067B0653}"/>
              </a:ext>
            </a:extLst>
          </p:cNvPr>
          <p:cNvGrpSpPr/>
          <p:nvPr/>
        </p:nvGrpSpPr>
        <p:grpSpPr>
          <a:xfrm>
            <a:off x="1039401" y="-3833692"/>
            <a:ext cx="3600000" cy="3600000"/>
            <a:chOff x="1039401" y="-3833692"/>
            <a:chExt cx="3600000" cy="3600000"/>
          </a:xfrm>
        </p:grpSpPr>
        <p:cxnSp>
          <p:nvCxnSpPr>
            <p:cNvPr id="11" name="直線矢印コネクタ 10">
              <a:extLst>
                <a:ext uri="{FF2B5EF4-FFF2-40B4-BE49-F238E27FC236}">
                  <a16:creationId xmlns:a16="http://schemas.microsoft.com/office/drawing/2014/main" id="{037ED7D2-83E8-E0AE-2C4A-8B20F91AF81F}"/>
                </a:ext>
              </a:extLst>
            </p:cNvPr>
            <p:cNvCxnSpPr>
              <a:cxnSpLocks/>
            </p:cNvCxnSpPr>
            <p:nvPr/>
          </p:nvCxnSpPr>
          <p:spPr>
            <a:xfrm flipV="1">
              <a:off x="1399401" y="-3833692"/>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0D32960-1661-15FC-E06C-90FEB07EB4B4}"/>
                </a:ext>
              </a:extLst>
            </p:cNvPr>
            <p:cNvCxnSpPr>
              <a:cxnSpLocks/>
            </p:cNvCxnSpPr>
            <p:nvPr/>
          </p:nvCxnSpPr>
          <p:spPr>
            <a:xfrm>
              <a:off x="1039401" y="-595653"/>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C9E11B82-4E4A-BA44-D9D0-85C1E532451C}"/>
                </a:ext>
              </a:extLst>
            </p:cNvPr>
            <p:cNvSpPr/>
            <p:nvPr/>
          </p:nvSpPr>
          <p:spPr>
            <a:xfrm>
              <a:off x="1039401" y="-593692"/>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E28E5BE3-8936-2CB3-DC2B-EFDB2BE6F51E}"/>
              </a:ext>
            </a:extLst>
          </p:cNvPr>
          <p:cNvGrpSpPr/>
          <p:nvPr/>
        </p:nvGrpSpPr>
        <p:grpSpPr>
          <a:xfrm>
            <a:off x="1669165" y="2562228"/>
            <a:ext cx="2806835" cy="2274690"/>
            <a:chOff x="1669165" y="2562228"/>
            <a:chExt cx="2806835" cy="2274690"/>
          </a:xfrm>
        </p:grpSpPr>
        <p:sp>
          <p:nvSpPr>
            <p:cNvPr id="19" name="円/楕円 18">
              <a:extLst>
                <a:ext uri="{FF2B5EF4-FFF2-40B4-BE49-F238E27FC236}">
                  <a16:creationId xmlns:a16="http://schemas.microsoft.com/office/drawing/2014/main" id="{562982A4-D56B-ABB0-FB83-1ECB96F4C149}"/>
                </a:ext>
              </a:extLst>
            </p:cNvPr>
            <p:cNvSpPr/>
            <p:nvPr/>
          </p:nvSpPr>
          <p:spPr>
            <a:xfrm>
              <a:off x="1790094" y="45602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a:extLst>
                <a:ext uri="{FF2B5EF4-FFF2-40B4-BE49-F238E27FC236}">
                  <a16:creationId xmlns:a16="http://schemas.microsoft.com/office/drawing/2014/main" id="{E8255AA4-7512-DAB8-CA7C-F776DD94F88E}"/>
                </a:ext>
              </a:extLst>
            </p:cNvPr>
            <p:cNvSpPr/>
            <p:nvPr/>
          </p:nvSpPr>
          <p:spPr>
            <a:xfrm>
              <a:off x="1880331" y="413109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a:extLst>
                <a:ext uri="{FF2B5EF4-FFF2-40B4-BE49-F238E27FC236}">
                  <a16:creationId xmlns:a16="http://schemas.microsoft.com/office/drawing/2014/main" id="{337E7BEF-A014-7F27-0124-A569F7D161DB}"/>
                </a:ext>
              </a:extLst>
            </p:cNvPr>
            <p:cNvSpPr/>
            <p:nvPr/>
          </p:nvSpPr>
          <p:spPr>
            <a:xfrm>
              <a:off x="1669165" y="362599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a:extLst>
                <a:ext uri="{FF2B5EF4-FFF2-40B4-BE49-F238E27FC236}">
                  <a16:creationId xmlns:a16="http://schemas.microsoft.com/office/drawing/2014/main" id="{2EE754E5-FB70-680D-55D8-53CAB20CCAB8}"/>
                </a:ext>
              </a:extLst>
            </p:cNvPr>
            <p:cNvSpPr/>
            <p:nvPr/>
          </p:nvSpPr>
          <p:spPr>
            <a:xfrm>
              <a:off x="2060805" y="314488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a:extLst>
                <a:ext uri="{FF2B5EF4-FFF2-40B4-BE49-F238E27FC236}">
                  <a16:creationId xmlns:a16="http://schemas.microsoft.com/office/drawing/2014/main" id="{8F9289E1-886A-56C5-D1D3-1F8FFB1DE8D0}"/>
                </a:ext>
              </a:extLst>
            </p:cNvPr>
            <p:cNvSpPr/>
            <p:nvPr/>
          </p:nvSpPr>
          <p:spPr>
            <a:xfrm>
              <a:off x="2839401" y="424803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23">
              <a:extLst>
                <a:ext uri="{FF2B5EF4-FFF2-40B4-BE49-F238E27FC236}">
                  <a16:creationId xmlns:a16="http://schemas.microsoft.com/office/drawing/2014/main" id="{5BF9CD6B-3EA2-BBAA-DF65-B40492909957}"/>
                </a:ext>
              </a:extLst>
            </p:cNvPr>
            <p:cNvSpPr/>
            <p:nvPr/>
          </p:nvSpPr>
          <p:spPr>
            <a:xfrm>
              <a:off x="3019875" y="4535436"/>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24">
              <a:extLst>
                <a:ext uri="{FF2B5EF4-FFF2-40B4-BE49-F238E27FC236}">
                  <a16:creationId xmlns:a16="http://schemas.microsoft.com/office/drawing/2014/main" id="{B4EACBE6-A58F-1F68-A287-5A0E7AA47F43}"/>
                </a:ext>
              </a:extLst>
            </p:cNvPr>
            <p:cNvSpPr/>
            <p:nvPr/>
          </p:nvSpPr>
          <p:spPr>
            <a:xfrm>
              <a:off x="3110112" y="430149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円/楕円 25">
              <a:extLst>
                <a:ext uri="{FF2B5EF4-FFF2-40B4-BE49-F238E27FC236}">
                  <a16:creationId xmlns:a16="http://schemas.microsoft.com/office/drawing/2014/main" id="{C3F61D4D-B455-8DF5-9A07-0759C126A78A}"/>
                </a:ext>
              </a:extLst>
            </p:cNvPr>
            <p:cNvSpPr/>
            <p:nvPr/>
          </p:nvSpPr>
          <p:spPr>
            <a:xfrm>
              <a:off x="3034626" y="3495675"/>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8784A803-F602-06FD-6E0C-1E654CED2EBF}"/>
                </a:ext>
              </a:extLst>
            </p:cNvPr>
            <p:cNvSpPr/>
            <p:nvPr/>
          </p:nvSpPr>
          <p:spPr>
            <a:xfrm>
              <a:off x="2952760" y="256222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7">
              <a:extLst>
                <a:ext uri="{FF2B5EF4-FFF2-40B4-BE49-F238E27FC236}">
                  <a16:creationId xmlns:a16="http://schemas.microsoft.com/office/drawing/2014/main" id="{A095EA53-CDAE-CAD8-00FF-281DF1C83A89}"/>
                </a:ext>
              </a:extLst>
            </p:cNvPr>
            <p:cNvSpPr/>
            <p:nvPr/>
          </p:nvSpPr>
          <p:spPr>
            <a:xfrm>
              <a:off x="4295526" y="465644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28">
              <a:extLst>
                <a:ext uri="{FF2B5EF4-FFF2-40B4-BE49-F238E27FC236}">
                  <a16:creationId xmlns:a16="http://schemas.microsoft.com/office/drawing/2014/main" id="{A9E2B141-E48F-2F58-F596-F3EF3994563F}"/>
                </a:ext>
              </a:extLst>
            </p:cNvPr>
            <p:cNvSpPr/>
            <p:nvPr/>
          </p:nvSpPr>
          <p:spPr>
            <a:xfrm>
              <a:off x="4065002" y="4327166"/>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29">
              <a:extLst>
                <a:ext uri="{FF2B5EF4-FFF2-40B4-BE49-F238E27FC236}">
                  <a16:creationId xmlns:a16="http://schemas.microsoft.com/office/drawing/2014/main" id="{ABB002B2-D751-D238-42D2-F3CC581A1AE2}"/>
                </a:ext>
              </a:extLst>
            </p:cNvPr>
            <p:cNvSpPr/>
            <p:nvPr/>
          </p:nvSpPr>
          <p:spPr>
            <a:xfrm>
              <a:off x="4222363" y="385706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a:extLst>
                <a:ext uri="{FF2B5EF4-FFF2-40B4-BE49-F238E27FC236}">
                  <a16:creationId xmlns:a16="http://schemas.microsoft.com/office/drawing/2014/main" id="{AAFE2AF1-71C5-1BD4-9A94-F067BB4761D1}"/>
                </a:ext>
              </a:extLst>
            </p:cNvPr>
            <p:cNvSpPr/>
            <p:nvPr/>
          </p:nvSpPr>
          <p:spPr>
            <a:xfrm>
              <a:off x="4096054" y="319258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a:extLst>
                <a:ext uri="{FF2B5EF4-FFF2-40B4-BE49-F238E27FC236}">
                  <a16:creationId xmlns:a16="http://schemas.microsoft.com/office/drawing/2014/main" id="{60296862-A982-2BEA-62BF-48556E328455}"/>
                </a:ext>
              </a:extLst>
            </p:cNvPr>
            <p:cNvSpPr/>
            <p:nvPr/>
          </p:nvSpPr>
          <p:spPr>
            <a:xfrm>
              <a:off x="4257507" y="273433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3" name="円/楕円 52">
            <a:extLst>
              <a:ext uri="{FF2B5EF4-FFF2-40B4-BE49-F238E27FC236}">
                <a16:creationId xmlns:a16="http://schemas.microsoft.com/office/drawing/2014/main" id="{B9FDDFD9-2875-39F3-F082-A2338ADDFD92}"/>
              </a:ext>
            </a:extLst>
          </p:cNvPr>
          <p:cNvSpPr/>
          <p:nvPr/>
        </p:nvSpPr>
        <p:spPr>
          <a:xfrm>
            <a:off x="712478" y="1411588"/>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chemeClr val="accent1">
                    <a:lumMod val="75000"/>
                  </a:schemeClr>
                </a:solidFill>
              </a:rPr>
              <a:t>１</a:t>
            </a:r>
          </a:p>
        </p:txBody>
      </p:sp>
      <p:sp>
        <p:nvSpPr>
          <p:cNvPr id="54" name="円/楕円 53">
            <a:extLst>
              <a:ext uri="{FF2B5EF4-FFF2-40B4-BE49-F238E27FC236}">
                <a16:creationId xmlns:a16="http://schemas.microsoft.com/office/drawing/2014/main" id="{8D8C75B4-167A-CB39-E759-14E7529AF112}"/>
              </a:ext>
            </a:extLst>
          </p:cNvPr>
          <p:cNvSpPr/>
          <p:nvPr/>
        </p:nvSpPr>
        <p:spPr>
          <a:xfrm>
            <a:off x="6865676" y="1409195"/>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accent1">
                    <a:lumMod val="75000"/>
                  </a:schemeClr>
                </a:solidFill>
              </a:rPr>
              <a:t>２</a:t>
            </a:r>
            <a:endParaRPr kumimoji="1" lang="ja-JP" altLang="en-US" sz="2800" b="1">
              <a:solidFill>
                <a:schemeClr val="accent1">
                  <a:lumMod val="75000"/>
                </a:schemeClr>
              </a:solidFill>
            </a:endParaRPr>
          </a:p>
        </p:txBody>
      </p:sp>
      <p:cxnSp>
        <p:nvCxnSpPr>
          <p:cNvPr id="49" name="直線コネクタ 48">
            <a:extLst>
              <a:ext uri="{FF2B5EF4-FFF2-40B4-BE49-F238E27FC236}">
                <a16:creationId xmlns:a16="http://schemas.microsoft.com/office/drawing/2014/main" id="{B5AB8B5E-5358-5C51-3965-508642E16F29}"/>
              </a:ext>
            </a:extLst>
          </p:cNvPr>
          <p:cNvCxnSpPr>
            <a:cxnSpLocks/>
          </p:cNvCxnSpPr>
          <p:nvPr/>
        </p:nvCxnSpPr>
        <p:spPr>
          <a:xfrm flipH="1">
            <a:off x="2130620" y="2057063"/>
            <a:ext cx="1839116" cy="3600000"/>
          </a:xfrm>
          <a:prstGeom prst="line">
            <a:avLst/>
          </a:prstGeom>
          <a:ln w="635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 name="直線矢印コネクタ 2">
            <a:extLst>
              <a:ext uri="{FF2B5EF4-FFF2-40B4-BE49-F238E27FC236}">
                <a16:creationId xmlns:a16="http://schemas.microsoft.com/office/drawing/2014/main" id="{2A138500-EF6C-76AF-CC44-3C564279B769}"/>
              </a:ext>
            </a:extLst>
          </p:cNvPr>
          <p:cNvCxnSpPr>
            <a:cxnSpLocks/>
          </p:cNvCxnSpPr>
          <p:nvPr/>
        </p:nvCxnSpPr>
        <p:spPr>
          <a:xfrm flipH="1" flipV="1">
            <a:off x="3849189" y="4481972"/>
            <a:ext cx="522514" cy="264199"/>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74D55A2E-5F8E-EEE5-13F7-8A3634D7FC1F}"/>
              </a:ext>
            </a:extLst>
          </p:cNvPr>
          <p:cNvCxnSpPr>
            <a:cxnSpLocks/>
          </p:cNvCxnSpPr>
          <p:nvPr/>
        </p:nvCxnSpPr>
        <p:spPr>
          <a:xfrm flipH="1" flipV="1">
            <a:off x="3623745" y="4153204"/>
            <a:ext cx="522514" cy="264199"/>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2EE1C3F2-DCB3-9395-094B-7F9BCB779E02}"/>
              </a:ext>
            </a:extLst>
          </p:cNvPr>
          <p:cNvCxnSpPr>
            <a:cxnSpLocks/>
          </p:cNvCxnSpPr>
          <p:nvPr/>
        </p:nvCxnSpPr>
        <p:spPr>
          <a:xfrm flipH="1" flipV="1">
            <a:off x="3792804" y="3685397"/>
            <a:ext cx="522514" cy="264199"/>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3305CC01-B526-CCA1-2771-661D196731E1}"/>
              </a:ext>
            </a:extLst>
          </p:cNvPr>
          <p:cNvCxnSpPr>
            <a:cxnSpLocks/>
          </p:cNvCxnSpPr>
          <p:nvPr/>
        </p:nvCxnSpPr>
        <p:spPr>
          <a:xfrm flipH="1" flipV="1">
            <a:off x="3654797" y="3016059"/>
            <a:ext cx="522514" cy="264199"/>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9F3E2FBC-D3B1-30CE-3C53-FB9D19F3E932}"/>
              </a:ext>
            </a:extLst>
          </p:cNvPr>
          <p:cNvCxnSpPr>
            <a:cxnSpLocks/>
          </p:cNvCxnSpPr>
          <p:nvPr/>
        </p:nvCxnSpPr>
        <p:spPr>
          <a:xfrm flipH="1" flipV="1">
            <a:off x="3792804" y="2544793"/>
            <a:ext cx="522514" cy="264199"/>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AD12420B-60EC-3DA1-1131-1AE783BCC203}"/>
              </a:ext>
            </a:extLst>
          </p:cNvPr>
          <p:cNvCxnSpPr>
            <a:cxnSpLocks/>
          </p:cNvCxnSpPr>
          <p:nvPr/>
        </p:nvCxnSpPr>
        <p:spPr>
          <a:xfrm>
            <a:off x="2120040" y="3224251"/>
            <a:ext cx="551181" cy="282053"/>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矢印コネクタ 57">
            <a:extLst>
              <a:ext uri="{FF2B5EF4-FFF2-40B4-BE49-F238E27FC236}">
                <a16:creationId xmlns:a16="http://schemas.microsoft.com/office/drawing/2014/main" id="{DA4D9E51-02B1-A34D-E764-F64631E7D106}"/>
              </a:ext>
            </a:extLst>
          </p:cNvPr>
          <p:cNvCxnSpPr>
            <a:cxnSpLocks/>
          </p:cNvCxnSpPr>
          <p:nvPr/>
        </p:nvCxnSpPr>
        <p:spPr>
          <a:xfrm>
            <a:off x="1730180" y="3724704"/>
            <a:ext cx="551181" cy="282053"/>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D3D92101-AA29-0EE1-12E1-9FD690D792E2}"/>
              </a:ext>
            </a:extLst>
          </p:cNvPr>
          <p:cNvCxnSpPr>
            <a:cxnSpLocks/>
          </p:cNvCxnSpPr>
          <p:nvPr/>
        </p:nvCxnSpPr>
        <p:spPr>
          <a:xfrm>
            <a:off x="1951642" y="4216574"/>
            <a:ext cx="551181" cy="282053"/>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矢印コネクタ 59">
            <a:extLst>
              <a:ext uri="{FF2B5EF4-FFF2-40B4-BE49-F238E27FC236}">
                <a16:creationId xmlns:a16="http://schemas.microsoft.com/office/drawing/2014/main" id="{5A930F6D-443F-4697-0C76-9840BEAC0EC6}"/>
              </a:ext>
            </a:extLst>
          </p:cNvPr>
          <p:cNvCxnSpPr>
            <a:cxnSpLocks/>
          </p:cNvCxnSpPr>
          <p:nvPr/>
        </p:nvCxnSpPr>
        <p:spPr>
          <a:xfrm>
            <a:off x="1877993" y="4638625"/>
            <a:ext cx="551181" cy="282053"/>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AEE3E990-235F-48E2-B1E8-DADDB527DD31}"/>
              </a:ext>
            </a:extLst>
          </p:cNvPr>
          <p:cNvCxnSpPr>
            <a:cxnSpLocks/>
          </p:cNvCxnSpPr>
          <p:nvPr/>
        </p:nvCxnSpPr>
        <p:spPr>
          <a:xfrm>
            <a:off x="3056923" y="2671075"/>
            <a:ext cx="397132" cy="220229"/>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C7E5D518-F60A-D24E-7EF6-F8FAB442F36E}"/>
              </a:ext>
            </a:extLst>
          </p:cNvPr>
          <p:cNvCxnSpPr>
            <a:cxnSpLocks/>
          </p:cNvCxnSpPr>
          <p:nvPr/>
        </p:nvCxnSpPr>
        <p:spPr>
          <a:xfrm flipH="1" flipV="1">
            <a:off x="2819417" y="4472690"/>
            <a:ext cx="304702" cy="158036"/>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121F6B2F-4A7F-967F-CFDD-EE94EAEA06FA}"/>
              </a:ext>
            </a:extLst>
          </p:cNvPr>
          <p:cNvCxnSpPr>
            <a:cxnSpLocks/>
          </p:cNvCxnSpPr>
          <p:nvPr/>
        </p:nvCxnSpPr>
        <p:spPr>
          <a:xfrm flipH="1" flipV="1">
            <a:off x="2904572" y="4232890"/>
            <a:ext cx="304702" cy="158036"/>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EBC02E54-5257-770A-4F29-A1B0EED078F0}"/>
              </a:ext>
            </a:extLst>
          </p:cNvPr>
          <p:cNvCxnSpPr>
            <a:cxnSpLocks/>
          </p:cNvCxnSpPr>
          <p:nvPr/>
        </p:nvCxnSpPr>
        <p:spPr>
          <a:xfrm flipH="1">
            <a:off x="8132596" y="2063040"/>
            <a:ext cx="1839116" cy="3600000"/>
          </a:xfrm>
          <a:prstGeom prst="line">
            <a:avLst/>
          </a:prstGeom>
          <a:ln w="635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nvGrpSpPr>
          <p:cNvPr id="66" name="グループ化 65">
            <a:extLst>
              <a:ext uri="{FF2B5EF4-FFF2-40B4-BE49-F238E27FC236}">
                <a16:creationId xmlns:a16="http://schemas.microsoft.com/office/drawing/2014/main" id="{DD13254B-C39A-987B-A970-AA04234556AD}"/>
              </a:ext>
            </a:extLst>
          </p:cNvPr>
          <p:cNvGrpSpPr/>
          <p:nvPr/>
        </p:nvGrpSpPr>
        <p:grpSpPr>
          <a:xfrm>
            <a:off x="8375945" y="2452181"/>
            <a:ext cx="1467764" cy="2622060"/>
            <a:chOff x="2243386" y="2345289"/>
            <a:chExt cx="1467764" cy="2622060"/>
          </a:xfrm>
        </p:grpSpPr>
        <p:sp>
          <p:nvSpPr>
            <p:cNvPr id="67" name="円/楕円 66">
              <a:extLst>
                <a:ext uri="{FF2B5EF4-FFF2-40B4-BE49-F238E27FC236}">
                  <a16:creationId xmlns:a16="http://schemas.microsoft.com/office/drawing/2014/main" id="{6FAFFC44-3CE5-0CF8-8251-984EE05A7341}"/>
                </a:ext>
              </a:extLst>
            </p:cNvPr>
            <p:cNvSpPr/>
            <p:nvPr/>
          </p:nvSpPr>
          <p:spPr>
            <a:xfrm>
              <a:off x="2940842" y="344878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円/楕円 67">
              <a:extLst>
                <a:ext uri="{FF2B5EF4-FFF2-40B4-BE49-F238E27FC236}">
                  <a16:creationId xmlns:a16="http://schemas.microsoft.com/office/drawing/2014/main" id="{1746A84A-DFC1-90DB-00D7-92EE0C594165}"/>
                </a:ext>
              </a:extLst>
            </p:cNvPr>
            <p:cNvSpPr/>
            <p:nvPr/>
          </p:nvSpPr>
          <p:spPr>
            <a:xfrm>
              <a:off x="3290586" y="273433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円/楕円 68">
              <a:extLst>
                <a:ext uri="{FF2B5EF4-FFF2-40B4-BE49-F238E27FC236}">
                  <a16:creationId xmlns:a16="http://schemas.microsoft.com/office/drawing/2014/main" id="{F675ED5B-91FD-6B4C-FBDB-EC03FDFB3A6A}"/>
                </a:ext>
              </a:extLst>
            </p:cNvPr>
            <p:cNvSpPr/>
            <p:nvPr/>
          </p:nvSpPr>
          <p:spPr>
            <a:xfrm>
              <a:off x="2845802" y="366285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円/楕円 69">
              <a:extLst>
                <a:ext uri="{FF2B5EF4-FFF2-40B4-BE49-F238E27FC236}">
                  <a16:creationId xmlns:a16="http://schemas.microsoft.com/office/drawing/2014/main" id="{A6C7F4BA-ADD6-FDA1-2503-5FB8BB3A56FF}"/>
                </a:ext>
              </a:extLst>
            </p:cNvPr>
            <p:cNvSpPr/>
            <p:nvPr/>
          </p:nvSpPr>
          <p:spPr>
            <a:xfrm>
              <a:off x="3530676" y="234528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円/楕円 70">
              <a:extLst>
                <a:ext uri="{FF2B5EF4-FFF2-40B4-BE49-F238E27FC236}">
                  <a16:creationId xmlns:a16="http://schemas.microsoft.com/office/drawing/2014/main" id="{D5E6CE71-B9F0-6A29-F7A3-814FF97C4397}"/>
                </a:ext>
              </a:extLst>
            </p:cNvPr>
            <p:cNvSpPr/>
            <p:nvPr/>
          </p:nvSpPr>
          <p:spPr>
            <a:xfrm>
              <a:off x="3236362" y="286434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楕円 71">
              <a:extLst>
                <a:ext uri="{FF2B5EF4-FFF2-40B4-BE49-F238E27FC236}">
                  <a16:creationId xmlns:a16="http://schemas.microsoft.com/office/drawing/2014/main" id="{9F1E32DA-BFDB-2F03-DD36-2E9B402D416C}"/>
                </a:ext>
              </a:extLst>
            </p:cNvPr>
            <p:cNvSpPr/>
            <p:nvPr/>
          </p:nvSpPr>
          <p:spPr>
            <a:xfrm>
              <a:off x="3112578" y="3122417"/>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円/楕円 72">
              <a:extLst>
                <a:ext uri="{FF2B5EF4-FFF2-40B4-BE49-F238E27FC236}">
                  <a16:creationId xmlns:a16="http://schemas.microsoft.com/office/drawing/2014/main" id="{0B7BEA5C-47F0-240F-24F4-1ED16AC9AB86}"/>
                </a:ext>
              </a:extLst>
            </p:cNvPr>
            <p:cNvSpPr/>
            <p:nvPr/>
          </p:nvSpPr>
          <p:spPr>
            <a:xfrm>
              <a:off x="2755896" y="38358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円/楕円 73">
              <a:extLst>
                <a:ext uri="{FF2B5EF4-FFF2-40B4-BE49-F238E27FC236}">
                  <a16:creationId xmlns:a16="http://schemas.microsoft.com/office/drawing/2014/main" id="{7ED8C7C9-7C22-7D10-9FDB-93F619DECF71}"/>
                </a:ext>
              </a:extLst>
            </p:cNvPr>
            <p:cNvSpPr/>
            <p:nvPr/>
          </p:nvSpPr>
          <p:spPr>
            <a:xfrm>
              <a:off x="2649005" y="402795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円/楕円 74">
              <a:extLst>
                <a:ext uri="{FF2B5EF4-FFF2-40B4-BE49-F238E27FC236}">
                  <a16:creationId xmlns:a16="http://schemas.microsoft.com/office/drawing/2014/main" id="{BE362EFA-61F4-B6B2-7247-D2086B390E6E}"/>
                </a:ext>
              </a:extLst>
            </p:cNvPr>
            <p:cNvSpPr/>
            <p:nvPr/>
          </p:nvSpPr>
          <p:spPr>
            <a:xfrm>
              <a:off x="2581493" y="415425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円/楕円 75">
              <a:extLst>
                <a:ext uri="{FF2B5EF4-FFF2-40B4-BE49-F238E27FC236}">
                  <a16:creationId xmlns:a16="http://schemas.microsoft.com/office/drawing/2014/main" id="{76F0871A-1ABE-B3B4-3A95-8A3DCD722A71}"/>
                </a:ext>
              </a:extLst>
            </p:cNvPr>
            <p:cNvSpPr/>
            <p:nvPr/>
          </p:nvSpPr>
          <p:spPr>
            <a:xfrm>
              <a:off x="2527505" y="430097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円/楕円 76">
              <a:extLst>
                <a:ext uri="{FF2B5EF4-FFF2-40B4-BE49-F238E27FC236}">
                  <a16:creationId xmlns:a16="http://schemas.microsoft.com/office/drawing/2014/main" id="{EE2AD9E7-9169-66F3-3E83-6B2128C6ABE8}"/>
                </a:ext>
              </a:extLst>
            </p:cNvPr>
            <p:cNvSpPr/>
            <p:nvPr/>
          </p:nvSpPr>
          <p:spPr>
            <a:xfrm>
              <a:off x="2865789" y="360599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円/楕円 77">
              <a:extLst>
                <a:ext uri="{FF2B5EF4-FFF2-40B4-BE49-F238E27FC236}">
                  <a16:creationId xmlns:a16="http://schemas.microsoft.com/office/drawing/2014/main" id="{50778679-F3AB-3C40-AF39-C9C07B593C38}"/>
                </a:ext>
              </a:extLst>
            </p:cNvPr>
            <p:cNvSpPr/>
            <p:nvPr/>
          </p:nvSpPr>
          <p:spPr>
            <a:xfrm>
              <a:off x="2591380" y="409491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円/楕円 78">
              <a:extLst>
                <a:ext uri="{FF2B5EF4-FFF2-40B4-BE49-F238E27FC236}">
                  <a16:creationId xmlns:a16="http://schemas.microsoft.com/office/drawing/2014/main" id="{7DE22BD6-9957-691A-900E-235F1F64B22F}"/>
                </a:ext>
              </a:extLst>
            </p:cNvPr>
            <p:cNvSpPr/>
            <p:nvPr/>
          </p:nvSpPr>
          <p:spPr>
            <a:xfrm>
              <a:off x="2411777" y="445152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円/楕円 79">
              <a:extLst>
                <a:ext uri="{FF2B5EF4-FFF2-40B4-BE49-F238E27FC236}">
                  <a16:creationId xmlns:a16="http://schemas.microsoft.com/office/drawing/2014/main" id="{E676FDDD-C45C-58D3-82D2-90046C9BD8BF}"/>
                </a:ext>
              </a:extLst>
            </p:cNvPr>
            <p:cNvSpPr/>
            <p:nvPr/>
          </p:nvSpPr>
          <p:spPr>
            <a:xfrm>
              <a:off x="2243386" y="4786875"/>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1" name="テキスト ボックス 80">
            <a:extLst>
              <a:ext uri="{FF2B5EF4-FFF2-40B4-BE49-F238E27FC236}">
                <a16:creationId xmlns:a16="http://schemas.microsoft.com/office/drawing/2014/main" id="{751E22DF-31FA-5FF3-C43A-D36F2516C30C}"/>
              </a:ext>
            </a:extLst>
          </p:cNvPr>
          <p:cNvSpPr txBox="1"/>
          <p:nvPr/>
        </p:nvSpPr>
        <p:spPr>
          <a:xfrm>
            <a:off x="7983623" y="5810070"/>
            <a:ext cx="2159566" cy="369332"/>
          </a:xfrm>
          <a:prstGeom prst="rect">
            <a:avLst/>
          </a:prstGeom>
          <a:noFill/>
        </p:spPr>
        <p:txBody>
          <a:bodyPr wrap="none" rtlCol="0">
            <a:spAutoFit/>
          </a:bodyPr>
          <a:lstStyle/>
          <a:p>
            <a:r>
              <a:rPr kumimoji="1" lang="en-US" altLang="ja-JP" dirty="0"/>
              <a:t>1</a:t>
            </a:r>
            <a:r>
              <a:rPr kumimoji="1" lang="ja-JP" altLang="en-US"/>
              <a:t>次元になりました</a:t>
            </a:r>
          </a:p>
        </p:txBody>
      </p:sp>
      <p:sp>
        <p:nvSpPr>
          <p:cNvPr id="63" name="正方形/長方形 62">
            <a:extLst>
              <a:ext uri="{FF2B5EF4-FFF2-40B4-BE49-F238E27FC236}">
                <a16:creationId xmlns:a16="http://schemas.microsoft.com/office/drawing/2014/main" id="{45DB65A8-D192-D8F0-E5FA-127077D07E91}"/>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テキスト ボックス 81">
            <a:extLst>
              <a:ext uri="{FF2B5EF4-FFF2-40B4-BE49-F238E27FC236}">
                <a16:creationId xmlns:a16="http://schemas.microsoft.com/office/drawing/2014/main" id="{1BA0D815-D6EB-F597-CED0-CC406BE96487}"/>
              </a:ext>
            </a:extLst>
          </p:cNvPr>
          <p:cNvSpPr txBox="1"/>
          <p:nvPr/>
        </p:nvSpPr>
        <p:spPr>
          <a:xfrm>
            <a:off x="385370" y="120924"/>
            <a:ext cx="2989921" cy="461665"/>
          </a:xfrm>
          <a:prstGeom prst="rect">
            <a:avLst/>
          </a:prstGeom>
          <a:noFill/>
        </p:spPr>
        <p:txBody>
          <a:bodyPr wrap="none" rtlCol="0">
            <a:spAutoFit/>
          </a:bodyPr>
          <a:lstStyle/>
          <a:p>
            <a:r>
              <a:rPr kumimoji="1" lang="en-US" altLang="ja-JP" sz="2400" b="1" dirty="0">
                <a:solidFill>
                  <a:schemeClr val="bg1"/>
                </a:solidFill>
              </a:rPr>
              <a:t>2</a:t>
            </a:r>
            <a:r>
              <a:rPr kumimoji="1" lang="ja-JP" altLang="en-US" sz="2400" b="1">
                <a:solidFill>
                  <a:schemeClr val="bg1"/>
                </a:solidFill>
              </a:rPr>
              <a:t>次元を</a:t>
            </a:r>
            <a:r>
              <a:rPr kumimoji="1" lang="en-US" altLang="ja-JP" sz="2400" b="1" dirty="0">
                <a:solidFill>
                  <a:schemeClr val="bg1"/>
                </a:solidFill>
              </a:rPr>
              <a:t>1</a:t>
            </a:r>
            <a:r>
              <a:rPr kumimoji="1" lang="ja-JP" altLang="en-US" sz="2400" b="1">
                <a:solidFill>
                  <a:schemeClr val="bg1"/>
                </a:solidFill>
              </a:rPr>
              <a:t>次元にする</a:t>
            </a:r>
          </a:p>
        </p:txBody>
      </p:sp>
    </p:spTree>
    <p:extLst>
      <p:ext uri="{BB962C8B-B14F-4D97-AF65-F5344CB8AC3E}">
        <p14:creationId xmlns:p14="http://schemas.microsoft.com/office/powerpoint/2010/main" val="160399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DA8121C6-BD92-F313-83CE-C84041CFD648}"/>
              </a:ext>
            </a:extLst>
          </p:cNvPr>
          <p:cNvGrpSpPr/>
          <p:nvPr/>
        </p:nvGrpSpPr>
        <p:grpSpPr>
          <a:xfrm>
            <a:off x="1039401" y="2057129"/>
            <a:ext cx="3600000" cy="3600000"/>
            <a:chOff x="1039401" y="2057129"/>
            <a:chExt cx="3600000" cy="3600000"/>
          </a:xfrm>
        </p:grpSpPr>
        <p:cxnSp>
          <p:nvCxnSpPr>
            <p:cNvPr id="6" name="直線矢印コネクタ 5">
              <a:extLst>
                <a:ext uri="{FF2B5EF4-FFF2-40B4-BE49-F238E27FC236}">
                  <a16:creationId xmlns:a16="http://schemas.microsoft.com/office/drawing/2014/main" id="{89AF832E-992A-BC3C-1BE7-43B9E363D5D5}"/>
                </a:ext>
              </a:extLst>
            </p:cNvPr>
            <p:cNvCxnSpPr>
              <a:cxnSpLocks/>
            </p:cNvCxnSpPr>
            <p:nvPr/>
          </p:nvCxnSpPr>
          <p:spPr>
            <a:xfrm flipV="1">
              <a:off x="1399401"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A3285C60-5813-46FE-E06B-BEDE52A7B82E}"/>
                </a:ext>
              </a:extLst>
            </p:cNvPr>
            <p:cNvCxnSpPr>
              <a:cxnSpLocks/>
            </p:cNvCxnSpPr>
            <p:nvPr/>
          </p:nvCxnSpPr>
          <p:spPr>
            <a:xfrm>
              <a:off x="1039401"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14" name="グループ化 13">
            <a:extLst>
              <a:ext uri="{FF2B5EF4-FFF2-40B4-BE49-F238E27FC236}">
                <a16:creationId xmlns:a16="http://schemas.microsoft.com/office/drawing/2014/main" id="{10A076A3-5F05-8F7D-EB8F-0043067B0653}"/>
              </a:ext>
            </a:extLst>
          </p:cNvPr>
          <p:cNvGrpSpPr/>
          <p:nvPr/>
        </p:nvGrpSpPr>
        <p:grpSpPr>
          <a:xfrm>
            <a:off x="1039401" y="-3833692"/>
            <a:ext cx="3600000" cy="3600000"/>
            <a:chOff x="1039401" y="-3833692"/>
            <a:chExt cx="3600000" cy="3600000"/>
          </a:xfrm>
        </p:grpSpPr>
        <p:cxnSp>
          <p:nvCxnSpPr>
            <p:cNvPr id="11" name="直線矢印コネクタ 10">
              <a:extLst>
                <a:ext uri="{FF2B5EF4-FFF2-40B4-BE49-F238E27FC236}">
                  <a16:creationId xmlns:a16="http://schemas.microsoft.com/office/drawing/2014/main" id="{037ED7D2-83E8-E0AE-2C4A-8B20F91AF81F}"/>
                </a:ext>
              </a:extLst>
            </p:cNvPr>
            <p:cNvCxnSpPr>
              <a:cxnSpLocks/>
            </p:cNvCxnSpPr>
            <p:nvPr/>
          </p:nvCxnSpPr>
          <p:spPr>
            <a:xfrm flipV="1">
              <a:off x="1399401" y="-3833692"/>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0D32960-1661-15FC-E06C-90FEB07EB4B4}"/>
                </a:ext>
              </a:extLst>
            </p:cNvPr>
            <p:cNvCxnSpPr>
              <a:cxnSpLocks/>
            </p:cNvCxnSpPr>
            <p:nvPr/>
          </p:nvCxnSpPr>
          <p:spPr>
            <a:xfrm>
              <a:off x="1039401" y="-595653"/>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C9E11B82-4E4A-BA44-D9D0-85C1E532451C}"/>
                </a:ext>
              </a:extLst>
            </p:cNvPr>
            <p:cNvSpPr/>
            <p:nvPr/>
          </p:nvSpPr>
          <p:spPr>
            <a:xfrm>
              <a:off x="1039401" y="-593692"/>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E28E5BE3-8936-2CB3-DC2B-EFDB2BE6F51E}"/>
              </a:ext>
            </a:extLst>
          </p:cNvPr>
          <p:cNvGrpSpPr/>
          <p:nvPr/>
        </p:nvGrpSpPr>
        <p:grpSpPr>
          <a:xfrm>
            <a:off x="1669165" y="2562228"/>
            <a:ext cx="2806835" cy="2274690"/>
            <a:chOff x="1669165" y="2562228"/>
            <a:chExt cx="2806835" cy="2274690"/>
          </a:xfrm>
        </p:grpSpPr>
        <p:sp>
          <p:nvSpPr>
            <p:cNvPr id="19" name="円/楕円 18">
              <a:extLst>
                <a:ext uri="{FF2B5EF4-FFF2-40B4-BE49-F238E27FC236}">
                  <a16:creationId xmlns:a16="http://schemas.microsoft.com/office/drawing/2014/main" id="{562982A4-D56B-ABB0-FB83-1ECB96F4C149}"/>
                </a:ext>
              </a:extLst>
            </p:cNvPr>
            <p:cNvSpPr/>
            <p:nvPr/>
          </p:nvSpPr>
          <p:spPr>
            <a:xfrm>
              <a:off x="1790094" y="45602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a:extLst>
                <a:ext uri="{FF2B5EF4-FFF2-40B4-BE49-F238E27FC236}">
                  <a16:creationId xmlns:a16="http://schemas.microsoft.com/office/drawing/2014/main" id="{E8255AA4-7512-DAB8-CA7C-F776DD94F88E}"/>
                </a:ext>
              </a:extLst>
            </p:cNvPr>
            <p:cNvSpPr/>
            <p:nvPr/>
          </p:nvSpPr>
          <p:spPr>
            <a:xfrm>
              <a:off x="1880331" y="413109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a:extLst>
                <a:ext uri="{FF2B5EF4-FFF2-40B4-BE49-F238E27FC236}">
                  <a16:creationId xmlns:a16="http://schemas.microsoft.com/office/drawing/2014/main" id="{337E7BEF-A014-7F27-0124-A569F7D161DB}"/>
                </a:ext>
              </a:extLst>
            </p:cNvPr>
            <p:cNvSpPr/>
            <p:nvPr/>
          </p:nvSpPr>
          <p:spPr>
            <a:xfrm>
              <a:off x="1669165" y="362599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a:extLst>
                <a:ext uri="{FF2B5EF4-FFF2-40B4-BE49-F238E27FC236}">
                  <a16:creationId xmlns:a16="http://schemas.microsoft.com/office/drawing/2014/main" id="{2EE754E5-FB70-680D-55D8-53CAB20CCAB8}"/>
                </a:ext>
              </a:extLst>
            </p:cNvPr>
            <p:cNvSpPr/>
            <p:nvPr/>
          </p:nvSpPr>
          <p:spPr>
            <a:xfrm>
              <a:off x="2060805" y="314488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a:extLst>
                <a:ext uri="{FF2B5EF4-FFF2-40B4-BE49-F238E27FC236}">
                  <a16:creationId xmlns:a16="http://schemas.microsoft.com/office/drawing/2014/main" id="{8F9289E1-886A-56C5-D1D3-1F8FFB1DE8D0}"/>
                </a:ext>
              </a:extLst>
            </p:cNvPr>
            <p:cNvSpPr/>
            <p:nvPr/>
          </p:nvSpPr>
          <p:spPr>
            <a:xfrm>
              <a:off x="2839401" y="424803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23">
              <a:extLst>
                <a:ext uri="{FF2B5EF4-FFF2-40B4-BE49-F238E27FC236}">
                  <a16:creationId xmlns:a16="http://schemas.microsoft.com/office/drawing/2014/main" id="{5BF9CD6B-3EA2-BBAA-DF65-B40492909957}"/>
                </a:ext>
              </a:extLst>
            </p:cNvPr>
            <p:cNvSpPr/>
            <p:nvPr/>
          </p:nvSpPr>
          <p:spPr>
            <a:xfrm>
              <a:off x="3019875" y="4535436"/>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24">
              <a:extLst>
                <a:ext uri="{FF2B5EF4-FFF2-40B4-BE49-F238E27FC236}">
                  <a16:creationId xmlns:a16="http://schemas.microsoft.com/office/drawing/2014/main" id="{B4EACBE6-A58F-1F68-A287-5A0E7AA47F43}"/>
                </a:ext>
              </a:extLst>
            </p:cNvPr>
            <p:cNvSpPr/>
            <p:nvPr/>
          </p:nvSpPr>
          <p:spPr>
            <a:xfrm>
              <a:off x="3110112" y="430149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円/楕円 25">
              <a:extLst>
                <a:ext uri="{FF2B5EF4-FFF2-40B4-BE49-F238E27FC236}">
                  <a16:creationId xmlns:a16="http://schemas.microsoft.com/office/drawing/2014/main" id="{C3F61D4D-B455-8DF5-9A07-0759C126A78A}"/>
                </a:ext>
              </a:extLst>
            </p:cNvPr>
            <p:cNvSpPr/>
            <p:nvPr/>
          </p:nvSpPr>
          <p:spPr>
            <a:xfrm>
              <a:off x="3034626" y="3495675"/>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8784A803-F602-06FD-6E0C-1E654CED2EBF}"/>
                </a:ext>
              </a:extLst>
            </p:cNvPr>
            <p:cNvSpPr/>
            <p:nvPr/>
          </p:nvSpPr>
          <p:spPr>
            <a:xfrm>
              <a:off x="2952760" y="256222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7">
              <a:extLst>
                <a:ext uri="{FF2B5EF4-FFF2-40B4-BE49-F238E27FC236}">
                  <a16:creationId xmlns:a16="http://schemas.microsoft.com/office/drawing/2014/main" id="{A095EA53-CDAE-CAD8-00FF-281DF1C83A89}"/>
                </a:ext>
              </a:extLst>
            </p:cNvPr>
            <p:cNvSpPr/>
            <p:nvPr/>
          </p:nvSpPr>
          <p:spPr>
            <a:xfrm>
              <a:off x="4295526" y="465644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28">
              <a:extLst>
                <a:ext uri="{FF2B5EF4-FFF2-40B4-BE49-F238E27FC236}">
                  <a16:creationId xmlns:a16="http://schemas.microsoft.com/office/drawing/2014/main" id="{A9E2B141-E48F-2F58-F596-F3EF3994563F}"/>
                </a:ext>
              </a:extLst>
            </p:cNvPr>
            <p:cNvSpPr/>
            <p:nvPr/>
          </p:nvSpPr>
          <p:spPr>
            <a:xfrm>
              <a:off x="4065002" y="4327166"/>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29">
              <a:extLst>
                <a:ext uri="{FF2B5EF4-FFF2-40B4-BE49-F238E27FC236}">
                  <a16:creationId xmlns:a16="http://schemas.microsoft.com/office/drawing/2014/main" id="{ABB002B2-D751-D238-42D2-F3CC581A1AE2}"/>
                </a:ext>
              </a:extLst>
            </p:cNvPr>
            <p:cNvSpPr/>
            <p:nvPr/>
          </p:nvSpPr>
          <p:spPr>
            <a:xfrm>
              <a:off x="4222363" y="385706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a:extLst>
                <a:ext uri="{FF2B5EF4-FFF2-40B4-BE49-F238E27FC236}">
                  <a16:creationId xmlns:a16="http://schemas.microsoft.com/office/drawing/2014/main" id="{AAFE2AF1-71C5-1BD4-9A94-F067BB4761D1}"/>
                </a:ext>
              </a:extLst>
            </p:cNvPr>
            <p:cNvSpPr/>
            <p:nvPr/>
          </p:nvSpPr>
          <p:spPr>
            <a:xfrm>
              <a:off x="4096054" y="319258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a:extLst>
                <a:ext uri="{FF2B5EF4-FFF2-40B4-BE49-F238E27FC236}">
                  <a16:creationId xmlns:a16="http://schemas.microsoft.com/office/drawing/2014/main" id="{60296862-A982-2BEA-62BF-48556E328455}"/>
                </a:ext>
              </a:extLst>
            </p:cNvPr>
            <p:cNvSpPr/>
            <p:nvPr/>
          </p:nvSpPr>
          <p:spPr>
            <a:xfrm>
              <a:off x="4257507" y="273433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3" name="円/楕円 52">
            <a:extLst>
              <a:ext uri="{FF2B5EF4-FFF2-40B4-BE49-F238E27FC236}">
                <a16:creationId xmlns:a16="http://schemas.microsoft.com/office/drawing/2014/main" id="{B9FDDFD9-2875-39F3-F082-A2338ADDFD92}"/>
              </a:ext>
            </a:extLst>
          </p:cNvPr>
          <p:cNvSpPr/>
          <p:nvPr/>
        </p:nvSpPr>
        <p:spPr>
          <a:xfrm>
            <a:off x="712478" y="1411588"/>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chemeClr val="accent1">
                    <a:lumMod val="75000"/>
                  </a:schemeClr>
                </a:solidFill>
              </a:rPr>
              <a:t>１</a:t>
            </a:r>
          </a:p>
        </p:txBody>
      </p:sp>
      <p:sp>
        <p:nvSpPr>
          <p:cNvPr id="54" name="円/楕円 53">
            <a:extLst>
              <a:ext uri="{FF2B5EF4-FFF2-40B4-BE49-F238E27FC236}">
                <a16:creationId xmlns:a16="http://schemas.microsoft.com/office/drawing/2014/main" id="{8D8C75B4-167A-CB39-E759-14E7529AF112}"/>
              </a:ext>
            </a:extLst>
          </p:cNvPr>
          <p:cNvSpPr/>
          <p:nvPr/>
        </p:nvSpPr>
        <p:spPr>
          <a:xfrm>
            <a:off x="6865676" y="1409195"/>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accent1">
                    <a:lumMod val="75000"/>
                  </a:schemeClr>
                </a:solidFill>
              </a:rPr>
              <a:t>２</a:t>
            </a:r>
            <a:endParaRPr kumimoji="1" lang="ja-JP" altLang="en-US" sz="2800" b="1">
              <a:solidFill>
                <a:schemeClr val="accent1">
                  <a:lumMod val="75000"/>
                </a:schemeClr>
              </a:solidFill>
            </a:endParaRPr>
          </a:p>
        </p:txBody>
      </p:sp>
      <p:cxnSp>
        <p:nvCxnSpPr>
          <p:cNvPr id="49" name="直線コネクタ 48">
            <a:extLst>
              <a:ext uri="{FF2B5EF4-FFF2-40B4-BE49-F238E27FC236}">
                <a16:creationId xmlns:a16="http://schemas.microsoft.com/office/drawing/2014/main" id="{B5AB8B5E-5358-5C51-3965-508642E16F29}"/>
              </a:ext>
            </a:extLst>
          </p:cNvPr>
          <p:cNvCxnSpPr>
            <a:cxnSpLocks/>
          </p:cNvCxnSpPr>
          <p:nvPr/>
        </p:nvCxnSpPr>
        <p:spPr>
          <a:xfrm flipH="1">
            <a:off x="2130620" y="2057063"/>
            <a:ext cx="1839116" cy="3600000"/>
          </a:xfrm>
          <a:prstGeom prst="line">
            <a:avLst/>
          </a:prstGeom>
          <a:ln w="635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 name="直線矢印コネクタ 2">
            <a:extLst>
              <a:ext uri="{FF2B5EF4-FFF2-40B4-BE49-F238E27FC236}">
                <a16:creationId xmlns:a16="http://schemas.microsoft.com/office/drawing/2014/main" id="{2A138500-EF6C-76AF-CC44-3C564279B769}"/>
              </a:ext>
            </a:extLst>
          </p:cNvPr>
          <p:cNvCxnSpPr>
            <a:cxnSpLocks/>
          </p:cNvCxnSpPr>
          <p:nvPr/>
        </p:nvCxnSpPr>
        <p:spPr>
          <a:xfrm flipH="1" flipV="1">
            <a:off x="3849189" y="4481972"/>
            <a:ext cx="522514" cy="264199"/>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74D55A2E-5F8E-EEE5-13F7-8A3634D7FC1F}"/>
              </a:ext>
            </a:extLst>
          </p:cNvPr>
          <p:cNvCxnSpPr>
            <a:cxnSpLocks/>
          </p:cNvCxnSpPr>
          <p:nvPr/>
        </p:nvCxnSpPr>
        <p:spPr>
          <a:xfrm flipH="1" flipV="1">
            <a:off x="3623745" y="4153204"/>
            <a:ext cx="522514" cy="264199"/>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2EE1C3F2-DCB3-9395-094B-7F9BCB779E02}"/>
              </a:ext>
            </a:extLst>
          </p:cNvPr>
          <p:cNvCxnSpPr>
            <a:cxnSpLocks/>
          </p:cNvCxnSpPr>
          <p:nvPr/>
        </p:nvCxnSpPr>
        <p:spPr>
          <a:xfrm flipH="1" flipV="1">
            <a:off x="3792804" y="3685397"/>
            <a:ext cx="522514" cy="264199"/>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3305CC01-B526-CCA1-2771-661D196731E1}"/>
              </a:ext>
            </a:extLst>
          </p:cNvPr>
          <p:cNvCxnSpPr>
            <a:cxnSpLocks/>
          </p:cNvCxnSpPr>
          <p:nvPr/>
        </p:nvCxnSpPr>
        <p:spPr>
          <a:xfrm flipH="1" flipV="1">
            <a:off x="3654797" y="3016059"/>
            <a:ext cx="522514" cy="264199"/>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9F3E2FBC-D3B1-30CE-3C53-FB9D19F3E932}"/>
              </a:ext>
            </a:extLst>
          </p:cNvPr>
          <p:cNvCxnSpPr>
            <a:cxnSpLocks/>
          </p:cNvCxnSpPr>
          <p:nvPr/>
        </p:nvCxnSpPr>
        <p:spPr>
          <a:xfrm flipH="1" flipV="1">
            <a:off x="3792804" y="2544793"/>
            <a:ext cx="522514" cy="264199"/>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AD12420B-60EC-3DA1-1131-1AE783BCC203}"/>
              </a:ext>
            </a:extLst>
          </p:cNvPr>
          <p:cNvCxnSpPr>
            <a:cxnSpLocks/>
          </p:cNvCxnSpPr>
          <p:nvPr/>
        </p:nvCxnSpPr>
        <p:spPr>
          <a:xfrm>
            <a:off x="2120040" y="3224251"/>
            <a:ext cx="551181" cy="282053"/>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矢印コネクタ 57">
            <a:extLst>
              <a:ext uri="{FF2B5EF4-FFF2-40B4-BE49-F238E27FC236}">
                <a16:creationId xmlns:a16="http://schemas.microsoft.com/office/drawing/2014/main" id="{DA4D9E51-02B1-A34D-E764-F64631E7D106}"/>
              </a:ext>
            </a:extLst>
          </p:cNvPr>
          <p:cNvCxnSpPr>
            <a:cxnSpLocks/>
          </p:cNvCxnSpPr>
          <p:nvPr/>
        </p:nvCxnSpPr>
        <p:spPr>
          <a:xfrm>
            <a:off x="1730180" y="3724704"/>
            <a:ext cx="551181" cy="282053"/>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D3D92101-AA29-0EE1-12E1-9FD690D792E2}"/>
              </a:ext>
            </a:extLst>
          </p:cNvPr>
          <p:cNvCxnSpPr>
            <a:cxnSpLocks/>
          </p:cNvCxnSpPr>
          <p:nvPr/>
        </p:nvCxnSpPr>
        <p:spPr>
          <a:xfrm>
            <a:off x="1951642" y="4216574"/>
            <a:ext cx="551181" cy="282053"/>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矢印コネクタ 59">
            <a:extLst>
              <a:ext uri="{FF2B5EF4-FFF2-40B4-BE49-F238E27FC236}">
                <a16:creationId xmlns:a16="http://schemas.microsoft.com/office/drawing/2014/main" id="{5A930F6D-443F-4697-0C76-9840BEAC0EC6}"/>
              </a:ext>
            </a:extLst>
          </p:cNvPr>
          <p:cNvCxnSpPr>
            <a:cxnSpLocks/>
          </p:cNvCxnSpPr>
          <p:nvPr/>
        </p:nvCxnSpPr>
        <p:spPr>
          <a:xfrm>
            <a:off x="1877993" y="4638625"/>
            <a:ext cx="551181" cy="282053"/>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AEE3E990-235F-48E2-B1E8-DADDB527DD31}"/>
              </a:ext>
            </a:extLst>
          </p:cNvPr>
          <p:cNvCxnSpPr>
            <a:cxnSpLocks/>
          </p:cNvCxnSpPr>
          <p:nvPr/>
        </p:nvCxnSpPr>
        <p:spPr>
          <a:xfrm>
            <a:off x="3056923" y="2671075"/>
            <a:ext cx="397132" cy="220229"/>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C7E5D518-F60A-D24E-7EF6-F8FAB442F36E}"/>
              </a:ext>
            </a:extLst>
          </p:cNvPr>
          <p:cNvCxnSpPr>
            <a:cxnSpLocks/>
          </p:cNvCxnSpPr>
          <p:nvPr/>
        </p:nvCxnSpPr>
        <p:spPr>
          <a:xfrm flipH="1" flipV="1">
            <a:off x="2819417" y="4472690"/>
            <a:ext cx="304702" cy="158036"/>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121F6B2F-4A7F-967F-CFDD-EE94EAEA06FA}"/>
              </a:ext>
            </a:extLst>
          </p:cNvPr>
          <p:cNvCxnSpPr>
            <a:cxnSpLocks/>
          </p:cNvCxnSpPr>
          <p:nvPr/>
        </p:nvCxnSpPr>
        <p:spPr>
          <a:xfrm flipH="1" flipV="1">
            <a:off x="2904572" y="4232890"/>
            <a:ext cx="304702" cy="158036"/>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EBC02E54-5257-770A-4F29-A1B0EED078F0}"/>
              </a:ext>
            </a:extLst>
          </p:cNvPr>
          <p:cNvCxnSpPr>
            <a:cxnSpLocks/>
          </p:cNvCxnSpPr>
          <p:nvPr/>
        </p:nvCxnSpPr>
        <p:spPr>
          <a:xfrm flipH="1">
            <a:off x="7323313" y="1755837"/>
            <a:ext cx="1839116" cy="3600000"/>
          </a:xfrm>
          <a:prstGeom prst="line">
            <a:avLst/>
          </a:prstGeom>
          <a:ln w="2540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63" name="円/楕円 62">
            <a:extLst>
              <a:ext uri="{FF2B5EF4-FFF2-40B4-BE49-F238E27FC236}">
                <a16:creationId xmlns:a16="http://schemas.microsoft.com/office/drawing/2014/main" id="{B6478D39-1845-1ADD-041F-5DA5B346641A}"/>
              </a:ext>
            </a:extLst>
          </p:cNvPr>
          <p:cNvSpPr/>
          <p:nvPr/>
        </p:nvSpPr>
        <p:spPr>
          <a:xfrm>
            <a:off x="10541356" y="4472690"/>
            <a:ext cx="502486" cy="50248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2" name="直線矢印コネクタ 81">
            <a:extLst>
              <a:ext uri="{FF2B5EF4-FFF2-40B4-BE49-F238E27FC236}">
                <a16:creationId xmlns:a16="http://schemas.microsoft.com/office/drawing/2014/main" id="{63A30556-2910-7A1C-C06E-D7B56AE9C2ED}"/>
              </a:ext>
            </a:extLst>
          </p:cNvPr>
          <p:cNvCxnSpPr>
            <a:cxnSpLocks/>
          </p:cNvCxnSpPr>
          <p:nvPr/>
        </p:nvCxnSpPr>
        <p:spPr>
          <a:xfrm flipH="1" flipV="1">
            <a:off x="8636909" y="3506304"/>
            <a:ext cx="1990338" cy="1133869"/>
          </a:xfrm>
          <a:prstGeom prst="straightConnector1">
            <a:avLst/>
          </a:prstGeom>
          <a:ln w="762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左中かっこ 8">
            <a:extLst>
              <a:ext uri="{FF2B5EF4-FFF2-40B4-BE49-F238E27FC236}">
                <a16:creationId xmlns:a16="http://schemas.microsoft.com/office/drawing/2014/main" id="{14AC32A4-41EC-EC21-0268-F9EA40DA0933}"/>
              </a:ext>
            </a:extLst>
          </p:cNvPr>
          <p:cNvSpPr/>
          <p:nvPr/>
        </p:nvSpPr>
        <p:spPr>
          <a:xfrm rot="17961746">
            <a:off x="9222317" y="3730091"/>
            <a:ext cx="517167" cy="1742135"/>
          </a:xfrm>
          <a:prstGeom prst="leftBrac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41CBD179-0104-DCCA-16ED-C1219B418D90}"/>
              </a:ext>
            </a:extLst>
          </p:cNvPr>
          <p:cNvSpPr txBox="1"/>
          <p:nvPr/>
        </p:nvSpPr>
        <p:spPr>
          <a:xfrm>
            <a:off x="8273881" y="5053693"/>
            <a:ext cx="1620957" cy="523220"/>
          </a:xfrm>
          <a:prstGeom prst="rect">
            <a:avLst/>
          </a:prstGeom>
          <a:noFill/>
        </p:spPr>
        <p:txBody>
          <a:bodyPr wrap="none" rtlCol="0">
            <a:spAutoFit/>
          </a:bodyPr>
          <a:lstStyle/>
          <a:p>
            <a:r>
              <a:rPr kumimoji="1" lang="ja-JP" altLang="en-US" sz="2800" b="1"/>
              <a:t>失う情報</a:t>
            </a:r>
          </a:p>
        </p:txBody>
      </p:sp>
      <p:sp>
        <p:nvSpPr>
          <p:cNvPr id="45" name="正方形/長方形 44">
            <a:extLst>
              <a:ext uri="{FF2B5EF4-FFF2-40B4-BE49-F238E27FC236}">
                <a16:creationId xmlns:a16="http://schemas.microsoft.com/office/drawing/2014/main" id="{803639D3-BC2C-6C30-0CE8-8E6CF41DCA25}"/>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F0D52306-DADC-9C9A-151C-6098B959F282}"/>
              </a:ext>
            </a:extLst>
          </p:cNvPr>
          <p:cNvSpPr txBox="1"/>
          <p:nvPr/>
        </p:nvSpPr>
        <p:spPr>
          <a:xfrm>
            <a:off x="385370" y="120924"/>
            <a:ext cx="3877985" cy="461665"/>
          </a:xfrm>
          <a:prstGeom prst="rect">
            <a:avLst/>
          </a:prstGeom>
          <a:noFill/>
        </p:spPr>
        <p:txBody>
          <a:bodyPr wrap="none" rtlCol="0">
            <a:spAutoFit/>
          </a:bodyPr>
          <a:lstStyle/>
          <a:p>
            <a:r>
              <a:rPr lang="ja-JP" altLang="en-US" sz="2400" b="1">
                <a:solidFill>
                  <a:schemeClr val="bg1"/>
                </a:solidFill>
              </a:rPr>
              <a:t>どれだけ情報が失われるか</a:t>
            </a:r>
            <a:endParaRPr kumimoji="1" lang="ja-JP" altLang="en-US" sz="2400" b="1">
              <a:solidFill>
                <a:schemeClr val="bg1"/>
              </a:solidFill>
            </a:endParaRPr>
          </a:p>
        </p:txBody>
      </p:sp>
    </p:spTree>
    <p:extLst>
      <p:ext uri="{BB962C8B-B14F-4D97-AF65-F5344CB8AC3E}">
        <p14:creationId xmlns:p14="http://schemas.microsoft.com/office/powerpoint/2010/main" val="1171186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DA8121C6-BD92-F313-83CE-C84041CFD648}"/>
              </a:ext>
            </a:extLst>
          </p:cNvPr>
          <p:cNvGrpSpPr/>
          <p:nvPr/>
        </p:nvGrpSpPr>
        <p:grpSpPr>
          <a:xfrm>
            <a:off x="1039401" y="2057129"/>
            <a:ext cx="3600000" cy="3600000"/>
            <a:chOff x="1039401" y="2057129"/>
            <a:chExt cx="3600000" cy="3600000"/>
          </a:xfrm>
        </p:grpSpPr>
        <p:cxnSp>
          <p:nvCxnSpPr>
            <p:cNvPr id="6" name="直線矢印コネクタ 5">
              <a:extLst>
                <a:ext uri="{FF2B5EF4-FFF2-40B4-BE49-F238E27FC236}">
                  <a16:creationId xmlns:a16="http://schemas.microsoft.com/office/drawing/2014/main" id="{89AF832E-992A-BC3C-1BE7-43B9E363D5D5}"/>
                </a:ext>
              </a:extLst>
            </p:cNvPr>
            <p:cNvCxnSpPr>
              <a:cxnSpLocks/>
            </p:cNvCxnSpPr>
            <p:nvPr/>
          </p:nvCxnSpPr>
          <p:spPr>
            <a:xfrm flipV="1">
              <a:off x="1399401"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A3285C60-5813-46FE-E06B-BEDE52A7B82E}"/>
                </a:ext>
              </a:extLst>
            </p:cNvPr>
            <p:cNvCxnSpPr>
              <a:cxnSpLocks/>
            </p:cNvCxnSpPr>
            <p:nvPr/>
          </p:nvCxnSpPr>
          <p:spPr>
            <a:xfrm>
              <a:off x="1039401"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14" name="グループ化 13">
            <a:extLst>
              <a:ext uri="{FF2B5EF4-FFF2-40B4-BE49-F238E27FC236}">
                <a16:creationId xmlns:a16="http://schemas.microsoft.com/office/drawing/2014/main" id="{10A076A3-5F05-8F7D-EB8F-0043067B0653}"/>
              </a:ext>
            </a:extLst>
          </p:cNvPr>
          <p:cNvGrpSpPr/>
          <p:nvPr/>
        </p:nvGrpSpPr>
        <p:grpSpPr>
          <a:xfrm>
            <a:off x="1039401" y="-3833692"/>
            <a:ext cx="3600000" cy="3600000"/>
            <a:chOff x="1039401" y="-3833692"/>
            <a:chExt cx="3600000" cy="3600000"/>
          </a:xfrm>
        </p:grpSpPr>
        <p:cxnSp>
          <p:nvCxnSpPr>
            <p:cNvPr id="11" name="直線矢印コネクタ 10">
              <a:extLst>
                <a:ext uri="{FF2B5EF4-FFF2-40B4-BE49-F238E27FC236}">
                  <a16:creationId xmlns:a16="http://schemas.microsoft.com/office/drawing/2014/main" id="{037ED7D2-83E8-E0AE-2C4A-8B20F91AF81F}"/>
                </a:ext>
              </a:extLst>
            </p:cNvPr>
            <p:cNvCxnSpPr>
              <a:cxnSpLocks/>
            </p:cNvCxnSpPr>
            <p:nvPr/>
          </p:nvCxnSpPr>
          <p:spPr>
            <a:xfrm flipV="1">
              <a:off x="1399401" y="-3833692"/>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0D32960-1661-15FC-E06C-90FEB07EB4B4}"/>
                </a:ext>
              </a:extLst>
            </p:cNvPr>
            <p:cNvCxnSpPr>
              <a:cxnSpLocks/>
            </p:cNvCxnSpPr>
            <p:nvPr/>
          </p:nvCxnSpPr>
          <p:spPr>
            <a:xfrm>
              <a:off x="1039401" y="-595653"/>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C9E11B82-4E4A-BA44-D9D0-85C1E532451C}"/>
                </a:ext>
              </a:extLst>
            </p:cNvPr>
            <p:cNvSpPr/>
            <p:nvPr/>
          </p:nvSpPr>
          <p:spPr>
            <a:xfrm>
              <a:off x="1039401" y="-593692"/>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E28E5BE3-8936-2CB3-DC2B-EFDB2BE6F51E}"/>
              </a:ext>
            </a:extLst>
          </p:cNvPr>
          <p:cNvGrpSpPr/>
          <p:nvPr/>
        </p:nvGrpSpPr>
        <p:grpSpPr>
          <a:xfrm>
            <a:off x="1848788" y="3801943"/>
            <a:ext cx="2512569" cy="190739"/>
            <a:chOff x="1534452" y="3824150"/>
            <a:chExt cx="2512569" cy="190739"/>
          </a:xfrm>
        </p:grpSpPr>
        <p:sp>
          <p:nvSpPr>
            <p:cNvPr id="19" name="円/楕円 18">
              <a:extLst>
                <a:ext uri="{FF2B5EF4-FFF2-40B4-BE49-F238E27FC236}">
                  <a16:creationId xmlns:a16="http://schemas.microsoft.com/office/drawing/2014/main" id="{562982A4-D56B-ABB0-FB83-1ECB96F4C149}"/>
                </a:ext>
              </a:extLst>
            </p:cNvPr>
            <p:cNvSpPr/>
            <p:nvPr/>
          </p:nvSpPr>
          <p:spPr>
            <a:xfrm>
              <a:off x="1534452" y="383325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a:extLst>
                <a:ext uri="{FF2B5EF4-FFF2-40B4-BE49-F238E27FC236}">
                  <a16:creationId xmlns:a16="http://schemas.microsoft.com/office/drawing/2014/main" id="{E8255AA4-7512-DAB8-CA7C-F776DD94F88E}"/>
                </a:ext>
              </a:extLst>
            </p:cNvPr>
            <p:cNvSpPr/>
            <p:nvPr/>
          </p:nvSpPr>
          <p:spPr>
            <a:xfrm>
              <a:off x="1896892" y="3834415"/>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a:extLst>
                <a:ext uri="{FF2B5EF4-FFF2-40B4-BE49-F238E27FC236}">
                  <a16:creationId xmlns:a16="http://schemas.microsoft.com/office/drawing/2014/main" id="{337E7BEF-A014-7F27-0124-A569F7D161DB}"/>
                </a:ext>
              </a:extLst>
            </p:cNvPr>
            <p:cNvSpPr/>
            <p:nvPr/>
          </p:nvSpPr>
          <p:spPr>
            <a:xfrm>
              <a:off x="1714926" y="383050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a:extLst>
                <a:ext uri="{FF2B5EF4-FFF2-40B4-BE49-F238E27FC236}">
                  <a16:creationId xmlns:a16="http://schemas.microsoft.com/office/drawing/2014/main" id="{2EE754E5-FB70-680D-55D8-53CAB20CCAB8}"/>
                </a:ext>
              </a:extLst>
            </p:cNvPr>
            <p:cNvSpPr/>
            <p:nvPr/>
          </p:nvSpPr>
          <p:spPr>
            <a:xfrm>
              <a:off x="2252156" y="383050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a:extLst>
                <a:ext uri="{FF2B5EF4-FFF2-40B4-BE49-F238E27FC236}">
                  <a16:creationId xmlns:a16="http://schemas.microsoft.com/office/drawing/2014/main" id="{8F9289E1-886A-56C5-D1D3-1F8FFB1DE8D0}"/>
                </a:ext>
              </a:extLst>
            </p:cNvPr>
            <p:cNvSpPr/>
            <p:nvPr/>
          </p:nvSpPr>
          <p:spPr>
            <a:xfrm>
              <a:off x="2782211" y="383050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23">
              <a:extLst>
                <a:ext uri="{FF2B5EF4-FFF2-40B4-BE49-F238E27FC236}">
                  <a16:creationId xmlns:a16="http://schemas.microsoft.com/office/drawing/2014/main" id="{5BF9CD6B-3EA2-BBAA-DF65-B40492909957}"/>
                </a:ext>
              </a:extLst>
            </p:cNvPr>
            <p:cNvSpPr/>
            <p:nvPr/>
          </p:nvSpPr>
          <p:spPr>
            <a:xfrm>
              <a:off x="3143159" y="383325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24">
              <a:extLst>
                <a:ext uri="{FF2B5EF4-FFF2-40B4-BE49-F238E27FC236}">
                  <a16:creationId xmlns:a16="http://schemas.microsoft.com/office/drawing/2014/main" id="{B4EACBE6-A58F-1F68-A287-5A0E7AA47F43}"/>
                </a:ext>
              </a:extLst>
            </p:cNvPr>
            <p:cNvSpPr/>
            <p:nvPr/>
          </p:nvSpPr>
          <p:spPr>
            <a:xfrm>
              <a:off x="2962685" y="383050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円/楕円 25">
              <a:extLst>
                <a:ext uri="{FF2B5EF4-FFF2-40B4-BE49-F238E27FC236}">
                  <a16:creationId xmlns:a16="http://schemas.microsoft.com/office/drawing/2014/main" id="{C3F61D4D-B455-8DF5-9A07-0759C126A78A}"/>
                </a:ext>
              </a:extLst>
            </p:cNvPr>
            <p:cNvSpPr/>
            <p:nvPr/>
          </p:nvSpPr>
          <p:spPr>
            <a:xfrm>
              <a:off x="2077659" y="383325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8784A803-F602-06FD-6E0C-1E654CED2EBF}"/>
                </a:ext>
              </a:extLst>
            </p:cNvPr>
            <p:cNvSpPr/>
            <p:nvPr/>
          </p:nvSpPr>
          <p:spPr>
            <a:xfrm>
              <a:off x="2430309" y="383208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7">
              <a:extLst>
                <a:ext uri="{FF2B5EF4-FFF2-40B4-BE49-F238E27FC236}">
                  <a16:creationId xmlns:a16="http://schemas.microsoft.com/office/drawing/2014/main" id="{A095EA53-CDAE-CAD8-00FF-281DF1C83A89}"/>
                </a:ext>
              </a:extLst>
            </p:cNvPr>
            <p:cNvSpPr/>
            <p:nvPr/>
          </p:nvSpPr>
          <p:spPr>
            <a:xfrm>
              <a:off x="3684581" y="382415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28">
              <a:extLst>
                <a:ext uri="{FF2B5EF4-FFF2-40B4-BE49-F238E27FC236}">
                  <a16:creationId xmlns:a16="http://schemas.microsoft.com/office/drawing/2014/main" id="{A9E2B141-E48F-2F58-F596-F3EF3994563F}"/>
                </a:ext>
              </a:extLst>
            </p:cNvPr>
            <p:cNvSpPr/>
            <p:nvPr/>
          </p:nvSpPr>
          <p:spPr>
            <a:xfrm>
              <a:off x="3504107" y="383050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29">
              <a:extLst>
                <a:ext uri="{FF2B5EF4-FFF2-40B4-BE49-F238E27FC236}">
                  <a16:creationId xmlns:a16="http://schemas.microsoft.com/office/drawing/2014/main" id="{ABB002B2-D751-D238-42D2-F3CC581A1AE2}"/>
                </a:ext>
              </a:extLst>
            </p:cNvPr>
            <p:cNvSpPr/>
            <p:nvPr/>
          </p:nvSpPr>
          <p:spPr>
            <a:xfrm>
              <a:off x="2606378" y="383325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0">
              <a:extLst>
                <a:ext uri="{FF2B5EF4-FFF2-40B4-BE49-F238E27FC236}">
                  <a16:creationId xmlns:a16="http://schemas.microsoft.com/office/drawing/2014/main" id="{AAFE2AF1-71C5-1BD4-9A94-F067BB4761D1}"/>
                </a:ext>
              </a:extLst>
            </p:cNvPr>
            <p:cNvSpPr/>
            <p:nvPr/>
          </p:nvSpPr>
          <p:spPr>
            <a:xfrm>
              <a:off x="3323633" y="383208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a:extLst>
                <a:ext uri="{FF2B5EF4-FFF2-40B4-BE49-F238E27FC236}">
                  <a16:creationId xmlns:a16="http://schemas.microsoft.com/office/drawing/2014/main" id="{60296862-A982-2BEA-62BF-48556E328455}"/>
                </a:ext>
              </a:extLst>
            </p:cNvPr>
            <p:cNvSpPr/>
            <p:nvPr/>
          </p:nvSpPr>
          <p:spPr>
            <a:xfrm>
              <a:off x="3866547" y="382415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3" name="円/楕円 52">
            <a:extLst>
              <a:ext uri="{FF2B5EF4-FFF2-40B4-BE49-F238E27FC236}">
                <a16:creationId xmlns:a16="http://schemas.microsoft.com/office/drawing/2014/main" id="{B9FDDFD9-2875-39F3-F082-A2338ADDFD92}"/>
              </a:ext>
            </a:extLst>
          </p:cNvPr>
          <p:cNvSpPr/>
          <p:nvPr/>
        </p:nvSpPr>
        <p:spPr>
          <a:xfrm>
            <a:off x="712478" y="1411588"/>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accent1">
                    <a:lumMod val="75000"/>
                  </a:schemeClr>
                </a:solidFill>
              </a:rPr>
              <a:t>３</a:t>
            </a:r>
            <a:endParaRPr kumimoji="1" lang="ja-JP" altLang="en-US" sz="2800" b="1">
              <a:solidFill>
                <a:schemeClr val="accent1">
                  <a:lumMod val="75000"/>
                </a:schemeClr>
              </a:solidFill>
            </a:endParaRPr>
          </a:p>
        </p:txBody>
      </p:sp>
      <p:sp>
        <p:nvSpPr>
          <p:cNvPr id="54" name="円/楕円 53">
            <a:extLst>
              <a:ext uri="{FF2B5EF4-FFF2-40B4-BE49-F238E27FC236}">
                <a16:creationId xmlns:a16="http://schemas.microsoft.com/office/drawing/2014/main" id="{8D8C75B4-167A-CB39-E759-14E7529AF112}"/>
              </a:ext>
            </a:extLst>
          </p:cNvPr>
          <p:cNvSpPr/>
          <p:nvPr/>
        </p:nvSpPr>
        <p:spPr>
          <a:xfrm>
            <a:off x="6865676" y="1409195"/>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chemeClr val="accent1">
                    <a:lumMod val="75000"/>
                  </a:schemeClr>
                </a:solidFill>
              </a:rPr>
              <a:t>４</a:t>
            </a:r>
          </a:p>
        </p:txBody>
      </p:sp>
      <p:cxnSp>
        <p:nvCxnSpPr>
          <p:cNvPr id="49" name="直線コネクタ 48">
            <a:extLst>
              <a:ext uri="{FF2B5EF4-FFF2-40B4-BE49-F238E27FC236}">
                <a16:creationId xmlns:a16="http://schemas.microsoft.com/office/drawing/2014/main" id="{B5AB8B5E-5358-5C51-3965-508642E16F29}"/>
              </a:ext>
            </a:extLst>
          </p:cNvPr>
          <p:cNvCxnSpPr>
            <a:cxnSpLocks/>
          </p:cNvCxnSpPr>
          <p:nvPr/>
        </p:nvCxnSpPr>
        <p:spPr>
          <a:xfrm flipH="1" flipV="1">
            <a:off x="7140538" y="3893980"/>
            <a:ext cx="3652061" cy="4550"/>
          </a:xfrm>
          <a:prstGeom prst="line">
            <a:avLst/>
          </a:prstGeom>
          <a:ln w="635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A8553E0E-0C64-115F-62FA-54C5ABACE90C}"/>
              </a:ext>
            </a:extLst>
          </p:cNvPr>
          <p:cNvSpPr txBox="1"/>
          <p:nvPr/>
        </p:nvSpPr>
        <p:spPr>
          <a:xfrm>
            <a:off x="1645805" y="1536850"/>
            <a:ext cx="3262432" cy="400110"/>
          </a:xfrm>
          <a:prstGeom prst="rect">
            <a:avLst/>
          </a:prstGeom>
          <a:noFill/>
        </p:spPr>
        <p:txBody>
          <a:bodyPr wrap="none" rtlCol="0">
            <a:spAutoFit/>
          </a:bodyPr>
          <a:lstStyle/>
          <a:p>
            <a:r>
              <a:rPr kumimoji="1" lang="ja-JP" altLang="en-US" sz="2000" b="1">
                <a:solidFill>
                  <a:schemeClr val="accent1">
                    <a:lumMod val="50000"/>
                  </a:schemeClr>
                </a:solidFill>
              </a:rPr>
              <a:t>例えばこういう点に対して</a:t>
            </a:r>
          </a:p>
        </p:txBody>
      </p:sp>
      <p:cxnSp>
        <p:nvCxnSpPr>
          <p:cNvPr id="46" name="直線矢印コネクタ 45">
            <a:extLst>
              <a:ext uri="{FF2B5EF4-FFF2-40B4-BE49-F238E27FC236}">
                <a16:creationId xmlns:a16="http://schemas.microsoft.com/office/drawing/2014/main" id="{269C6A52-887F-1450-3A9D-695AE3F7ECB7}"/>
              </a:ext>
            </a:extLst>
          </p:cNvPr>
          <p:cNvCxnSpPr>
            <a:cxnSpLocks/>
          </p:cNvCxnSpPr>
          <p:nvPr/>
        </p:nvCxnSpPr>
        <p:spPr>
          <a:xfrm flipV="1">
            <a:off x="7552599"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59D7247B-CABA-6A54-3939-2FA833C65BD6}"/>
              </a:ext>
            </a:extLst>
          </p:cNvPr>
          <p:cNvCxnSpPr>
            <a:cxnSpLocks/>
          </p:cNvCxnSpPr>
          <p:nvPr/>
        </p:nvCxnSpPr>
        <p:spPr>
          <a:xfrm>
            <a:off x="7192599"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nvGrpSpPr>
          <p:cNvPr id="48" name="グループ化 47">
            <a:extLst>
              <a:ext uri="{FF2B5EF4-FFF2-40B4-BE49-F238E27FC236}">
                <a16:creationId xmlns:a16="http://schemas.microsoft.com/office/drawing/2014/main" id="{16B665A8-F1B7-9552-95D2-7DA1208C4E69}"/>
              </a:ext>
            </a:extLst>
          </p:cNvPr>
          <p:cNvGrpSpPr/>
          <p:nvPr/>
        </p:nvGrpSpPr>
        <p:grpSpPr>
          <a:xfrm>
            <a:off x="8001985" y="3801943"/>
            <a:ext cx="2512569" cy="190739"/>
            <a:chOff x="1534452" y="3824150"/>
            <a:chExt cx="2512569" cy="190739"/>
          </a:xfrm>
        </p:grpSpPr>
        <p:sp>
          <p:nvSpPr>
            <p:cNvPr id="50" name="円/楕円 49">
              <a:extLst>
                <a:ext uri="{FF2B5EF4-FFF2-40B4-BE49-F238E27FC236}">
                  <a16:creationId xmlns:a16="http://schemas.microsoft.com/office/drawing/2014/main" id="{E74AAC14-D94D-25B2-5FA0-6AC2D467C1C8}"/>
                </a:ext>
              </a:extLst>
            </p:cNvPr>
            <p:cNvSpPr/>
            <p:nvPr/>
          </p:nvSpPr>
          <p:spPr>
            <a:xfrm>
              <a:off x="1534452" y="383325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円/楕円 65">
              <a:extLst>
                <a:ext uri="{FF2B5EF4-FFF2-40B4-BE49-F238E27FC236}">
                  <a16:creationId xmlns:a16="http://schemas.microsoft.com/office/drawing/2014/main" id="{A33AD55C-9923-E085-4081-08D2107B1ACC}"/>
                </a:ext>
              </a:extLst>
            </p:cNvPr>
            <p:cNvSpPr/>
            <p:nvPr/>
          </p:nvSpPr>
          <p:spPr>
            <a:xfrm>
              <a:off x="1896892" y="3834415"/>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楕円 66">
              <a:extLst>
                <a:ext uri="{FF2B5EF4-FFF2-40B4-BE49-F238E27FC236}">
                  <a16:creationId xmlns:a16="http://schemas.microsoft.com/office/drawing/2014/main" id="{AD8586A5-1216-D321-76C2-B955F831A8A6}"/>
                </a:ext>
              </a:extLst>
            </p:cNvPr>
            <p:cNvSpPr/>
            <p:nvPr/>
          </p:nvSpPr>
          <p:spPr>
            <a:xfrm>
              <a:off x="1714926" y="383050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円/楕円 67">
              <a:extLst>
                <a:ext uri="{FF2B5EF4-FFF2-40B4-BE49-F238E27FC236}">
                  <a16:creationId xmlns:a16="http://schemas.microsoft.com/office/drawing/2014/main" id="{36F07CBE-CE74-C2D3-EA3A-E6D22A41B3B1}"/>
                </a:ext>
              </a:extLst>
            </p:cNvPr>
            <p:cNvSpPr/>
            <p:nvPr/>
          </p:nvSpPr>
          <p:spPr>
            <a:xfrm>
              <a:off x="2252156" y="383050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円/楕円 68">
              <a:extLst>
                <a:ext uri="{FF2B5EF4-FFF2-40B4-BE49-F238E27FC236}">
                  <a16:creationId xmlns:a16="http://schemas.microsoft.com/office/drawing/2014/main" id="{7E745C56-44E8-944C-2D45-F87AB17D7904}"/>
                </a:ext>
              </a:extLst>
            </p:cNvPr>
            <p:cNvSpPr/>
            <p:nvPr/>
          </p:nvSpPr>
          <p:spPr>
            <a:xfrm>
              <a:off x="2782211" y="383050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円/楕円 69">
              <a:extLst>
                <a:ext uri="{FF2B5EF4-FFF2-40B4-BE49-F238E27FC236}">
                  <a16:creationId xmlns:a16="http://schemas.microsoft.com/office/drawing/2014/main" id="{A7194DCC-F656-402F-BB57-C2190152061D}"/>
                </a:ext>
              </a:extLst>
            </p:cNvPr>
            <p:cNvSpPr/>
            <p:nvPr/>
          </p:nvSpPr>
          <p:spPr>
            <a:xfrm>
              <a:off x="3143159" y="383325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円/楕円 70">
              <a:extLst>
                <a:ext uri="{FF2B5EF4-FFF2-40B4-BE49-F238E27FC236}">
                  <a16:creationId xmlns:a16="http://schemas.microsoft.com/office/drawing/2014/main" id="{DFEEBDEE-4441-574A-997B-883E1E8CA512}"/>
                </a:ext>
              </a:extLst>
            </p:cNvPr>
            <p:cNvSpPr/>
            <p:nvPr/>
          </p:nvSpPr>
          <p:spPr>
            <a:xfrm>
              <a:off x="2962685" y="383050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楕円 71">
              <a:extLst>
                <a:ext uri="{FF2B5EF4-FFF2-40B4-BE49-F238E27FC236}">
                  <a16:creationId xmlns:a16="http://schemas.microsoft.com/office/drawing/2014/main" id="{80CF6DE2-F617-856C-D41C-E63A921E13B2}"/>
                </a:ext>
              </a:extLst>
            </p:cNvPr>
            <p:cNvSpPr/>
            <p:nvPr/>
          </p:nvSpPr>
          <p:spPr>
            <a:xfrm>
              <a:off x="2077659" y="383325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円/楕円 72">
              <a:extLst>
                <a:ext uri="{FF2B5EF4-FFF2-40B4-BE49-F238E27FC236}">
                  <a16:creationId xmlns:a16="http://schemas.microsoft.com/office/drawing/2014/main" id="{FA7D73A8-553A-853B-2C1D-38B6198159CD}"/>
                </a:ext>
              </a:extLst>
            </p:cNvPr>
            <p:cNvSpPr/>
            <p:nvPr/>
          </p:nvSpPr>
          <p:spPr>
            <a:xfrm>
              <a:off x="2430309" y="383208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円/楕円 73">
              <a:extLst>
                <a:ext uri="{FF2B5EF4-FFF2-40B4-BE49-F238E27FC236}">
                  <a16:creationId xmlns:a16="http://schemas.microsoft.com/office/drawing/2014/main" id="{6A3703CE-F8CC-B810-5A7C-8E3F121BE5FF}"/>
                </a:ext>
              </a:extLst>
            </p:cNvPr>
            <p:cNvSpPr/>
            <p:nvPr/>
          </p:nvSpPr>
          <p:spPr>
            <a:xfrm>
              <a:off x="3684581" y="382415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円/楕円 74">
              <a:extLst>
                <a:ext uri="{FF2B5EF4-FFF2-40B4-BE49-F238E27FC236}">
                  <a16:creationId xmlns:a16="http://schemas.microsoft.com/office/drawing/2014/main" id="{64811850-AEF7-DB8C-3184-1ECD66B8BDF3}"/>
                </a:ext>
              </a:extLst>
            </p:cNvPr>
            <p:cNvSpPr/>
            <p:nvPr/>
          </p:nvSpPr>
          <p:spPr>
            <a:xfrm>
              <a:off x="3504107" y="383050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円/楕円 75">
              <a:extLst>
                <a:ext uri="{FF2B5EF4-FFF2-40B4-BE49-F238E27FC236}">
                  <a16:creationId xmlns:a16="http://schemas.microsoft.com/office/drawing/2014/main" id="{A53616F6-9949-A244-7B31-B3D27CBCC422}"/>
                </a:ext>
              </a:extLst>
            </p:cNvPr>
            <p:cNvSpPr/>
            <p:nvPr/>
          </p:nvSpPr>
          <p:spPr>
            <a:xfrm>
              <a:off x="2606378" y="383325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円/楕円 76">
              <a:extLst>
                <a:ext uri="{FF2B5EF4-FFF2-40B4-BE49-F238E27FC236}">
                  <a16:creationId xmlns:a16="http://schemas.microsoft.com/office/drawing/2014/main" id="{D2FE2308-4F63-DCD6-6EDF-235562F4B743}"/>
                </a:ext>
              </a:extLst>
            </p:cNvPr>
            <p:cNvSpPr/>
            <p:nvPr/>
          </p:nvSpPr>
          <p:spPr>
            <a:xfrm>
              <a:off x="3323633" y="383208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円/楕円 77">
              <a:extLst>
                <a:ext uri="{FF2B5EF4-FFF2-40B4-BE49-F238E27FC236}">
                  <a16:creationId xmlns:a16="http://schemas.microsoft.com/office/drawing/2014/main" id="{2E09754F-757A-6174-8A0B-541487761AFA}"/>
                </a:ext>
              </a:extLst>
            </p:cNvPr>
            <p:cNvSpPr/>
            <p:nvPr/>
          </p:nvSpPr>
          <p:spPr>
            <a:xfrm>
              <a:off x="3866547" y="382415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9" name="テキスト ボックス 78">
            <a:extLst>
              <a:ext uri="{FF2B5EF4-FFF2-40B4-BE49-F238E27FC236}">
                <a16:creationId xmlns:a16="http://schemas.microsoft.com/office/drawing/2014/main" id="{29DC9B3F-79D1-00F2-9EF2-BEF2FA792932}"/>
              </a:ext>
            </a:extLst>
          </p:cNvPr>
          <p:cNvSpPr txBox="1"/>
          <p:nvPr/>
        </p:nvSpPr>
        <p:spPr>
          <a:xfrm>
            <a:off x="7772416" y="1551451"/>
            <a:ext cx="2954655" cy="369332"/>
          </a:xfrm>
          <a:prstGeom prst="rect">
            <a:avLst/>
          </a:prstGeom>
          <a:noFill/>
        </p:spPr>
        <p:txBody>
          <a:bodyPr wrap="none" rtlCol="0">
            <a:spAutoFit/>
          </a:bodyPr>
          <a:lstStyle/>
          <a:p>
            <a:r>
              <a:rPr kumimoji="1" lang="ja-JP" altLang="en-US" b="1">
                <a:solidFill>
                  <a:schemeClr val="accent1">
                    <a:lumMod val="50000"/>
                  </a:schemeClr>
                </a:solidFill>
              </a:rPr>
              <a:t>こういう線を取ったとする</a:t>
            </a:r>
          </a:p>
        </p:txBody>
      </p:sp>
      <p:sp>
        <p:nvSpPr>
          <p:cNvPr id="80" name="テキスト ボックス 79">
            <a:extLst>
              <a:ext uri="{FF2B5EF4-FFF2-40B4-BE49-F238E27FC236}">
                <a16:creationId xmlns:a16="http://schemas.microsoft.com/office/drawing/2014/main" id="{180A7E9E-0566-7CD7-EB27-40A4F12B4A27}"/>
              </a:ext>
            </a:extLst>
          </p:cNvPr>
          <p:cNvSpPr txBox="1"/>
          <p:nvPr/>
        </p:nvSpPr>
        <p:spPr>
          <a:xfrm>
            <a:off x="3692289" y="6138336"/>
            <a:ext cx="4852610" cy="523220"/>
          </a:xfrm>
          <a:prstGeom prst="rect">
            <a:avLst/>
          </a:prstGeom>
          <a:noFill/>
        </p:spPr>
        <p:txBody>
          <a:bodyPr wrap="none" rtlCol="0">
            <a:spAutoFit/>
          </a:bodyPr>
          <a:lstStyle/>
          <a:p>
            <a:r>
              <a:rPr kumimoji="1" lang="ja-JP" altLang="en-US" sz="2800" b="1">
                <a:solidFill>
                  <a:schemeClr val="accent1">
                    <a:lumMod val="50000"/>
                  </a:schemeClr>
                </a:solidFill>
              </a:rPr>
              <a:t>この場合失われた情報はない</a:t>
            </a:r>
          </a:p>
        </p:txBody>
      </p:sp>
      <p:sp>
        <p:nvSpPr>
          <p:cNvPr id="51" name="正方形/長方形 50">
            <a:extLst>
              <a:ext uri="{FF2B5EF4-FFF2-40B4-BE49-F238E27FC236}">
                <a16:creationId xmlns:a16="http://schemas.microsoft.com/office/drawing/2014/main" id="{4EAAF52D-FFA1-574D-0FF5-F13E210711A8}"/>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63F7FDA3-A9B1-F713-32CF-E13E58DB9032}"/>
              </a:ext>
            </a:extLst>
          </p:cNvPr>
          <p:cNvSpPr txBox="1"/>
          <p:nvPr/>
        </p:nvSpPr>
        <p:spPr>
          <a:xfrm>
            <a:off x="385370" y="120924"/>
            <a:ext cx="3877985" cy="461665"/>
          </a:xfrm>
          <a:prstGeom prst="rect">
            <a:avLst/>
          </a:prstGeom>
          <a:noFill/>
        </p:spPr>
        <p:txBody>
          <a:bodyPr wrap="none" rtlCol="0">
            <a:spAutoFit/>
          </a:bodyPr>
          <a:lstStyle/>
          <a:p>
            <a:r>
              <a:rPr lang="ja-JP" altLang="en-US" sz="2400" b="1">
                <a:solidFill>
                  <a:schemeClr val="bg1"/>
                </a:solidFill>
              </a:rPr>
              <a:t>どれだけ情報が失われるか</a:t>
            </a:r>
          </a:p>
        </p:txBody>
      </p:sp>
    </p:spTree>
    <p:extLst>
      <p:ext uri="{BB962C8B-B14F-4D97-AF65-F5344CB8AC3E}">
        <p14:creationId xmlns:p14="http://schemas.microsoft.com/office/powerpoint/2010/main" val="3433616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グループ化 50">
            <a:extLst>
              <a:ext uri="{FF2B5EF4-FFF2-40B4-BE49-F238E27FC236}">
                <a16:creationId xmlns:a16="http://schemas.microsoft.com/office/drawing/2014/main" id="{FC04E49F-FC9A-7E7E-DD0F-D8DFCC4B9CBE}"/>
              </a:ext>
            </a:extLst>
          </p:cNvPr>
          <p:cNvGrpSpPr/>
          <p:nvPr/>
        </p:nvGrpSpPr>
        <p:grpSpPr>
          <a:xfrm>
            <a:off x="1039401" y="2057129"/>
            <a:ext cx="3600000" cy="3600000"/>
            <a:chOff x="1039401" y="2057129"/>
            <a:chExt cx="3600000" cy="3600000"/>
          </a:xfrm>
        </p:grpSpPr>
        <p:cxnSp>
          <p:nvCxnSpPr>
            <p:cNvPr id="52" name="直線矢印コネクタ 51">
              <a:extLst>
                <a:ext uri="{FF2B5EF4-FFF2-40B4-BE49-F238E27FC236}">
                  <a16:creationId xmlns:a16="http://schemas.microsoft.com/office/drawing/2014/main" id="{33415472-1B94-DC89-ED31-343738C6F4FD}"/>
                </a:ext>
              </a:extLst>
            </p:cNvPr>
            <p:cNvCxnSpPr>
              <a:cxnSpLocks/>
            </p:cNvCxnSpPr>
            <p:nvPr/>
          </p:nvCxnSpPr>
          <p:spPr>
            <a:xfrm flipV="1">
              <a:off x="1399401"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94DB1820-CD66-F5FC-1263-A04548BBD3EB}"/>
                </a:ext>
              </a:extLst>
            </p:cNvPr>
            <p:cNvCxnSpPr>
              <a:cxnSpLocks/>
            </p:cNvCxnSpPr>
            <p:nvPr/>
          </p:nvCxnSpPr>
          <p:spPr>
            <a:xfrm>
              <a:off x="1039401"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14" name="グループ化 13">
            <a:extLst>
              <a:ext uri="{FF2B5EF4-FFF2-40B4-BE49-F238E27FC236}">
                <a16:creationId xmlns:a16="http://schemas.microsoft.com/office/drawing/2014/main" id="{10A076A3-5F05-8F7D-EB8F-0043067B0653}"/>
              </a:ext>
            </a:extLst>
          </p:cNvPr>
          <p:cNvGrpSpPr/>
          <p:nvPr/>
        </p:nvGrpSpPr>
        <p:grpSpPr>
          <a:xfrm>
            <a:off x="1039401" y="-3833692"/>
            <a:ext cx="3600000" cy="3600000"/>
            <a:chOff x="1039401" y="-3833692"/>
            <a:chExt cx="3600000" cy="3600000"/>
          </a:xfrm>
        </p:grpSpPr>
        <p:cxnSp>
          <p:nvCxnSpPr>
            <p:cNvPr id="11" name="直線矢印コネクタ 10">
              <a:extLst>
                <a:ext uri="{FF2B5EF4-FFF2-40B4-BE49-F238E27FC236}">
                  <a16:creationId xmlns:a16="http://schemas.microsoft.com/office/drawing/2014/main" id="{037ED7D2-83E8-E0AE-2C4A-8B20F91AF81F}"/>
                </a:ext>
              </a:extLst>
            </p:cNvPr>
            <p:cNvCxnSpPr>
              <a:cxnSpLocks/>
            </p:cNvCxnSpPr>
            <p:nvPr/>
          </p:nvCxnSpPr>
          <p:spPr>
            <a:xfrm flipV="1">
              <a:off x="1399401" y="-3833692"/>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0D32960-1661-15FC-E06C-90FEB07EB4B4}"/>
                </a:ext>
              </a:extLst>
            </p:cNvPr>
            <p:cNvCxnSpPr>
              <a:cxnSpLocks/>
            </p:cNvCxnSpPr>
            <p:nvPr/>
          </p:nvCxnSpPr>
          <p:spPr>
            <a:xfrm>
              <a:off x="1039401" y="-595653"/>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C9E11B82-4E4A-BA44-D9D0-85C1E532451C}"/>
                </a:ext>
              </a:extLst>
            </p:cNvPr>
            <p:cNvSpPr/>
            <p:nvPr/>
          </p:nvSpPr>
          <p:spPr>
            <a:xfrm>
              <a:off x="1039401" y="-593692"/>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グループ化 33">
            <a:extLst>
              <a:ext uri="{FF2B5EF4-FFF2-40B4-BE49-F238E27FC236}">
                <a16:creationId xmlns:a16="http://schemas.microsoft.com/office/drawing/2014/main" id="{0AB7FE8B-844D-9211-84FE-A84424FA94B2}"/>
              </a:ext>
            </a:extLst>
          </p:cNvPr>
          <p:cNvGrpSpPr/>
          <p:nvPr/>
        </p:nvGrpSpPr>
        <p:grpSpPr>
          <a:xfrm>
            <a:off x="1577829" y="2496567"/>
            <a:ext cx="2775571" cy="2043959"/>
            <a:chOff x="1542896" y="2381371"/>
            <a:chExt cx="2775571" cy="2043959"/>
          </a:xfrm>
        </p:grpSpPr>
        <p:sp>
          <p:nvSpPr>
            <p:cNvPr id="35" name="円/楕円 34">
              <a:extLst>
                <a:ext uri="{FF2B5EF4-FFF2-40B4-BE49-F238E27FC236}">
                  <a16:creationId xmlns:a16="http://schemas.microsoft.com/office/drawing/2014/main" id="{63462F36-38AD-CB67-498C-6F2E3DA0F34D}"/>
                </a:ext>
              </a:extLst>
            </p:cNvPr>
            <p:cNvSpPr/>
            <p:nvPr/>
          </p:nvSpPr>
          <p:spPr>
            <a:xfrm>
              <a:off x="2132365" y="400590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円/楕円 35">
              <a:extLst>
                <a:ext uri="{FF2B5EF4-FFF2-40B4-BE49-F238E27FC236}">
                  <a16:creationId xmlns:a16="http://schemas.microsoft.com/office/drawing/2014/main" id="{346CB700-68D7-A58C-4579-68366CC7188A}"/>
                </a:ext>
              </a:extLst>
            </p:cNvPr>
            <p:cNvSpPr/>
            <p:nvPr/>
          </p:nvSpPr>
          <p:spPr>
            <a:xfrm>
              <a:off x="1542896" y="4244856"/>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楕円 36">
              <a:extLst>
                <a:ext uri="{FF2B5EF4-FFF2-40B4-BE49-F238E27FC236}">
                  <a16:creationId xmlns:a16="http://schemas.microsoft.com/office/drawing/2014/main" id="{4221B51F-14A9-2999-C253-BF78456D83A2}"/>
                </a:ext>
              </a:extLst>
            </p:cNvPr>
            <p:cNvSpPr/>
            <p:nvPr/>
          </p:nvSpPr>
          <p:spPr>
            <a:xfrm>
              <a:off x="1785810" y="377877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楕円 37">
              <a:extLst>
                <a:ext uri="{FF2B5EF4-FFF2-40B4-BE49-F238E27FC236}">
                  <a16:creationId xmlns:a16="http://schemas.microsoft.com/office/drawing/2014/main" id="{9F14AC9B-E9E4-1E0E-2830-7BEC321FE9FC}"/>
                </a:ext>
              </a:extLst>
            </p:cNvPr>
            <p:cNvSpPr/>
            <p:nvPr/>
          </p:nvSpPr>
          <p:spPr>
            <a:xfrm>
              <a:off x="2162091" y="367836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a:extLst>
                <a:ext uri="{FF2B5EF4-FFF2-40B4-BE49-F238E27FC236}">
                  <a16:creationId xmlns:a16="http://schemas.microsoft.com/office/drawing/2014/main" id="{A380E0BB-DD33-83A7-DAE6-BDD47A1FF751}"/>
                </a:ext>
              </a:extLst>
            </p:cNvPr>
            <p:cNvSpPr/>
            <p:nvPr/>
          </p:nvSpPr>
          <p:spPr>
            <a:xfrm>
              <a:off x="2693931" y="318941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a:extLst>
                <a:ext uri="{FF2B5EF4-FFF2-40B4-BE49-F238E27FC236}">
                  <a16:creationId xmlns:a16="http://schemas.microsoft.com/office/drawing/2014/main" id="{94BB6FEA-F14D-4139-7318-CC837BA2FC86}"/>
                </a:ext>
              </a:extLst>
            </p:cNvPr>
            <p:cNvSpPr/>
            <p:nvPr/>
          </p:nvSpPr>
          <p:spPr>
            <a:xfrm>
              <a:off x="3126338" y="307701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0">
              <a:extLst>
                <a:ext uri="{FF2B5EF4-FFF2-40B4-BE49-F238E27FC236}">
                  <a16:creationId xmlns:a16="http://schemas.microsoft.com/office/drawing/2014/main" id="{5BEEA6A3-90CC-E222-446A-B76D8A3DFAD9}"/>
                </a:ext>
              </a:extLst>
            </p:cNvPr>
            <p:cNvSpPr/>
            <p:nvPr/>
          </p:nvSpPr>
          <p:spPr>
            <a:xfrm>
              <a:off x="3537070" y="378162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円/楕円 41">
              <a:extLst>
                <a:ext uri="{FF2B5EF4-FFF2-40B4-BE49-F238E27FC236}">
                  <a16:creationId xmlns:a16="http://schemas.microsoft.com/office/drawing/2014/main" id="{2D5DDC0C-F96F-D126-9F3D-D21A48307A90}"/>
                </a:ext>
              </a:extLst>
            </p:cNvPr>
            <p:cNvSpPr/>
            <p:nvPr/>
          </p:nvSpPr>
          <p:spPr>
            <a:xfrm>
              <a:off x="2171287" y="328120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楕円 42">
              <a:extLst>
                <a:ext uri="{FF2B5EF4-FFF2-40B4-BE49-F238E27FC236}">
                  <a16:creationId xmlns:a16="http://schemas.microsoft.com/office/drawing/2014/main" id="{9EFEC45D-CAE3-E23F-6345-802F97106568}"/>
                </a:ext>
              </a:extLst>
            </p:cNvPr>
            <p:cNvSpPr/>
            <p:nvPr/>
          </p:nvSpPr>
          <p:spPr>
            <a:xfrm>
              <a:off x="3418798" y="266551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43">
              <a:extLst>
                <a:ext uri="{FF2B5EF4-FFF2-40B4-BE49-F238E27FC236}">
                  <a16:creationId xmlns:a16="http://schemas.microsoft.com/office/drawing/2014/main" id="{FB0F06CF-9A34-D8F7-ED79-404FD8097364}"/>
                </a:ext>
              </a:extLst>
            </p:cNvPr>
            <p:cNvSpPr/>
            <p:nvPr/>
          </p:nvSpPr>
          <p:spPr>
            <a:xfrm>
              <a:off x="2762869" y="372473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44">
              <a:extLst>
                <a:ext uri="{FF2B5EF4-FFF2-40B4-BE49-F238E27FC236}">
                  <a16:creationId xmlns:a16="http://schemas.microsoft.com/office/drawing/2014/main" id="{0A4C0B7F-4688-1999-FD23-1CE0E9857E94}"/>
                </a:ext>
              </a:extLst>
            </p:cNvPr>
            <p:cNvSpPr/>
            <p:nvPr/>
          </p:nvSpPr>
          <p:spPr>
            <a:xfrm>
              <a:off x="2988793" y="340477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円/楕円 45">
              <a:extLst>
                <a:ext uri="{FF2B5EF4-FFF2-40B4-BE49-F238E27FC236}">
                  <a16:creationId xmlns:a16="http://schemas.microsoft.com/office/drawing/2014/main" id="{CE01C3AB-49A2-6482-5CF4-7D3429D1EB06}"/>
                </a:ext>
              </a:extLst>
            </p:cNvPr>
            <p:cNvSpPr/>
            <p:nvPr/>
          </p:nvSpPr>
          <p:spPr>
            <a:xfrm>
              <a:off x="3009648" y="275674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円/楕円 46">
              <a:extLst>
                <a:ext uri="{FF2B5EF4-FFF2-40B4-BE49-F238E27FC236}">
                  <a16:creationId xmlns:a16="http://schemas.microsoft.com/office/drawing/2014/main" id="{66407FC5-5B78-825C-7C23-CAEF7254F44C}"/>
                </a:ext>
              </a:extLst>
            </p:cNvPr>
            <p:cNvSpPr/>
            <p:nvPr/>
          </p:nvSpPr>
          <p:spPr>
            <a:xfrm>
              <a:off x="3633735" y="324428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円/楕円 47">
              <a:extLst>
                <a:ext uri="{FF2B5EF4-FFF2-40B4-BE49-F238E27FC236}">
                  <a16:creationId xmlns:a16="http://schemas.microsoft.com/office/drawing/2014/main" id="{CF1FBFAD-77DC-3820-ACD6-EB8E8EED1214}"/>
                </a:ext>
              </a:extLst>
            </p:cNvPr>
            <p:cNvSpPr/>
            <p:nvPr/>
          </p:nvSpPr>
          <p:spPr>
            <a:xfrm>
              <a:off x="4137993" y="238137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50" name="直線コネクタ 49">
            <a:extLst>
              <a:ext uri="{FF2B5EF4-FFF2-40B4-BE49-F238E27FC236}">
                <a16:creationId xmlns:a16="http://schemas.microsoft.com/office/drawing/2014/main" id="{5AC1BC25-48A6-FA86-3C4D-8459EF326A36}"/>
              </a:ext>
            </a:extLst>
          </p:cNvPr>
          <p:cNvCxnSpPr>
            <a:cxnSpLocks/>
          </p:cNvCxnSpPr>
          <p:nvPr/>
        </p:nvCxnSpPr>
        <p:spPr>
          <a:xfrm flipH="1">
            <a:off x="7658068" y="2533588"/>
            <a:ext cx="2937215" cy="2012723"/>
          </a:xfrm>
          <a:prstGeom prst="line">
            <a:avLst/>
          </a:prstGeom>
          <a:ln w="635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3" name="円/楕円 52">
            <a:extLst>
              <a:ext uri="{FF2B5EF4-FFF2-40B4-BE49-F238E27FC236}">
                <a16:creationId xmlns:a16="http://schemas.microsoft.com/office/drawing/2014/main" id="{B9FDDFD9-2875-39F3-F082-A2338ADDFD92}"/>
              </a:ext>
            </a:extLst>
          </p:cNvPr>
          <p:cNvSpPr/>
          <p:nvPr/>
        </p:nvSpPr>
        <p:spPr>
          <a:xfrm>
            <a:off x="712478" y="1411588"/>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chemeClr val="accent1">
                    <a:lumMod val="75000"/>
                  </a:schemeClr>
                </a:solidFill>
              </a:rPr>
              <a:t>１</a:t>
            </a:r>
          </a:p>
        </p:txBody>
      </p:sp>
      <p:sp>
        <p:nvSpPr>
          <p:cNvPr id="75" name="円/楕円 74">
            <a:extLst>
              <a:ext uri="{FF2B5EF4-FFF2-40B4-BE49-F238E27FC236}">
                <a16:creationId xmlns:a16="http://schemas.microsoft.com/office/drawing/2014/main" id="{8B74C565-9FEB-93B0-D0EF-4CEFB677CC7E}"/>
              </a:ext>
            </a:extLst>
          </p:cNvPr>
          <p:cNvSpPr/>
          <p:nvPr/>
        </p:nvSpPr>
        <p:spPr>
          <a:xfrm>
            <a:off x="6865676" y="1409195"/>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accent1">
                    <a:lumMod val="75000"/>
                  </a:schemeClr>
                </a:solidFill>
              </a:rPr>
              <a:t>２</a:t>
            </a:r>
            <a:endParaRPr kumimoji="1" lang="ja-JP" altLang="en-US" sz="2800" b="1">
              <a:solidFill>
                <a:schemeClr val="accent1">
                  <a:lumMod val="75000"/>
                </a:schemeClr>
              </a:solidFill>
            </a:endParaRPr>
          </a:p>
        </p:txBody>
      </p:sp>
      <p:grpSp>
        <p:nvGrpSpPr>
          <p:cNvPr id="76" name="グループ化 75">
            <a:extLst>
              <a:ext uri="{FF2B5EF4-FFF2-40B4-BE49-F238E27FC236}">
                <a16:creationId xmlns:a16="http://schemas.microsoft.com/office/drawing/2014/main" id="{5B76C13F-CA98-4B5B-2973-3C9D2F624076}"/>
              </a:ext>
            </a:extLst>
          </p:cNvPr>
          <p:cNvGrpSpPr/>
          <p:nvPr/>
        </p:nvGrpSpPr>
        <p:grpSpPr>
          <a:xfrm>
            <a:off x="7187802" y="2057129"/>
            <a:ext cx="3600000" cy="3600000"/>
            <a:chOff x="1039401" y="2057129"/>
            <a:chExt cx="3600000" cy="3600000"/>
          </a:xfrm>
        </p:grpSpPr>
        <p:cxnSp>
          <p:nvCxnSpPr>
            <p:cNvPr id="77" name="直線矢印コネクタ 76">
              <a:extLst>
                <a:ext uri="{FF2B5EF4-FFF2-40B4-BE49-F238E27FC236}">
                  <a16:creationId xmlns:a16="http://schemas.microsoft.com/office/drawing/2014/main" id="{F0A1820F-0E1B-9A14-04B8-BFB119E0A56F}"/>
                </a:ext>
              </a:extLst>
            </p:cNvPr>
            <p:cNvCxnSpPr>
              <a:cxnSpLocks/>
            </p:cNvCxnSpPr>
            <p:nvPr/>
          </p:nvCxnSpPr>
          <p:spPr>
            <a:xfrm flipV="1">
              <a:off x="1399401"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67C94A10-34BE-AF23-6A23-81C6C94A5F7A}"/>
                </a:ext>
              </a:extLst>
            </p:cNvPr>
            <p:cNvCxnSpPr>
              <a:cxnSpLocks/>
            </p:cNvCxnSpPr>
            <p:nvPr/>
          </p:nvCxnSpPr>
          <p:spPr>
            <a:xfrm>
              <a:off x="1039401"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79" name="グループ化 78">
            <a:extLst>
              <a:ext uri="{FF2B5EF4-FFF2-40B4-BE49-F238E27FC236}">
                <a16:creationId xmlns:a16="http://schemas.microsoft.com/office/drawing/2014/main" id="{0BD7148E-6281-B629-CFDA-0A9E2100D5EB}"/>
              </a:ext>
            </a:extLst>
          </p:cNvPr>
          <p:cNvGrpSpPr/>
          <p:nvPr/>
        </p:nvGrpSpPr>
        <p:grpSpPr>
          <a:xfrm>
            <a:off x="7726230" y="2496567"/>
            <a:ext cx="2775571" cy="2043959"/>
            <a:chOff x="1542896" y="2381371"/>
            <a:chExt cx="2775571" cy="2043959"/>
          </a:xfrm>
        </p:grpSpPr>
        <p:sp>
          <p:nvSpPr>
            <p:cNvPr id="80" name="円/楕円 79">
              <a:extLst>
                <a:ext uri="{FF2B5EF4-FFF2-40B4-BE49-F238E27FC236}">
                  <a16:creationId xmlns:a16="http://schemas.microsoft.com/office/drawing/2014/main" id="{7BB0D50B-A7DB-0972-DF20-77F6C7FAF95E}"/>
                </a:ext>
              </a:extLst>
            </p:cNvPr>
            <p:cNvSpPr/>
            <p:nvPr/>
          </p:nvSpPr>
          <p:spPr>
            <a:xfrm>
              <a:off x="2132365" y="400590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円/楕円 80">
              <a:extLst>
                <a:ext uri="{FF2B5EF4-FFF2-40B4-BE49-F238E27FC236}">
                  <a16:creationId xmlns:a16="http://schemas.microsoft.com/office/drawing/2014/main" id="{5AD2B36A-B5E2-E24D-1178-BAF84370A72E}"/>
                </a:ext>
              </a:extLst>
            </p:cNvPr>
            <p:cNvSpPr/>
            <p:nvPr/>
          </p:nvSpPr>
          <p:spPr>
            <a:xfrm>
              <a:off x="1542896" y="4244856"/>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円/楕円 81">
              <a:extLst>
                <a:ext uri="{FF2B5EF4-FFF2-40B4-BE49-F238E27FC236}">
                  <a16:creationId xmlns:a16="http://schemas.microsoft.com/office/drawing/2014/main" id="{CA97071C-3131-707B-CA91-A73E5B2452EB}"/>
                </a:ext>
              </a:extLst>
            </p:cNvPr>
            <p:cNvSpPr/>
            <p:nvPr/>
          </p:nvSpPr>
          <p:spPr>
            <a:xfrm>
              <a:off x="1785810" y="377877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円/楕円 82">
              <a:extLst>
                <a:ext uri="{FF2B5EF4-FFF2-40B4-BE49-F238E27FC236}">
                  <a16:creationId xmlns:a16="http://schemas.microsoft.com/office/drawing/2014/main" id="{60717C74-1E56-3870-1480-C51053E14DE5}"/>
                </a:ext>
              </a:extLst>
            </p:cNvPr>
            <p:cNvSpPr/>
            <p:nvPr/>
          </p:nvSpPr>
          <p:spPr>
            <a:xfrm>
              <a:off x="2162091" y="3678368"/>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円/楕円 83">
              <a:extLst>
                <a:ext uri="{FF2B5EF4-FFF2-40B4-BE49-F238E27FC236}">
                  <a16:creationId xmlns:a16="http://schemas.microsoft.com/office/drawing/2014/main" id="{51263D60-2285-5C72-20DD-19E791D052C3}"/>
                </a:ext>
              </a:extLst>
            </p:cNvPr>
            <p:cNvSpPr/>
            <p:nvPr/>
          </p:nvSpPr>
          <p:spPr>
            <a:xfrm>
              <a:off x="2693931" y="318941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円/楕円 84">
              <a:extLst>
                <a:ext uri="{FF2B5EF4-FFF2-40B4-BE49-F238E27FC236}">
                  <a16:creationId xmlns:a16="http://schemas.microsoft.com/office/drawing/2014/main" id="{8A170EA1-940F-98DD-5316-A3C0A542AC71}"/>
                </a:ext>
              </a:extLst>
            </p:cNvPr>
            <p:cNvSpPr/>
            <p:nvPr/>
          </p:nvSpPr>
          <p:spPr>
            <a:xfrm>
              <a:off x="3126338" y="307701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円/楕円 85">
              <a:extLst>
                <a:ext uri="{FF2B5EF4-FFF2-40B4-BE49-F238E27FC236}">
                  <a16:creationId xmlns:a16="http://schemas.microsoft.com/office/drawing/2014/main" id="{CC069913-E9BF-4F5D-0990-0A192515CEEE}"/>
                </a:ext>
              </a:extLst>
            </p:cNvPr>
            <p:cNvSpPr/>
            <p:nvPr/>
          </p:nvSpPr>
          <p:spPr>
            <a:xfrm>
              <a:off x="3537070" y="378162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円/楕円 86">
              <a:extLst>
                <a:ext uri="{FF2B5EF4-FFF2-40B4-BE49-F238E27FC236}">
                  <a16:creationId xmlns:a16="http://schemas.microsoft.com/office/drawing/2014/main" id="{FFE5CE20-63AE-C6D3-2DE3-C391599BA0E0}"/>
                </a:ext>
              </a:extLst>
            </p:cNvPr>
            <p:cNvSpPr/>
            <p:nvPr/>
          </p:nvSpPr>
          <p:spPr>
            <a:xfrm>
              <a:off x="2171287" y="328120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円/楕円 87">
              <a:extLst>
                <a:ext uri="{FF2B5EF4-FFF2-40B4-BE49-F238E27FC236}">
                  <a16:creationId xmlns:a16="http://schemas.microsoft.com/office/drawing/2014/main" id="{DEE936A5-15D1-0CD7-53A6-4B2E4009F288}"/>
                </a:ext>
              </a:extLst>
            </p:cNvPr>
            <p:cNvSpPr/>
            <p:nvPr/>
          </p:nvSpPr>
          <p:spPr>
            <a:xfrm>
              <a:off x="3418798" y="266551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円/楕円 88">
              <a:extLst>
                <a:ext uri="{FF2B5EF4-FFF2-40B4-BE49-F238E27FC236}">
                  <a16:creationId xmlns:a16="http://schemas.microsoft.com/office/drawing/2014/main" id="{283B1EEC-2911-D79E-1E6B-05B2A4BEC7D5}"/>
                </a:ext>
              </a:extLst>
            </p:cNvPr>
            <p:cNvSpPr/>
            <p:nvPr/>
          </p:nvSpPr>
          <p:spPr>
            <a:xfrm>
              <a:off x="2762869" y="372473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円/楕円 89">
              <a:extLst>
                <a:ext uri="{FF2B5EF4-FFF2-40B4-BE49-F238E27FC236}">
                  <a16:creationId xmlns:a16="http://schemas.microsoft.com/office/drawing/2014/main" id="{F05C32BC-8407-09FA-4C0F-445B82D8CB53}"/>
                </a:ext>
              </a:extLst>
            </p:cNvPr>
            <p:cNvSpPr/>
            <p:nvPr/>
          </p:nvSpPr>
          <p:spPr>
            <a:xfrm>
              <a:off x="2988793" y="340477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円/楕円 90">
              <a:extLst>
                <a:ext uri="{FF2B5EF4-FFF2-40B4-BE49-F238E27FC236}">
                  <a16:creationId xmlns:a16="http://schemas.microsoft.com/office/drawing/2014/main" id="{D32E47BD-AB97-1CCE-D855-9E8E534EE28C}"/>
                </a:ext>
              </a:extLst>
            </p:cNvPr>
            <p:cNvSpPr/>
            <p:nvPr/>
          </p:nvSpPr>
          <p:spPr>
            <a:xfrm>
              <a:off x="3009648" y="275674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円/楕円 91">
              <a:extLst>
                <a:ext uri="{FF2B5EF4-FFF2-40B4-BE49-F238E27FC236}">
                  <a16:creationId xmlns:a16="http://schemas.microsoft.com/office/drawing/2014/main" id="{DDEF797E-E1BB-CB2A-8866-F571E5E6B1B8}"/>
                </a:ext>
              </a:extLst>
            </p:cNvPr>
            <p:cNvSpPr/>
            <p:nvPr/>
          </p:nvSpPr>
          <p:spPr>
            <a:xfrm>
              <a:off x="3633735" y="324428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円/楕円 92">
              <a:extLst>
                <a:ext uri="{FF2B5EF4-FFF2-40B4-BE49-F238E27FC236}">
                  <a16:creationId xmlns:a16="http://schemas.microsoft.com/office/drawing/2014/main" id="{888DD2FE-8C2C-F290-C6DD-B2BAC5D07648}"/>
                </a:ext>
              </a:extLst>
            </p:cNvPr>
            <p:cNvSpPr/>
            <p:nvPr/>
          </p:nvSpPr>
          <p:spPr>
            <a:xfrm>
              <a:off x="4137993" y="238137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4" name="テキスト ボックス 93">
            <a:extLst>
              <a:ext uri="{FF2B5EF4-FFF2-40B4-BE49-F238E27FC236}">
                <a16:creationId xmlns:a16="http://schemas.microsoft.com/office/drawing/2014/main" id="{54527122-9CD5-21BF-E43B-924EA3694006}"/>
              </a:ext>
            </a:extLst>
          </p:cNvPr>
          <p:cNvSpPr txBox="1"/>
          <p:nvPr/>
        </p:nvSpPr>
        <p:spPr>
          <a:xfrm>
            <a:off x="3849142" y="6068945"/>
            <a:ext cx="4493538" cy="523220"/>
          </a:xfrm>
          <a:prstGeom prst="rect">
            <a:avLst/>
          </a:prstGeom>
          <a:noFill/>
        </p:spPr>
        <p:txBody>
          <a:bodyPr wrap="none" rtlCol="0">
            <a:spAutoFit/>
          </a:bodyPr>
          <a:lstStyle/>
          <a:p>
            <a:pPr algn="ctr"/>
            <a:r>
              <a:rPr kumimoji="1" lang="en-US" altLang="ja-JP" sz="2800" b="1" dirty="0">
                <a:solidFill>
                  <a:schemeClr val="accent1">
                    <a:lumMod val="50000"/>
                  </a:schemeClr>
                </a:solidFill>
              </a:rPr>
              <a:t>②</a:t>
            </a:r>
            <a:r>
              <a:rPr kumimoji="1" lang="ja-JP" altLang="en-US" sz="2800" b="1">
                <a:solidFill>
                  <a:schemeClr val="accent1">
                    <a:lumMod val="50000"/>
                  </a:schemeClr>
                </a:solidFill>
              </a:rPr>
              <a:t>の線をどうやって引く？</a:t>
            </a:r>
          </a:p>
        </p:txBody>
      </p:sp>
      <p:sp>
        <p:nvSpPr>
          <p:cNvPr id="95" name="テキスト ボックス 94">
            <a:extLst>
              <a:ext uri="{FF2B5EF4-FFF2-40B4-BE49-F238E27FC236}">
                <a16:creationId xmlns:a16="http://schemas.microsoft.com/office/drawing/2014/main" id="{695D106F-D864-3EB7-454E-C3F63CBB4277}"/>
              </a:ext>
            </a:extLst>
          </p:cNvPr>
          <p:cNvSpPr txBox="1"/>
          <p:nvPr/>
        </p:nvSpPr>
        <p:spPr>
          <a:xfrm>
            <a:off x="7810694" y="1539778"/>
            <a:ext cx="3005951" cy="400110"/>
          </a:xfrm>
          <a:prstGeom prst="rect">
            <a:avLst/>
          </a:prstGeom>
          <a:noFill/>
        </p:spPr>
        <p:txBody>
          <a:bodyPr wrap="none" rtlCol="0">
            <a:spAutoFit/>
          </a:bodyPr>
          <a:lstStyle/>
          <a:p>
            <a:r>
              <a:rPr kumimoji="1" lang="ja-JP" altLang="en-US" sz="2000" b="1">
                <a:solidFill>
                  <a:schemeClr val="accent1">
                    <a:lumMod val="50000"/>
                  </a:schemeClr>
                </a:solidFill>
              </a:rPr>
              <a:t>その特徴を表す線を引く</a:t>
            </a:r>
          </a:p>
        </p:txBody>
      </p:sp>
      <p:sp>
        <p:nvSpPr>
          <p:cNvPr id="54" name="正方形/長方形 53">
            <a:extLst>
              <a:ext uri="{FF2B5EF4-FFF2-40B4-BE49-F238E27FC236}">
                <a16:creationId xmlns:a16="http://schemas.microsoft.com/office/drawing/2014/main" id="{982B82CD-8C00-E103-6AF5-51BF606DDF80}"/>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69D43AD3-252B-A2EE-3305-9F179DAE924F}"/>
              </a:ext>
            </a:extLst>
          </p:cNvPr>
          <p:cNvSpPr txBox="1"/>
          <p:nvPr/>
        </p:nvSpPr>
        <p:spPr>
          <a:xfrm>
            <a:off x="385370" y="120924"/>
            <a:ext cx="1723549" cy="461665"/>
          </a:xfrm>
          <a:prstGeom prst="rect">
            <a:avLst/>
          </a:prstGeom>
          <a:noFill/>
        </p:spPr>
        <p:txBody>
          <a:bodyPr wrap="none" rtlCol="0">
            <a:spAutoFit/>
          </a:bodyPr>
          <a:lstStyle/>
          <a:p>
            <a:r>
              <a:rPr lang="ja-JP" altLang="en-US" sz="2400" b="1">
                <a:solidFill>
                  <a:schemeClr val="bg1"/>
                </a:solidFill>
              </a:rPr>
              <a:t>主成分分析</a:t>
            </a:r>
          </a:p>
        </p:txBody>
      </p:sp>
      <p:sp>
        <p:nvSpPr>
          <p:cNvPr id="57" name="テキスト ボックス 56">
            <a:extLst>
              <a:ext uri="{FF2B5EF4-FFF2-40B4-BE49-F238E27FC236}">
                <a16:creationId xmlns:a16="http://schemas.microsoft.com/office/drawing/2014/main" id="{4FEB621B-2F2E-FBD0-8491-AAEA8220AAB1}"/>
              </a:ext>
            </a:extLst>
          </p:cNvPr>
          <p:cNvSpPr txBox="1"/>
          <p:nvPr/>
        </p:nvSpPr>
        <p:spPr>
          <a:xfrm>
            <a:off x="1668066" y="1540402"/>
            <a:ext cx="2749471" cy="400110"/>
          </a:xfrm>
          <a:prstGeom prst="rect">
            <a:avLst/>
          </a:prstGeom>
          <a:noFill/>
        </p:spPr>
        <p:txBody>
          <a:bodyPr wrap="none" rtlCol="0">
            <a:spAutoFit/>
          </a:bodyPr>
          <a:lstStyle/>
          <a:p>
            <a:r>
              <a:rPr kumimoji="1" lang="ja-JP" altLang="en-US" sz="2000" b="1">
                <a:solidFill>
                  <a:schemeClr val="accent1">
                    <a:lumMod val="50000"/>
                  </a:schemeClr>
                </a:solidFill>
              </a:rPr>
              <a:t>これらの情報に対して</a:t>
            </a:r>
          </a:p>
        </p:txBody>
      </p:sp>
    </p:spTree>
    <p:extLst>
      <p:ext uri="{BB962C8B-B14F-4D97-AF65-F5344CB8AC3E}">
        <p14:creationId xmlns:p14="http://schemas.microsoft.com/office/powerpoint/2010/main" val="457565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グループ化 13">
            <a:extLst>
              <a:ext uri="{FF2B5EF4-FFF2-40B4-BE49-F238E27FC236}">
                <a16:creationId xmlns:a16="http://schemas.microsoft.com/office/drawing/2014/main" id="{10A076A3-5F05-8F7D-EB8F-0043067B0653}"/>
              </a:ext>
            </a:extLst>
          </p:cNvPr>
          <p:cNvGrpSpPr/>
          <p:nvPr/>
        </p:nvGrpSpPr>
        <p:grpSpPr>
          <a:xfrm>
            <a:off x="1039401" y="-3833692"/>
            <a:ext cx="3600000" cy="3600000"/>
            <a:chOff x="1039401" y="-3833692"/>
            <a:chExt cx="3600000" cy="3600000"/>
          </a:xfrm>
        </p:grpSpPr>
        <p:cxnSp>
          <p:nvCxnSpPr>
            <p:cNvPr id="11" name="直線矢印コネクタ 10">
              <a:extLst>
                <a:ext uri="{FF2B5EF4-FFF2-40B4-BE49-F238E27FC236}">
                  <a16:creationId xmlns:a16="http://schemas.microsoft.com/office/drawing/2014/main" id="{037ED7D2-83E8-E0AE-2C4A-8B20F91AF81F}"/>
                </a:ext>
              </a:extLst>
            </p:cNvPr>
            <p:cNvCxnSpPr>
              <a:cxnSpLocks/>
            </p:cNvCxnSpPr>
            <p:nvPr/>
          </p:nvCxnSpPr>
          <p:spPr>
            <a:xfrm flipV="1">
              <a:off x="1399401" y="-3833692"/>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0D32960-1661-15FC-E06C-90FEB07EB4B4}"/>
                </a:ext>
              </a:extLst>
            </p:cNvPr>
            <p:cNvCxnSpPr>
              <a:cxnSpLocks/>
            </p:cNvCxnSpPr>
            <p:nvPr/>
          </p:nvCxnSpPr>
          <p:spPr>
            <a:xfrm>
              <a:off x="1039401" y="-595653"/>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C9E11B82-4E4A-BA44-D9D0-85C1E532451C}"/>
                </a:ext>
              </a:extLst>
            </p:cNvPr>
            <p:cNvSpPr/>
            <p:nvPr/>
          </p:nvSpPr>
          <p:spPr>
            <a:xfrm>
              <a:off x="1039401" y="-593692"/>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 name="図 2" descr="グラフ, 折れ線グラフ&#10;&#10;自動的に生成された説明">
            <a:extLst>
              <a:ext uri="{FF2B5EF4-FFF2-40B4-BE49-F238E27FC236}">
                <a16:creationId xmlns:a16="http://schemas.microsoft.com/office/drawing/2014/main" id="{53A90328-5D8A-E85E-98EC-2711EE0E582F}"/>
              </a:ext>
            </a:extLst>
          </p:cNvPr>
          <p:cNvPicPr>
            <a:picLocks noChangeAspect="1"/>
          </p:cNvPicPr>
          <p:nvPr/>
        </p:nvPicPr>
        <p:blipFill>
          <a:blip r:embed="rId2"/>
          <a:stretch>
            <a:fillRect/>
          </a:stretch>
        </p:blipFill>
        <p:spPr>
          <a:xfrm>
            <a:off x="2507100" y="1958277"/>
            <a:ext cx="7177800" cy="4037513"/>
          </a:xfrm>
          <a:prstGeom prst="rect">
            <a:avLst/>
          </a:prstGeom>
        </p:spPr>
      </p:pic>
      <p:sp>
        <p:nvSpPr>
          <p:cNvPr id="5" name="テキスト ボックス 4">
            <a:extLst>
              <a:ext uri="{FF2B5EF4-FFF2-40B4-BE49-F238E27FC236}">
                <a16:creationId xmlns:a16="http://schemas.microsoft.com/office/drawing/2014/main" id="{F4700A2A-4ED1-9DA2-902C-138D15B230DA}"/>
              </a:ext>
            </a:extLst>
          </p:cNvPr>
          <p:cNvSpPr txBox="1"/>
          <p:nvPr/>
        </p:nvSpPr>
        <p:spPr>
          <a:xfrm>
            <a:off x="1515259" y="862210"/>
            <a:ext cx="9161482" cy="954107"/>
          </a:xfrm>
          <a:prstGeom prst="rect">
            <a:avLst/>
          </a:prstGeom>
          <a:noFill/>
        </p:spPr>
        <p:txBody>
          <a:bodyPr wrap="none" rtlCol="0">
            <a:spAutoFit/>
          </a:bodyPr>
          <a:lstStyle/>
          <a:p>
            <a:pPr algn="ctr"/>
            <a:r>
              <a:rPr kumimoji="1" lang="ja-JP" altLang="en-US" sz="2800" b="1">
                <a:solidFill>
                  <a:schemeClr val="accent1">
                    <a:lumMod val="50000"/>
                  </a:schemeClr>
                </a:solidFill>
              </a:rPr>
              <a:t>最もばらつきが大きい方向＝失われる情報が最も少ない</a:t>
            </a:r>
            <a:endParaRPr kumimoji="1" lang="en-US" altLang="ja-JP" sz="2800" b="1" dirty="0">
              <a:solidFill>
                <a:schemeClr val="accent1">
                  <a:lumMod val="50000"/>
                </a:schemeClr>
              </a:solidFill>
            </a:endParaRPr>
          </a:p>
          <a:p>
            <a:pPr algn="ctr"/>
            <a:r>
              <a:rPr lang="ja-JP" altLang="en-US" sz="2800" b="1">
                <a:solidFill>
                  <a:schemeClr val="accent1">
                    <a:lumMod val="50000"/>
                  </a:schemeClr>
                </a:solidFill>
              </a:rPr>
              <a:t>これを満たすように線を引く</a:t>
            </a:r>
            <a:endParaRPr kumimoji="1" lang="en-US" altLang="ja-JP" sz="2800" b="1" dirty="0">
              <a:solidFill>
                <a:schemeClr val="accent1">
                  <a:lumMod val="50000"/>
                </a:schemeClr>
              </a:solidFill>
            </a:endParaRPr>
          </a:p>
        </p:txBody>
      </p:sp>
      <p:sp>
        <p:nvSpPr>
          <p:cNvPr id="54" name="テキスト ボックス 53">
            <a:extLst>
              <a:ext uri="{FF2B5EF4-FFF2-40B4-BE49-F238E27FC236}">
                <a16:creationId xmlns:a16="http://schemas.microsoft.com/office/drawing/2014/main" id="{EC13A379-915A-E52A-5AFA-D589B0D148EC}"/>
              </a:ext>
            </a:extLst>
          </p:cNvPr>
          <p:cNvSpPr txBox="1"/>
          <p:nvPr/>
        </p:nvSpPr>
        <p:spPr>
          <a:xfrm>
            <a:off x="3849231" y="6178714"/>
            <a:ext cx="4493538" cy="523220"/>
          </a:xfrm>
          <a:prstGeom prst="rect">
            <a:avLst/>
          </a:prstGeom>
          <a:noFill/>
        </p:spPr>
        <p:txBody>
          <a:bodyPr wrap="none" rtlCol="0">
            <a:spAutoFit/>
          </a:bodyPr>
          <a:lstStyle/>
          <a:p>
            <a:pPr algn="ctr"/>
            <a:r>
              <a:rPr kumimoji="1" lang="ja-JP" altLang="en-US" sz="2800" b="1">
                <a:solidFill>
                  <a:schemeClr val="accent1">
                    <a:lumMod val="50000"/>
                  </a:schemeClr>
                </a:solidFill>
              </a:rPr>
              <a:t>この線を第一主成分と言う</a:t>
            </a:r>
            <a:endParaRPr kumimoji="1" lang="en-US" altLang="ja-JP" sz="2800" b="1" dirty="0">
              <a:solidFill>
                <a:schemeClr val="accent1">
                  <a:lumMod val="50000"/>
                </a:schemeClr>
              </a:solidFill>
            </a:endParaRPr>
          </a:p>
        </p:txBody>
      </p:sp>
      <p:cxnSp>
        <p:nvCxnSpPr>
          <p:cNvPr id="7" name="直線コネクタ 6">
            <a:extLst>
              <a:ext uri="{FF2B5EF4-FFF2-40B4-BE49-F238E27FC236}">
                <a16:creationId xmlns:a16="http://schemas.microsoft.com/office/drawing/2014/main" id="{D51D07D9-7B4D-74F1-4E1B-146863793E11}"/>
              </a:ext>
            </a:extLst>
          </p:cNvPr>
          <p:cNvCxnSpPr/>
          <p:nvPr/>
        </p:nvCxnSpPr>
        <p:spPr>
          <a:xfrm>
            <a:off x="3490158" y="6701934"/>
            <a:ext cx="521168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4BB51165-DD4E-086C-B71C-040EACFD0A50}"/>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17478287-971B-5298-404D-1A2EE8A9399D}"/>
              </a:ext>
            </a:extLst>
          </p:cNvPr>
          <p:cNvSpPr txBox="1"/>
          <p:nvPr/>
        </p:nvSpPr>
        <p:spPr>
          <a:xfrm>
            <a:off x="385370" y="120924"/>
            <a:ext cx="1723549" cy="461665"/>
          </a:xfrm>
          <a:prstGeom prst="rect">
            <a:avLst/>
          </a:prstGeom>
          <a:noFill/>
        </p:spPr>
        <p:txBody>
          <a:bodyPr wrap="none" rtlCol="0">
            <a:spAutoFit/>
          </a:bodyPr>
          <a:lstStyle/>
          <a:p>
            <a:r>
              <a:rPr lang="ja-JP" altLang="en-US" sz="2400" b="1">
                <a:solidFill>
                  <a:schemeClr val="bg1"/>
                </a:solidFill>
              </a:rPr>
              <a:t>主成分分析</a:t>
            </a:r>
          </a:p>
        </p:txBody>
      </p:sp>
    </p:spTree>
    <p:extLst>
      <p:ext uri="{BB962C8B-B14F-4D97-AF65-F5344CB8AC3E}">
        <p14:creationId xmlns:p14="http://schemas.microsoft.com/office/powerpoint/2010/main" val="1959250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グループ化 13">
            <a:extLst>
              <a:ext uri="{FF2B5EF4-FFF2-40B4-BE49-F238E27FC236}">
                <a16:creationId xmlns:a16="http://schemas.microsoft.com/office/drawing/2014/main" id="{10A076A3-5F05-8F7D-EB8F-0043067B0653}"/>
              </a:ext>
            </a:extLst>
          </p:cNvPr>
          <p:cNvGrpSpPr/>
          <p:nvPr/>
        </p:nvGrpSpPr>
        <p:grpSpPr>
          <a:xfrm>
            <a:off x="1039401" y="-3833692"/>
            <a:ext cx="3600000" cy="3600000"/>
            <a:chOff x="1039401" y="-3833692"/>
            <a:chExt cx="3600000" cy="3600000"/>
          </a:xfrm>
        </p:grpSpPr>
        <p:cxnSp>
          <p:nvCxnSpPr>
            <p:cNvPr id="11" name="直線矢印コネクタ 10">
              <a:extLst>
                <a:ext uri="{FF2B5EF4-FFF2-40B4-BE49-F238E27FC236}">
                  <a16:creationId xmlns:a16="http://schemas.microsoft.com/office/drawing/2014/main" id="{037ED7D2-83E8-E0AE-2C4A-8B20F91AF81F}"/>
                </a:ext>
              </a:extLst>
            </p:cNvPr>
            <p:cNvCxnSpPr>
              <a:cxnSpLocks/>
            </p:cNvCxnSpPr>
            <p:nvPr/>
          </p:nvCxnSpPr>
          <p:spPr>
            <a:xfrm flipV="1">
              <a:off x="1399401" y="-3833692"/>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0D32960-1661-15FC-E06C-90FEB07EB4B4}"/>
                </a:ext>
              </a:extLst>
            </p:cNvPr>
            <p:cNvCxnSpPr>
              <a:cxnSpLocks/>
            </p:cNvCxnSpPr>
            <p:nvPr/>
          </p:nvCxnSpPr>
          <p:spPr>
            <a:xfrm>
              <a:off x="1039401" y="-595653"/>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C9E11B82-4E4A-BA44-D9D0-85C1E532451C}"/>
                </a:ext>
              </a:extLst>
            </p:cNvPr>
            <p:cNvSpPr/>
            <p:nvPr/>
          </p:nvSpPr>
          <p:spPr>
            <a:xfrm>
              <a:off x="1039401" y="-593692"/>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 name="テキスト ボックス 4">
            <a:extLst>
              <a:ext uri="{FF2B5EF4-FFF2-40B4-BE49-F238E27FC236}">
                <a16:creationId xmlns:a16="http://schemas.microsoft.com/office/drawing/2014/main" id="{F4700A2A-4ED1-9DA2-902C-138D15B230DA}"/>
              </a:ext>
            </a:extLst>
          </p:cNvPr>
          <p:cNvSpPr txBox="1"/>
          <p:nvPr/>
        </p:nvSpPr>
        <p:spPr>
          <a:xfrm>
            <a:off x="1951275" y="896709"/>
            <a:ext cx="8289449" cy="954107"/>
          </a:xfrm>
          <a:prstGeom prst="rect">
            <a:avLst/>
          </a:prstGeom>
          <a:noFill/>
        </p:spPr>
        <p:txBody>
          <a:bodyPr wrap="none" rtlCol="0">
            <a:spAutoFit/>
          </a:bodyPr>
          <a:lstStyle/>
          <a:p>
            <a:pPr algn="ctr"/>
            <a:r>
              <a:rPr kumimoji="1" lang="ja-JP" altLang="en-US" sz="2800" b="1">
                <a:solidFill>
                  <a:schemeClr val="accent1">
                    <a:lumMod val="50000"/>
                  </a:schemeClr>
                </a:solidFill>
              </a:rPr>
              <a:t>第一主成分に垂直な線</a:t>
            </a:r>
            <a:r>
              <a:rPr kumimoji="1" lang="en-US" altLang="ja-JP" sz="2800" b="1" dirty="0">
                <a:solidFill>
                  <a:schemeClr val="accent1">
                    <a:lumMod val="50000"/>
                  </a:schemeClr>
                </a:solidFill>
              </a:rPr>
              <a:t> </a:t>
            </a:r>
            <a:r>
              <a:rPr kumimoji="1" lang="ja-JP" altLang="en-US" sz="2800" b="1">
                <a:solidFill>
                  <a:schemeClr val="accent1">
                    <a:lumMod val="50000"/>
                  </a:schemeClr>
                </a:solidFill>
              </a:rPr>
              <a:t>かつ</a:t>
            </a:r>
            <a:r>
              <a:rPr kumimoji="1" lang="en-US" altLang="ja-JP" sz="2800" b="1" dirty="0">
                <a:solidFill>
                  <a:schemeClr val="accent1">
                    <a:lumMod val="50000"/>
                  </a:schemeClr>
                </a:solidFill>
              </a:rPr>
              <a:t> </a:t>
            </a:r>
            <a:r>
              <a:rPr kumimoji="1" lang="ja-JP" altLang="en-US" sz="2800" b="1">
                <a:solidFill>
                  <a:schemeClr val="accent1">
                    <a:lumMod val="50000"/>
                  </a:schemeClr>
                </a:solidFill>
              </a:rPr>
              <a:t>ばらつきが大きくなる</a:t>
            </a:r>
            <a:endParaRPr kumimoji="1" lang="en-US" altLang="ja-JP" sz="2800" b="1" dirty="0">
              <a:solidFill>
                <a:schemeClr val="accent1">
                  <a:lumMod val="50000"/>
                </a:schemeClr>
              </a:solidFill>
            </a:endParaRPr>
          </a:p>
          <a:p>
            <a:pPr algn="ctr"/>
            <a:r>
              <a:rPr lang="ja-JP" altLang="en-US" sz="2800" b="1">
                <a:solidFill>
                  <a:schemeClr val="accent1">
                    <a:lumMod val="50000"/>
                  </a:schemeClr>
                </a:solidFill>
              </a:rPr>
              <a:t>これを満たす線を引く</a:t>
            </a:r>
            <a:endParaRPr kumimoji="1" lang="en-US" altLang="ja-JP" sz="2800" b="1" dirty="0">
              <a:solidFill>
                <a:schemeClr val="accent1">
                  <a:lumMod val="50000"/>
                </a:schemeClr>
              </a:solidFill>
            </a:endParaRPr>
          </a:p>
        </p:txBody>
      </p:sp>
      <p:sp>
        <p:nvSpPr>
          <p:cNvPr id="54" name="テキスト ボックス 53">
            <a:extLst>
              <a:ext uri="{FF2B5EF4-FFF2-40B4-BE49-F238E27FC236}">
                <a16:creationId xmlns:a16="http://schemas.microsoft.com/office/drawing/2014/main" id="{EC13A379-915A-E52A-5AFA-D589B0D148EC}"/>
              </a:ext>
            </a:extLst>
          </p:cNvPr>
          <p:cNvSpPr txBox="1"/>
          <p:nvPr/>
        </p:nvSpPr>
        <p:spPr>
          <a:xfrm>
            <a:off x="3849231" y="6178714"/>
            <a:ext cx="4493538" cy="523220"/>
          </a:xfrm>
          <a:prstGeom prst="rect">
            <a:avLst/>
          </a:prstGeom>
          <a:noFill/>
        </p:spPr>
        <p:txBody>
          <a:bodyPr wrap="none" rtlCol="0">
            <a:spAutoFit/>
          </a:bodyPr>
          <a:lstStyle/>
          <a:p>
            <a:pPr algn="ctr"/>
            <a:r>
              <a:rPr kumimoji="1" lang="ja-JP" altLang="en-US" sz="2800" b="1">
                <a:solidFill>
                  <a:schemeClr val="accent1">
                    <a:lumMod val="50000"/>
                  </a:schemeClr>
                </a:solidFill>
              </a:rPr>
              <a:t>この線を第二主成分と言う</a:t>
            </a:r>
            <a:endParaRPr kumimoji="1" lang="en-US" altLang="ja-JP" sz="2800" b="1" dirty="0">
              <a:solidFill>
                <a:schemeClr val="accent1">
                  <a:lumMod val="50000"/>
                </a:schemeClr>
              </a:solidFill>
            </a:endParaRPr>
          </a:p>
        </p:txBody>
      </p:sp>
      <p:cxnSp>
        <p:nvCxnSpPr>
          <p:cNvPr id="7" name="直線コネクタ 6">
            <a:extLst>
              <a:ext uri="{FF2B5EF4-FFF2-40B4-BE49-F238E27FC236}">
                <a16:creationId xmlns:a16="http://schemas.microsoft.com/office/drawing/2014/main" id="{D51D07D9-7B4D-74F1-4E1B-146863793E11}"/>
              </a:ext>
            </a:extLst>
          </p:cNvPr>
          <p:cNvCxnSpPr/>
          <p:nvPr/>
        </p:nvCxnSpPr>
        <p:spPr>
          <a:xfrm>
            <a:off x="3490158" y="6701934"/>
            <a:ext cx="521168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図 3" descr="グラフ, 折れ線グラフ&#10;&#10;自動的に生成された説明">
            <a:extLst>
              <a:ext uri="{FF2B5EF4-FFF2-40B4-BE49-F238E27FC236}">
                <a16:creationId xmlns:a16="http://schemas.microsoft.com/office/drawing/2014/main" id="{5FBB305A-1153-0757-0490-A0AE09C5780F}"/>
              </a:ext>
            </a:extLst>
          </p:cNvPr>
          <p:cNvPicPr>
            <a:picLocks noChangeAspect="1"/>
          </p:cNvPicPr>
          <p:nvPr/>
        </p:nvPicPr>
        <p:blipFill>
          <a:blip r:embed="rId2"/>
          <a:stretch>
            <a:fillRect/>
          </a:stretch>
        </p:blipFill>
        <p:spPr>
          <a:xfrm>
            <a:off x="2248979" y="1847897"/>
            <a:ext cx="7699216" cy="4330809"/>
          </a:xfrm>
          <a:prstGeom prst="rect">
            <a:avLst/>
          </a:prstGeom>
        </p:spPr>
      </p:pic>
      <p:sp>
        <p:nvSpPr>
          <p:cNvPr id="10" name="正方形/長方形 9">
            <a:extLst>
              <a:ext uri="{FF2B5EF4-FFF2-40B4-BE49-F238E27FC236}">
                <a16:creationId xmlns:a16="http://schemas.microsoft.com/office/drawing/2014/main" id="{2129A95D-DDE4-5C87-EEAC-DC12ABDA8E9E}"/>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53558165-F4DF-3AE0-4CDA-DF40F80DFCD6}"/>
              </a:ext>
            </a:extLst>
          </p:cNvPr>
          <p:cNvSpPr txBox="1"/>
          <p:nvPr/>
        </p:nvSpPr>
        <p:spPr>
          <a:xfrm>
            <a:off x="385370" y="120924"/>
            <a:ext cx="1723549" cy="461665"/>
          </a:xfrm>
          <a:prstGeom prst="rect">
            <a:avLst/>
          </a:prstGeom>
          <a:noFill/>
        </p:spPr>
        <p:txBody>
          <a:bodyPr wrap="none" rtlCol="0">
            <a:spAutoFit/>
          </a:bodyPr>
          <a:lstStyle/>
          <a:p>
            <a:r>
              <a:rPr lang="ja-JP" altLang="en-US" sz="2400" b="1">
                <a:solidFill>
                  <a:schemeClr val="bg1"/>
                </a:solidFill>
              </a:rPr>
              <a:t>主成分分析</a:t>
            </a:r>
          </a:p>
        </p:txBody>
      </p:sp>
    </p:spTree>
    <p:extLst>
      <p:ext uri="{BB962C8B-B14F-4D97-AF65-F5344CB8AC3E}">
        <p14:creationId xmlns:p14="http://schemas.microsoft.com/office/powerpoint/2010/main" val="2919692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グループ化 13">
            <a:extLst>
              <a:ext uri="{FF2B5EF4-FFF2-40B4-BE49-F238E27FC236}">
                <a16:creationId xmlns:a16="http://schemas.microsoft.com/office/drawing/2014/main" id="{10A076A3-5F05-8F7D-EB8F-0043067B0653}"/>
              </a:ext>
            </a:extLst>
          </p:cNvPr>
          <p:cNvGrpSpPr/>
          <p:nvPr/>
        </p:nvGrpSpPr>
        <p:grpSpPr>
          <a:xfrm>
            <a:off x="1039401" y="-3833692"/>
            <a:ext cx="3600000" cy="3600000"/>
            <a:chOff x="1039401" y="-3833692"/>
            <a:chExt cx="3600000" cy="3600000"/>
          </a:xfrm>
        </p:grpSpPr>
        <p:cxnSp>
          <p:nvCxnSpPr>
            <p:cNvPr id="11" name="直線矢印コネクタ 10">
              <a:extLst>
                <a:ext uri="{FF2B5EF4-FFF2-40B4-BE49-F238E27FC236}">
                  <a16:creationId xmlns:a16="http://schemas.microsoft.com/office/drawing/2014/main" id="{037ED7D2-83E8-E0AE-2C4A-8B20F91AF81F}"/>
                </a:ext>
              </a:extLst>
            </p:cNvPr>
            <p:cNvCxnSpPr>
              <a:cxnSpLocks/>
            </p:cNvCxnSpPr>
            <p:nvPr/>
          </p:nvCxnSpPr>
          <p:spPr>
            <a:xfrm flipV="1">
              <a:off x="1399401" y="-3833692"/>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0D32960-1661-15FC-E06C-90FEB07EB4B4}"/>
                </a:ext>
              </a:extLst>
            </p:cNvPr>
            <p:cNvCxnSpPr>
              <a:cxnSpLocks/>
            </p:cNvCxnSpPr>
            <p:nvPr/>
          </p:nvCxnSpPr>
          <p:spPr>
            <a:xfrm>
              <a:off x="1039401" y="-595653"/>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C9E11B82-4E4A-BA44-D9D0-85C1E532451C}"/>
                </a:ext>
              </a:extLst>
            </p:cNvPr>
            <p:cNvSpPr/>
            <p:nvPr/>
          </p:nvSpPr>
          <p:spPr>
            <a:xfrm>
              <a:off x="1039401" y="-593692"/>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 name="テキスト ボックス 4">
            <a:extLst>
              <a:ext uri="{FF2B5EF4-FFF2-40B4-BE49-F238E27FC236}">
                <a16:creationId xmlns:a16="http://schemas.microsoft.com/office/drawing/2014/main" id="{F4700A2A-4ED1-9DA2-902C-138D15B230DA}"/>
              </a:ext>
            </a:extLst>
          </p:cNvPr>
          <p:cNvSpPr txBox="1"/>
          <p:nvPr/>
        </p:nvSpPr>
        <p:spPr>
          <a:xfrm>
            <a:off x="2233404" y="885133"/>
            <a:ext cx="7725192" cy="954107"/>
          </a:xfrm>
          <a:prstGeom prst="rect">
            <a:avLst/>
          </a:prstGeom>
          <a:noFill/>
        </p:spPr>
        <p:txBody>
          <a:bodyPr wrap="none" rtlCol="0">
            <a:spAutoFit/>
          </a:bodyPr>
          <a:lstStyle/>
          <a:p>
            <a:pPr algn="ctr"/>
            <a:r>
              <a:rPr lang="ja-JP" altLang="en-US" sz="2800" b="1">
                <a:solidFill>
                  <a:schemeClr val="accent1">
                    <a:lumMod val="50000"/>
                  </a:schemeClr>
                </a:solidFill>
              </a:rPr>
              <a:t>もしこれが</a:t>
            </a:r>
            <a:r>
              <a:rPr lang="en-US" altLang="ja-JP" sz="2800" b="1" dirty="0">
                <a:solidFill>
                  <a:schemeClr val="accent1">
                    <a:lumMod val="50000"/>
                  </a:schemeClr>
                </a:solidFill>
              </a:rPr>
              <a:t>3</a:t>
            </a:r>
            <a:r>
              <a:rPr kumimoji="1" lang="ja-JP" altLang="en-US" sz="2800" b="1">
                <a:solidFill>
                  <a:schemeClr val="accent1">
                    <a:lumMod val="50000"/>
                  </a:schemeClr>
                </a:solidFill>
              </a:rPr>
              <a:t>次元だったら</a:t>
            </a:r>
            <a:endParaRPr kumimoji="1" lang="en-US" altLang="ja-JP" sz="2800" b="1" dirty="0">
              <a:solidFill>
                <a:schemeClr val="accent1">
                  <a:lumMod val="50000"/>
                </a:schemeClr>
              </a:solidFill>
            </a:endParaRPr>
          </a:p>
          <a:p>
            <a:pPr algn="ctr"/>
            <a:r>
              <a:rPr kumimoji="1" lang="ja-JP" altLang="en-US" sz="2800" b="1">
                <a:solidFill>
                  <a:schemeClr val="accent1">
                    <a:lumMod val="50000"/>
                  </a:schemeClr>
                </a:solidFill>
              </a:rPr>
              <a:t>奥行きの線がもう一本できると思いませんか？</a:t>
            </a:r>
            <a:endParaRPr kumimoji="1" lang="en-US" altLang="ja-JP" sz="2800" b="1" dirty="0">
              <a:solidFill>
                <a:schemeClr val="accent1">
                  <a:lumMod val="50000"/>
                </a:schemeClr>
              </a:solidFill>
            </a:endParaRPr>
          </a:p>
        </p:txBody>
      </p:sp>
      <p:sp>
        <p:nvSpPr>
          <p:cNvPr id="54" name="テキスト ボックス 53">
            <a:extLst>
              <a:ext uri="{FF2B5EF4-FFF2-40B4-BE49-F238E27FC236}">
                <a16:creationId xmlns:a16="http://schemas.microsoft.com/office/drawing/2014/main" id="{EC13A379-915A-E52A-5AFA-D589B0D148EC}"/>
              </a:ext>
            </a:extLst>
          </p:cNvPr>
          <p:cNvSpPr txBox="1"/>
          <p:nvPr/>
        </p:nvSpPr>
        <p:spPr>
          <a:xfrm>
            <a:off x="3131094" y="6178714"/>
            <a:ext cx="5929829" cy="523220"/>
          </a:xfrm>
          <a:prstGeom prst="rect">
            <a:avLst/>
          </a:prstGeom>
          <a:noFill/>
        </p:spPr>
        <p:txBody>
          <a:bodyPr wrap="none" rtlCol="0">
            <a:spAutoFit/>
          </a:bodyPr>
          <a:lstStyle/>
          <a:p>
            <a:pPr algn="ctr"/>
            <a:r>
              <a:rPr kumimoji="1" lang="ja-JP" altLang="en-US" sz="2800" b="1">
                <a:solidFill>
                  <a:schemeClr val="accent1">
                    <a:lumMod val="50000"/>
                  </a:schemeClr>
                </a:solidFill>
              </a:rPr>
              <a:t>そう，主成分は次元の数だけできる</a:t>
            </a:r>
            <a:endParaRPr kumimoji="1" lang="en-US" altLang="ja-JP" sz="2800" b="1" dirty="0">
              <a:solidFill>
                <a:schemeClr val="accent1">
                  <a:lumMod val="50000"/>
                </a:schemeClr>
              </a:solidFill>
            </a:endParaRPr>
          </a:p>
        </p:txBody>
      </p:sp>
      <p:pic>
        <p:nvPicPr>
          <p:cNvPr id="4" name="図 3" descr="グラフ, 折れ線グラフ&#10;&#10;自動的に生成された説明">
            <a:extLst>
              <a:ext uri="{FF2B5EF4-FFF2-40B4-BE49-F238E27FC236}">
                <a16:creationId xmlns:a16="http://schemas.microsoft.com/office/drawing/2014/main" id="{5FBB305A-1153-0757-0490-A0AE09C5780F}"/>
              </a:ext>
            </a:extLst>
          </p:cNvPr>
          <p:cNvPicPr>
            <a:picLocks noChangeAspect="1"/>
          </p:cNvPicPr>
          <p:nvPr/>
        </p:nvPicPr>
        <p:blipFill>
          <a:blip r:embed="rId2"/>
          <a:stretch>
            <a:fillRect/>
          </a:stretch>
        </p:blipFill>
        <p:spPr>
          <a:xfrm>
            <a:off x="2233404" y="1839239"/>
            <a:ext cx="7725192" cy="4345421"/>
          </a:xfrm>
          <a:prstGeom prst="rect">
            <a:avLst/>
          </a:prstGeom>
        </p:spPr>
      </p:pic>
      <p:sp>
        <p:nvSpPr>
          <p:cNvPr id="9" name="正方形/長方形 8">
            <a:extLst>
              <a:ext uri="{FF2B5EF4-FFF2-40B4-BE49-F238E27FC236}">
                <a16:creationId xmlns:a16="http://schemas.microsoft.com/office/drawing/2014/main" id="{B38F27C8-C05C-4FF1-49AA-20F118D50CC4}"/>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1FD535DD-1E01-392C-875C-31911DE99444}"/>
              </a:ext>
            </a:extLst>
          </p:cNvPr>
          <p:cNvSpPr txBox="1"/>
          <p:nvPr/>
        </p:nvSpPr>
        <p:spPr>
          <a:xfrm>
            <a:off x="385370" y="120924"/>
            <a:ext cx="1723549" cy="461665"/>
          </a:xfrm>
          <a:prstGeom prst="rect">
            <a:avLst/>
          </a:prstGeom>
          <a:noFill/>
        </p:spPr>
        <p:txBody>
          <a:bodyPr wrap="none" rtlCol="0">
            <a:spAutoFit/>
          </a:bodyPr>
          <a:lstStyle/>
          <a:p>
            <a:r>
              <a:rPr lang="ja-JP" altLang="en-US" sz="2400" b="1">
                <a:solidFill>
                  <a:schemeClr val="bg1"/>
                </a:solidFill>
              </a:rPr>
              <a:t>主成分分析</a:t>
            </a:r>
          </a:p>
        </p:txBody>
      </p:sp>
    </p:spTree>
    <p:extLst>
      <p:ext uri="{BB962C8B-B14F-4D97-AF65-F5344CB8AC3E}">
        <p14:creationId xmlns:p14="http://schemas.microsoft.com/office/powerpoint/2010/main" val="3569418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グループ化 50">
            <a:extLst>
              <a:ext uri="{FF2B5EF4-FFF2-40B4-BE49-F238E27FC236}">
                <a16:creationId xmlns:a16="http://schemas.microsoft.com/office/drawing/2014/main" id="{FC04E49F-FC9A-7E7E-DD0F-D8DFCC4B9CBE}"/>
              </a:ext>
            </a:extLst>
          </p:cNvPr>
          <p:cNvGrpSpPr/>
          <p:nvPr/>
        </p:nvGrpSpPr>
        <p:grpSpPr>
          <a:xfrm>
            <a:off x="1039401" y="2057129"/>
            <a:ext cx="3600000" cy="3600000"/>
            <a:chOff x="1039401" y="2057129"/>
            <a:chExt cx="3600000" cy="3600000"/>
          </a:xfrm>
        </p:grpSpPr>
        <p:cxnSp>
          <p:nvCxnSpPr>
            <p:cNvPr id="52" name="直線矢印コネクタ 51">
              <a:extLst>
                <a:ext uri="{FF2B5EF4-FFF2-40B4-BE49-F238E27FC236}">
                  <a16:creationId xmlns:a16="http://schemas.microsoft.com/office/drawing/2014/main" id="{33415472-1B94-DC89-ED31-343738C6F4FD}"/>
                </a:ext>
              </a:extLst>
            </p:cNvPr>
            <p:cNvCxnSpPr>
              <a:cxnSpLocks/>
            </p:cNvCxnSpPr>
            <p:nvPr/>
          </p:nvCxnSpPr>
          <p:spPr>
            <a:xfrm flipV="1">
              <a:off x="1399401"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94DB1820-CD66-F5FC-1263-A04548BBD3EB}"/>
                </a:ext>
              </a:extLst>
            </p:cNvPr>
            <p:cNvCxnSpPr>
              <a:cxnSpLocks/>
            </p:cNvCxnSpPr>
            <p:nvPr/>
          </p:nvCxnSpPr>
          <p:spPr>
            <a:xfrm>
              <a:off x="1039401"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14" name="グループ化 13">
            <a:extLst>
              <a:ext uri="{FF2B5EF4-FFF2-40B4-BE49-F238E27FC236}">
                <a16:creationId xmlns:a16="http://schemas.microsoft.com/office/drawing/2014/main" id="{10A076A3-5F05-8F7D-EB8F-0043067B0653}"/>
              </a:ext>
            </a:extLst>
          </p:cNvPr>
          <p:cNvGrpSpPr/>
          <p:nvPr/>
        </p:nvGrpSpPr>
        <p:grpSpPr>
          <a:xfrm>
            <a:off x="1039401" y="-3833692"/>
            <a:ext cx="3600000" cy="3600000"/>
            <a:chOff x="1039401" y="-3833692"/>
            <a:chExt cx="3600000" cy="3600000"/>
          </a:xfrm>
        </p:grpSpPr>
        <p:cxnSp>
          <p:nvCxnSpPr>
            <p:cNvPr id="11" name="直線矢印コネクタ 10">
              <a:extLst>
                <a:ext uri="{FF2B5EF4-FFF2-40B4-BE49-F238E27FC236}">
                  <a16:creationId xmlns:a16="http://schemas.microsoft.com/office/drawing/2014/main" id="{037ED7D2-83E8-E0AE-2C4A-8B20F91AF81F}"/>
                </a:ext>
              </a:extLst>
            </p:cNvPr>
            <p:cNvCxnSpPr>
              <a:cxnSpLocks/>
            </p:cNvCxnSpPr>
            <p:nvPr/>
          </p:nvCxnSpPr>
          <p:spPr>
            <a:xfrm flipV="1">
              <a:off x="1399401" y="-3833692"/>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0D32960-1661-15FC-E06C-90FEB07EB4B4}"/>
                </a:ext>
              </a:extLst>
            </p:cNvPr>
            <p:cNvCxnSpPr>
              <a:cxnSpLocks/>
            </p:cNvCxnSpPr>
            <p:nvPr/>
          </p:nvCxnSpPr>
          <p:spPr>
            <a:xfrm>
              <a:off x="1039401" y="-595653"/>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C9E11B82-4E4A-BA44-D9D0-85C1E532451C}"/>
                </a:ext>
              </a:extLst>
            </p:cNvPr>
            <p:cNvSpPr/>
            <p:nvPr/>
          </p:nvSpPr>
          <p:spPr>
            <a:xfrm>
              <a:off x="1039401" y="-593692"/>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3" name="円/楕円 52">
            <a:extLst>
              <a:ext uri="{FF2B5EF4-FFF2-40B4-BE49-F238E27FC236}">
                <a16:creationId xmlns:a16="http://schemas.microsoft.com/office/drawing/2014/main" id="{B9FDDFD9-2875-39F3-F082-A2338ADDFD92}"/>
              </a:ext>
            </a:extLst>
          </p:cNvPr>
          <p:cNvSpPr/>
          <p:nvPr/>
        </p:nvSpPr>
        <p:spPr>
          <a:xfrm>
            <a:off x="712478" y="1411588"/>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chemeClr val="accent1">
                    <a:lumMod val="75000"/>
                  </a:schemeClr>
                </a:solidFill>
              </a:rPr>
              <a:t>１</a:t>
            </a:r>
          </a:p>
        </p:txBody>
      </p:sp>
      <p:sp>
        <p:nvSpPr>
          <p:cNvPr id="75" name="円/楕円 74">
            <a:extLst>
              <a:ext uri="{FF2B5EF4-FFF2-40B4-BE49-F238E27FC236}">
                <a16:creationId xmlns:a16="http://schemas.microsoft.com/office/drawing/2014/main" id="{8B74C565-9FEB-93B0-D0EF-4CEFB677CC7E}"/>
              </a:ext>
            </a:extLst>
          </p:cNvPr>
          <p:cNvSpPr/>
          <p:nvPr/>
        </p:nvSpPr>
        <p:spPr>
          <a:xfrm>
            <a:off x="6865676" y="1409195"/>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accent1">
                    <a:lumMod val="75000"/>
                  </a:schemeClr>
                </a:solidFill>
              </a:rPr>
              <a:t>２</a:t>
            </a:r>
            <a:endParaRPr kumimoji="1" lang="ja-JP" altLang="en-US" sz="2800" b="1">
              <a:solidFill>
                <a:schemeClr val="accent1">
                  <a:lumMod val="75000"/>
                </a:schemeClr>
              </a:solidFill>
            </a:endParaRPr>
          </a:p>
        </p:txBody>
      </p:sp>
      <p:grpSp>
        <p:nvGrpSpPr>
          <p:cNvPr id="76" name="グループ化 75">
            <a:extLst>
              <a:ext uri="{FF2B5EF4-FFF2-40B4-BE49-F238E27FC236}">
                <a16:creationId xmlns:a16="http://schemas.microsoft.com/office/drawing/2014/main" id="{5B76C13F-CA98-4B5B-2973-3C9D2F624076}"/>
              </a:ext>
            </a:extLst>
          </p:cNvPr>
          <p:cNvGrpSpPr/>
          <p:nvPr/>
        </p:nvGrpSpPr>
        <p:grpSpPr>
          <a:xfrm>
            <a:off x="7187802" y="2057129"/>
            <a:ext cx="3600000" cy="3600000"/>
            <a:chOff x="1039401" y="2057129"/>
            <a:chExt cx="3600000" cy="3600000"/>
          </a:xfrm>
        </p:grpSpPr>
        <p:cxnSp>
          <p:nvCxnSpPr>
            <p:cNvPr id="77" name="直線矢印コネクタ 76">
              <a:extLst>
                <a:ext uri="{FF2B5EF4-FFF2-40B4-BE49-F238E27FC236}">
                  <a16:creationId xmlns:a16="http://schemas.microsoft.com/office/drawing/2014/main" id="{F0A1820F-0E1B-9A14-04B8-BFB119E0A56F}"/>
                </a:ext>
              </a:extLst>
            </p:cNvPr>
            <p:cNvCxnSpPr>
              <a:cxnSpLocks/>
            </p:cNvCxnSpPr>
            <p:nvPr/>
          </p:nvCxnSpPr>
          <p:spPr>
            <a:xfrm flipV="1">
              <a:off x="1399401"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67C94A10-34BE-AF23-6A23-81C6C94A5F7A}"/>
                </a:ext>
              </a:extLst>
            </p:cNvPr>
            <p:cNvCxnSpPr>
              <a:cxnSpLocks/>
            </p:cNvCxnSpPr>
            <p:nvPr/>
          </p:nvCxnSpPr>
          <p:spPr>
            <a:xfrm>
              <a:off x="1039401"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54" name="グループ化 53">
            <a:extLst>
              <a:ext uri="{FF2B5EF4-FFF2-40B4-BE49-F238E27FC236}">
                <a16:creationId xmlns:a16="http://schemas.microsoft.com/office/drawing/2014/main" id="{0A7E5B4E-AC7C-0BDF-849E-7663648C2929}"/>
              </a:ext>
            </a:extLst>
          </p:cNvPr>
          <p:cNvGrpSpPr/>
          <p:nvPr/>
        </p:nvGrpSpPr>
        <p:grpSpPr>
          <a:xfrm>
            <a:off x="7873113" y="2793091"/>
            <a:ext cx="2588658" cy="1986592"/>
            <a:chOff x="1551227" y="2666503"/>
            <a:chExt cx="2588658" cy="1986592"/>
          </a:xfrm>
        </p:grpSpPr>
        <p:sp>
          <p:nvSpPr>
            <p:cNvPr id="56" name="円/楕円 55">
              <a:extLst>
                <a:ext uri="{FF2B5EF4-FFF2-40B4-BE49-F238E27FC236}">
                  <a16:creationId xmlns:a16="http://schemas.microsoft.com/office/drawing/2014/main" id="{005AD0CF-E814-05FA-F036-FA8639C843C5}"/>
                </a:ext>
              </a:extLst>
            </p:cNvPr>
            <p:cNvSpPr/>
            <p:nvPr/>
          </p:nvSpPr>
          <p:spPr>
            <a:xfrm>
              <a:off x="2155537" y="28206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円/楕円 56">
              <a:extLst>
                <a:ext uri="{FF2B5EF4-FFF2-40B4-BE49-F238E27FC236}">
                  <a16:creationId xmlns:a16="http://schemas.microsoft.com/office/drawing/2014/main" id="{FABB8040-156D-559F-3B50-9D43F6B11D25}"/>
                </a:ext>
              </a:extLst>
            </p:cNvPr>
            <p:cNvSpPr/>
            <p:nvPr/>
          </p:nvSpPr>
          <p:spPr>
            <a:xfrm>
              <a:off x="1551227" y="359337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円/楕円 57">
              <a:extLst>
                <a:ext uri="{FF2B5EF4-FFF2-40B4-BE49-F238E27FC236}">
                  <a16:creationId xmlns:a16="http://schemas.microsoft.com/office/drawing/2014/main" id="{8BEB67A8-4096-F5AE-95CB-AC2DF32D6E82}"/>
                </a:ext>
              </a:extLst>
            </p:cNvPr>
            <p:cNvSpPr/>
            <p:nvPr/>
          </p:nvSpPr>
          <p:spPr>
            <a:xfrm>
              <a:off x="1662374" y="312569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円/楕円 58">
              <a:extLst>
                <a:ext uri="{FF2B5EF4-FFF2-40B4-BE49-F238E27FC236}">
                  <a16:creationId xmlns:a16="http://schemas.microsoft.com/office/drawing/2014/main" id="{BDAFD0CD-FB59-1457-46CE-945D6121C553}"/>
                </a:ext>
              </a:extLst>
            </p:cNvPr>
            <p:cNvSpPr/>
            <p:nvPr/>
          </p:nvSpPr>
          <p:spPr>
            <a:xfrm>
              <a:off x="1816454" y="332877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59">
              <a:extLst>
                <a:ext uri="{FF2B5EF4-FFF2-40B4-BE49-F238E27FC236}">
                  <a16:creationId xmlns:a16="http://schemas.microsoft.com/office/drawing/2014/main" id="{0D940E28-0812-9A73-F320-248BC7511AF6}"/>
                </a:ext>
              </a:extLst>
            </p:cNvPr>
            <p:cNvSpPr/>
            <p:nvPr/>
          </p:nvSpPr>
          <p:spPr>
            <a:xfrm>
              <a:off x="1842848" y="307956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円/楕円 60">
              <a:extLst>
                <a:ext uri="{FF2B5EF4-FFF2-40B4-BE49-F238E27FC236}">
                  <a16:creationId xmlns:a16="http://schemas.microsoft.com/office/drawing/2014/main" id="{D6A7F0C9-2671-C568-F058-55418D613B1A}"/>
                </a:ext>
              </a:extLst>
            </p:cNvPr>
            <p:cNvSpPr/>
            <p:nvPr/>
          </p:nvSpPr>
          <p:spPr>
            <a:xfrm>
              <a:off x="3002718" y="393402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円/楕円 61">
              <a:extLst>
                <a:ext uri="{FF2B5EF4-FFF2-40B4-BE49-F238E27FC236}">
                  <a16:creationId xmlns:a16="http://schemas.microsoft.com/office/drawing/2014/main" id="{FC093C33-5363-25B8-8648-D5D20EECF2A0}"/>
                </a:ext>
              </a:extLst>
            </p:cNvPr>
            <p:cNvSpPr/>
            <p:nvPr/>
          </p:nvSpPr>
          <p:spPr>
            <a:xfrm>
              <a:off x="3451649" y="363142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円/楕円 62">
              <a:extLst>
                <a:ext uri="{FF2B5EF4-FFF2-40B4-BE49-F238E27FC236}">
                  <a16:creationId xmlns:a16="http://schemas.microsoft.com/office/drawing/2014/main" id="{AD777892-D509-5E49-097C-E87FE2C5AEEB}"/>
                </a:ext>
              </a:extLst>
            </p:cNvPr>
            <p:cNvSpPr/>
            <p:nvPr/>
          </p:nvSpPr>
          <p:spPr>
            <a:xfrm>
              <a:off x="2660815" y="266650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円/楕円 63">
              <a:extLst>
                <a:ext uri="{FF2B5EF4-FFF2-40B4-BE49-F238E27FC236}">
                  <a16:creationId xmlns:a16="http://schemas.microsoft.com/office/drawing/2014/main" id="{8752A1BB-5A3A-FACE-F159-C044B49550D1}"/>
                </a:ext>
              </a:extLst>
            </p:cNvPr>
            <p:cNvSpPr/>
            <p:nvPr/>
          </p:nvSpPr>
          <p:spPr>
            <a:xfrm>
              <a:off x="3387240" y="325683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円/楕円 64">
              <a:extLst>
                <a:ext uri="{FF2B5EF4-FFF2-40B4-BE49-F238E27FC236}">
                  <a16:creationId xmlns:a16="http://schemas.microsoft.com/office/drawing/2014/main" id="{D7DB18DF-0240-DF08-1109-B005A017395B}"/>
                </a:ext>
              </a:extLst>
            </p:cNvPr>
            <p:cNvSpPr/>
            <p:nvPr/>
          </p:nvSpPr>
          <p:spPr>
            <a:xfrm>
              <a:off x="2584203" y="447262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円/楕円 65">
              <a:extLst>
                <a:ext uri="{FF2B5EF4-FFF2-40B4-BE49-F238E27FC236}">
                  <a16:creationId xmlns:a16="http://schemas.microsoft.com/office/drawing/2014/main" id="{73324FAB-706F-499D-6485-17D475EFA2E5}"/>
                </a:ext>
              </a:extLst>
            </p:cNvPr>
            <p:cNvSpPr/>
            <p:nvPr/>
          </p:nvSpPr>
          <p:spPr>
            <a:xfrm>
              <a:off x="3328561" y="394319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楕円 66">
              <a:extLst>
                <a:ext uri="{FF2B5EF4-FFF2-40B4-BE49-F238E27FC236}">
                  <a16:creationId xmlns:a16="http://schemas.microsoft.com/office/drawing/2014/main" id="{E9FA09FE-C473-7D6D-849B-BD24364DFA4B}"/>
                </a:ext>
              </a:extLst>
            </p:cNvPr>
            <p:cNvSpPr/>
            <p:nvPr/>
          </p:nvSpPr>
          <p:spPr>
            <a:xfrm>
              <a:off x="3703800" y="35855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円/楕円 67">
              <a:extLst>
                <a:ext uri="{FF2B5EF4-FFF2-40B4-BE49-F238E27FC236}">
                  <a16:creationId xmlns:a16="http://schemas.microsoft.com/office/drawing/2014/main" id="{17388981-7F2B-C8BE-8BB3-B0A957914633}"/>
                </a:ext>
              </a:extLst>
            </p:cNvPr>
            <p:cNvSpPr/>
            <p:nvPr/>
          </p:nvSpPr>
          <p:spPr>
            <a:xfrm>
              <a:off x="3162565" y="431446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円/楕円 68">
              <a:extLst>
                <a:ext uri="{FF2B5EF4-FFF2-40B4-BE49-F238E27FC236}">
                  <a16:creationId xmlns:a16="http://schemas.microsoft.com/office/drawing/2014/main" id="{F9C64507-B241-AE68-C659-191F35E2B688}"/>
                </a:ext>
              </a:extLst>
            </p:cNvPr>
            <p:cNvSpPr/>
            <p:nvPr/>
          </p:nvSpPr>
          <p:spPr>
            <a:xfrm>
              <a:off x="3959411" y="325683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1" name="グループ化 70">
            <a:extLst>
              <a:ext uri="{FF2B5EF4-FFF2-40B4-BE49-F238E27FC236}">
                <a16:creationId xmlns:a16="http://schemas.microsoft.com/office/drawing/2014/main" id="{30B75ED4-4667-0E54-E1D7-24EFF4D958A4}"/>
              </a:ext>
            </a:extLst>
          </p:cNvPr>
          <p:cNvGrpSpPr/>
          <p:nvPr/>
        </p:nvGrpSpPr>
        <p:grpSpPr>
          <a:xfrm>
            <a:off x="1724206" y="2793091"/>
            <a:ext cx="2588658" cy="1986592"/>
            <a:chOff x="1551227" y="2666503"/>
            <a:chExt cx="2588658" cy="1986592"/>
          </a:xfrm>
        </p:grpSpPr>
        <p:sp>
          <p:nvSpPr>
            <p:cNvPr id="72" name="円/楕円 71">
              <a:extLst>
                <a:ext uri="{FF2B5EF4-FFF2-40B4-BE49-F238E27FC236}">
                  <a16:creationId xmlns:a16="http://schemas.microsoft.com/office/drawing/2014/main" id="{F8F7D25C-2CCF-EC66-8F31-DAAD2A655F4D}"/>
                </a:ext>
              </a:extLst>
            </p:cNvPr>
            <p:cNvSpPr/>
            <p:nvPr/>
          </p:nvSpPr>
          <p:spPr>
            <a:xfrm>
              <a:off x="2155537" y="28206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円/楕円 72">
              <a:extLst>
                <a:ext uri="{FF2B5EF4-FFF2-40B4-BE49-F238E27FC236}">
                  <a16:creationId xmlns:a16="http://schemas.microsoft.com/office/drawing/2014/main" id="{117BAEA3-F6C6-1B4C-4C0E-76D515254961}"/>
                </a:ext>
              </a:extLst>
            </p:cNvPr>
            <p:cNvSpPr/>
            <p:nvPr/>
          </p:nvSpPr>
          <p:spPr>
            <a:xfrm>
              <a:off x="1551227" y="359337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円/楕円 73">
              <a:extLst>
                <a:ext uri="{FF2B5EF4-FFF2-40B4-BE49-F238E27FC236}">
                  <a16:creationId xmlns:a16="http://schemas.microsoft.com/office/drawing/2014/main" id="{453A0C00-7338-D0AD-1BE5-24627C36E4B5}"/>
                </a:ext>
              </a:extLst>
            </p:cNvPr>
            <p:cNvSpPr/>
            <p:nvPr/>
          </p:nvSpPr>
          <p:spPr>
            <a:xfrm>
              <a:off x="1662374" y="312569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円/楕円 95">
              <a:extLst>
                <a:ext uri="{FF2B5EF4-FFF2-40B4-BE49-F238E27FC236}">
                  <a16:creationId xmlns:a16="http://schemas.microsoft.com/office/drawing/2014/main" id="{6448D79C-8F98-76AF-0800-8DF3072D1783}"/>
                </a:ext>
              </a:extLst>
            </p:cNvPr>
            <p:cNvSpPr/>
            <p:nvPr/>
          </p:nvSpPr>
          <p:spPr>
            <a:xfrm>
              <a:off x="1816454" y="332877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円/楕円 96">
              <a:extLst>
                <a:ext uri="{FF2B5EF4-FFF2-40B4-BE49-F238E27FC236}">
                  <a16:creationId xmlns:a16="http://schemas.microsoft.com/office/drawing/2014/main" id="{5F42FB88-56EF-14DB-3623-B1709761EA45}"/>
                </a:ext>
              </a:extLst>
            </p:cNvPr>
            <p:cNvSpPr/>
            <p:nvPr/>
          </p:nvSpPr>
          <p:spPr>
            <a:xfrm>
              <a:off x="1842848" y="307956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円/楕円 97">
              <a:extLst>
                <a:ext uri="{FF2B5EF4-FFF2-40B4-BE49-F238E27FC236}">
                  <a16:creationId xmlns:a16="http://schemas.microsoft.com/office/drawing/2014/main" id="{2569BBAD-0CAA-DF6F-5B93-716755C9D041}"/>
                </a:ext>
              </a:extLst>
            </p:cNvPr>
            <p:cNvSpPr/>
            <p:nvPr/>
          </p:nvSpPr>
          <p:spPr>
            <a:xfrm>
              <a:off x="3002718" y="393402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円/楕円 98">
              <a:extLst>
                <a:ext uri="{FF2B5EF4-FFF2-40B4-BE49-F238E27FC236}">
                  <a16:creationId xmlns:a16="http://schemas.microsoft.com/office/drawing/2014/main" id="{A70C601E-4D07-0985-BF16-6648D2EB4568}"/>
                </a:ext>
              </a:extLst>
            </p:cNvPr>
            <p:cNvSpPr/>
            <p:nvPr/>
          </p:nvSpPr>
          <p:spPr>
            <a:xfrm>
              <a:off x="3451649" y="363142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円/楕円 99">
              <a:extLst>
                <a:ext uri="{FF2B5EF4-FFF2-40B4-BE49-F238E27FC236}">
                  <a16:creationId xmlns:a16="http://schemas.microsoft.com/office/drawing/2014/main" id="{E62A3AB3-2AF4-F9E6-9E60-292F41781C1E}"/>
                </a:ext>
              </a:extLst>
            </p:cNvPr>
            <p:cNvSpPr/>
            <p:nvPr/>
          </p:nvSpPr>
          <p:spPr>
            <a:xfrm>
              <a:off x="2660815" y="266650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1" name="円/楕円 100">
              <a:extLst>
                <a:ext uri="{FF2B5EF4-FFF2-40B4-BE49-F238E27FC236}">
                  <a16:creationId xmlns:a16="http://schemas.microsoft.com/office/drawing/2014/main" id="{30456AF9-DE69-FE4E-B0B0-705EAA96C2E6}"/>
                </a:ext>
              </a:extLst>
            </p:cNvPr>
            <p:cNvSpPr/>
            <p:nvPr/>
          </p:nvSpPr>
          <p:spPr>
            <a:xfrm>
              <a:off x="3387240" y="325683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円/楕円 101">
              <a:extLst>
                <a:ext uri="{FF2B5EF4-FFF2-40B4-BE49-F238E27FC236}">
                  <a16:creationId xmlns:a16="http://schemas.microsoft.com/office/drawing/2014/main" id="{ABBA7F0F-3685-4E73-995E-E37B604F6344}"/>
                </a:ext>
              </a:extLst>
            </p:cNvPr>
            <p:cNvSpPr/>
            <p:nvPr/>
          </p:nvSpPr>
          <p:spPr>
            <a:xfrm>
              <a:off x="2584203" y="447262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円/楕円 102">
              <a:extLst>
                <a:ext uri="{FF2B5EF4-FFF2-40B4-BE49-F238E27FC236}">
                  <a16:creationId xmlns:a16="http://schemas.microsoft.com/office/drawing/2014/main" id="{23FA4A06-E4B0-8D3B-39D4-D5F63724C99D}"/>
                </a:ext>
              </a:extLst>
            </p:cNvPr>
            <p:cNvSpPr/>
            <p:nvPr/>
          </p:nvSpPr>
          <p:spPr>
            <a:xfrm>
              <a:off x="3328561" y="394319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円/楕円 103">
              <a:extLst>
                <a:ext uri="{FF2B5EF4-FFF2-40B4-BE49-F238E27FC236}">
                  <a16:creationId xmlns:a16="http://schemas.microsoft.com/office/drawing/2014/main" id="{B7D4EA77-3D8A-890F-4F95-5398CDD35265}"/>
                </a:ext>
              </a:extLst>
            </p:cNvPr>
            <p:cNvSpPr/>
            <p:nvPr/>
          </p:nvSpPr>
          <p:spPr>
            <a:xfrm>
              <a:off x="3703800" y="35855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円/楕円 104">
              <a:extLst>
                <a:ext uri="{FF2B5EF4-FFF2-40B4-BE49-F238E27FC236}">
                  <a16:creationId xmlns:a16="http://schemas.microsoft.com/office/drawing/2014/main" id="{29D171F4-4D47-C865-4D0D-5E684D97D2E1}"/>
                </a:ext>
              </a:extLst>
            </p:cNvPr>
            <p:cNvSpPr/>
            <p:nvPr/>
          </p:nvSpPr>
          <p:spPr>
            <a:xfrm>
              <a:off x="3162565" y="431446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 name="円/楕円 105">
              <a:extLst>
                <a:ext uri="{FF2B5EF4-FFF2-40B4-BE49-F238E27FC236}">
                  <a16:creationId xmlns:a16="http://schemas.microsoft.com/office/drawing/2014/main" id="{A6599F57-059E-4E07-F6A4-C4ED01207E26}"/>
                </a:ext>
              </a:extLst>
            </p:cNvPr>
            <p:cNvSpPr/>
            <p:nvPr/>
          </p:nvSpPr>
          <p:spPr>
            <a:xfrm>
              <a:off x="3959411" y="325683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07" name="テキスト ボックス 106">
            <a:extLst>
              <a:ext uri="{FF2B5EF4-FFF2-40B4-BE49-F238E27FC236}">
                <a16:creationId xmlns:a16="http://schemas.microsoft.com/office/drawing/2014/main" id="{7ED66CCB-7BF0-B138-9D9F-1D23C0A97CEF}"/>
              </a:ext>
            </a:extLst>
          </p:cNvPr>
          <p:cNvSpPr txBox="1"/>
          <p:nvPr/>
        </p:nvSpPr>
        <p:spPr>
          <a:xfrm>
            <a:off x="3310621" y="5770136"/>
            <a:ext cx="5570756" cy="954107"/>
          </a:xfrm>
          <a:prstGeom prst="rect">
            <a:avLst/>
          </a:prstGeom>
          <a:noFill/>
        </p:spPr>
        <p:txBody>
          <a:bodyPr wrap="none" rtlCol="0">
            <a:spAutoFit/>
          </a:bodyPr>
          <a:lstStyle/>
          <a:p>
            <a:pPr algn="ctr"/>
            <a:r>
              <a:rPr kumimoji="1" lang="ja-JP" altLang="en-US" sz="2800" b="1">
                <a:solidFill>
                  <a:schemeClr val="accent1">
                    <a:lumMod val="50000"/>
                  </a:schemeClr>
                </a:solidFill>
              </a:rPr>
              <a:t>２つのクラスに分かれている</a:t>
            </a:r>
            <a:endParaRPr kumimoji="1" lang="en-US" altLang="ja-JP" sz="2800" b="1" dirty="0">
              <a:solidFill>
                <a:schemeClr val="accent1">
                  <a:lumMod val="50000"/>
                </a:schemeClr>
              </a:solidFill>
            </a:endParaRPr>
          </a:p>
          <a:p>
            <a:pPr algn="ctr"/>
            <a:r>
              <a:rPr lang="ja-JP" altLang="en-US" sz="2800" b="1">
                <a:solidFill>
                  <a:schemeClr val="accent1">
                    <a:lumMod val="50000"/>
                  </a:schemeClr>
                </a:solidFill>
              </a:rPr>
              <a:t>これを識別できる基底を作りたい</a:t>
            </a:r>
            <a:endParaRPr kumimoji="1" lang="ja-JP" altLang="en-US" sz="2800" b="1">
              <a:solidFill>
                <a:schemeClr val="accent1">
                  <a:lumMod val="50000"/>
                </a:schemeClr>
              </a:solidFill>
            </a:endParaRPr>
          </a:p>
        </p:txBody>
      </p:sp>
      <p:sp>
        <p:nvSpPr>
          <p:cNvPr id="108" name="円/楕円 107">
            <a:extLst>
              <a:ext uri="{FF2B5EF4-FFF2-40B4-BE49-F238E27FC236}">
                <a16:creationId xmlns:a16="http://schemas.microsoft.com/office/drawing/2014/main" id="{D1F72D42-952E-BF41-F734-D31EFF4C1EB1}"/>
              </a:ext>
            </a:extLst>
          </p:cNvPr>
          <p:cNvSpPr/>
          <p:nvPr/>
        </p:nvSpPr>
        <p:spPr>
          <a:xfrm rot="2278366">
            <a:off x="7981522" y="2151060"/>
            <a:ext cx="965046" cy="2346339"/>
          </a:xfrm>
          <a:prstGeom prst="ellipse">
            <a:avLst/>
          </a:prstGeom>
          <a:no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 name="円/楕円 108">
            <a:extLst>
              <a:ext uri="{FF2B5EF4-FFF2-40B4-BE49-F238E27FC236}">
                <a16:creationId xmlns:a16="http://schemas.microsoft.com/office/drawing/2014/main" id="{40CF7F9A-2C01-1D75-292B-7C9CF82316C3}"/>
              </a:ext>
            </a:extLst>
          </p:cNvPr>
          <p:cNvSpPr/>
          <p:nvPr/>
        </p:nvSpPr>
        <p:spPr>
          <a:xfrm rot="2278366">
            <a:off x="9187348" y="2887441"/>
            <a:ext cx="965046" cy="2346339"/>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正方形/長方形 47">
            <a:extLst>
              <a:ext uri="{FF2B5EF4-FFF2-40B4-BE49-F238E27FC236}">
                <a16:creationId xmlns:a16="http://schemas.microsoft.com/office/drawing/2014/main" id="{4BF8A42A-C442-EF3F-E7B9-0FEE85F061CA}"/>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88122518-4236-F117-9EC0-2E558D93191C}"/>
              </a:ext>
            </a:extLst>
          </p:cNvPr>
          <p:cNvSpPr txBox="1"/>
          <p:nvPr/>
        </p:nvSpPr>
        <p:spPr>
          <a:xfrm>
            <a:off x="385370" y="120924"/>
            <a:ext cx="2031325" cy="461665"/>
          </a:xfrm>
          <a:prstGeom prst="rect">
            <a:avLst/>
          </a:prstGeom>
          <a:noFill/>
        </p:spPr>
        <p:txBody>
          <a:bodyPr wrap="none" rtlCol="0">
            <a:spAutoFit/>
          </a:bodyPr>
          <a:lstStyle/>
          <a:p>
            <a:r>
              <a:rPr lang="ja-JP" altLang="en-US" sz="2400" b="1">
                <a:solidFill>
                  <a:schemeClr val="bg1"/>
                </a:solidFill>
              </a:rPr>
              <a:t>線形判断分析</a:t>
            </a:r>
          </a:p>
        </p:txBody>
      </p:sp>
    </p:spTree>
    <p:extLst>
      <p:ext uri="{BB962C8B-B14F-4D97-AF65-F5344CB8AC3E}">
        <p14:creationId xmlns:p14="http://schemas.microsoft.com/office/powerpoint/2010/main" val="2322843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グループ化 50">
            <a:extLst>
              <a:ext uri="{FF2B5EF4-FFF2-40B4-BE49-F238E27FC236}">
                <a16:creationId xmlns:a16="http://schemas.microsoft.com/office/drawing/2014/main" id="{FC04E49F-FC9A-7E7E-DD0F-D8DFCC4B9CBE}"/>
              </a:ext>
            </a:extLst>
          </p:cNvPr>
          <p:cNvGrpSpPr/>
          <p:nvPr/>
        </p:nvGrpSpPr>
        <p:grpSpPr>
          <a:xfrm>
            <a:off x="1039401" y="2057129"/>
            <a:ext cx="3600000" cy="3600000"/>
            <a:chOff x="1039401" y="2057129"/>
            <a:chExt cx="3600000" cy="3600000"/>
          </a:xfrm>
        </p:grpSpPr>
        <p:cxnSp>
          <p:nvCxnSpPr>
            <p:cNvPr id="52" name="直線矢印コネクタ 51">
              <a:extLst>
                <a:ext uri="{FF2B5EF4-FFF2-40B4-BE49-F238E27FC236}">
                  <a16:creationId xmlns:a16="http://schemas.microsoft.com/office/drawing/2014/main" id="{33415472-1B94-DC89-ED31-343738C6F4FD}"/>
                </a:ext>
              </a:extLst>
            </p:cNvPr>
            <p:cNvCxnSpPr>
              <a:cxnSpLocks/>
            </p:cNvCxnSpPr>
            <p:nvPr/>
          </p:nvCxnSpPr>
          <p:spPr>
            <a:xfrm flipV="1">
              <a:off x="1399401"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94DB1820-CD66-F5FC-1263-A04548BBD3EB}"/>
                </a:ext>
              </a:extLst>
            </p:cNvPr>
            <p:cNvCxnSpPr>
              <a:cxnSpLocks/>
            </p:cNvCxnSpPr>
            <p:nvPr/>
          </p:nvCxnSpPr>
          <p:spPr>
            <a:xfrm>
              <a:off x="1039401"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14" name="グループ化 13">
            <a:extLst>
              <a:ext uri="{FF2B5EF4-FFF2-40B4-BE49-F238E27FC236}">
                <a16:creationId xmlns:a16="http://schemas.microsoft.com/office/drawing/2014/main" id="{10A076A3-5F05-8F7D-EB8F-0043067B0653}"/>
              </a:ext>
            </a:extLst>
          </p:cNvPr>
          <p:cNvGrpSpPr/>
          <p:nvPr/>
        </p:nvGrpSpPr>
        <p:grpSpPr>
          <a:xfrm>
            <a:off x="1039401" y="-3833692"/>
            <a:ext cx="3600000" cy="3600000"/>
            <a:chOff x="1039401" y="-3833692"/>
            <a:chExt cx="3600000" cy="3600000"/>
          </a:xfrm>
        </p:grpSpPr>
        <p:cxnSp>
          <p:nvCxnSpPr>
            <p:cNvPr id="11" name="直線矢印コネクタ 10">
              <a:extLst>
                <a:ext uri="{FF2B5EF4-FFF2-40B4-BE49-F238E27FC236}">
                  <a16:creationId xmlns:a16="http://schemas.microsoft.com/office/drawing/2014/main" id="{037ED7D2-83E8-E0AE-2C4A-8B20F91AF81F}"/>
                </a:ext>
              </a:extLst>
            </p:cNvPr>
            <p:cNvCxnSpPr>
              <a:cxnSpLocks/>
            </p:cNvCxnSpPr>
            <p:nvPr/>
          </p:nvCxnSpPr>
          <p:spPr>
            <a:xfrm flipV="1">
              <a:off x="1399401" y="-3833692"/>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0D32960-1661-15FC-E06C-90FEB07EB4B4}"/>
                </a:ext>
              </a:extLst>
            </p:cNvPr>
            <p:cNvCxnSpPr>
              <a:cxnSpLocks/>
            </p:cNvCxnSpPr>
            <p:nvPr/>
          </p:nvCxnSpPr>
          <p:spPr>
            <a:xfrm>
              <a:off x="1039401" y="-595653"/>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C9E11B82-4E4A-BA44-D9D0-85C1E532451C}"/>
                </a:ext>
              </a:extLst>
            </p:cNvPr>
            <p:cNvSpPr/>
            <p:nvPr/>
          </p:nvSpPr>
          <p:spPr>
            <a:xfrm>
              <a:off x="1039401" y="-593692"/>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3" name="円/楕円 52">
            <a:extLst>
              <a:ext uri="{FF2B5EF4-FFF2-40B4-BE49-F238E27FC236}">
                <a16:creationId xmlns:a16="http://schemas.microsoft.com/office/drawing/2014/main" id="{B9FDDFD9-2875-39F3-F082-A2338ADDFD92}"/>
              </a:ext>
            </a:extLst>
          </p:cNvPr>
          <p:cNvSpPr/>
          <p:nvPr/>
        </p:nvSpPr>
        <p:spPr>
          <a:xfrm>
            <a:off x="712478" y="1411588"/>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accent1">
                    <a:lumMod val="75000"/>
                  </a:schemeClr>
                </a:solidFill>
              </a:rPr>
              <a:t>３</a:t>
            </a:r>
            <a:endParaRPr kumimoji="1" lang="ja-JP" altLang="en-US" sz="2800" b="1">
              <a:solidFill>
                <a:schemeClr val="accent1">
                  <a:lumMod val="75000"/>
                </a:schemeClr>
              </a:solidFill>
            </a:endParaRPr>
          </a:p>
        </p:txBody>
      </p:sp>
      <p:sp>
        <p:nvSpPr>
          <p:cNvPr id="75" name="円/楕円 74">
            <a:extLst>
              <a:ext uri="{FF2B5EF4-FFF2-40B4-BE49-F238E27FC236}">
                <a16:creationId xmlns:a16="http://schemas.microsoft.com/office/drawing/2014/main" id="{8B74C565-9FEB-93B0-D0EF-4CEFB677CC7E}"/>
              </a:ext>
            </a:extLst>
          </p:cNvPr>
          <p:cNvSpPr/>
          <p:nvPr/>
        </p:nvSpPr>
        <p:spPr>
          <a:xfrm>
            <a:off x="6159511" y="1403284"/>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chemeClr val="accent1">
                    <a:lumMod val="75000"/>
                  </a:schemeClr>
                </a:solidFill>
              </a:rPr>
              <a:t>４</a:t>
            </a:r>
          </a:p>
        </p:txBody>
      </p:sp>
      <p:grpSp>
        <p:nvGrpSpPr>
          <p:cNvPr id="76" name="グループ化 75">
            <a:extLst>
              <a:ext uri="{FF2B5EF4-FFF2-40B4-BE49-F238E27FC236}">
                <a16:creationId xmlns:a16="http://schemas.microsoft.com/office/drawing/2014/main" id="{5B76C13F-CA98-4B5B-2973-3C9D2F624076}"/>
              </a:ext>
            </a:extLst>
          </p:cNvPr>
          <p:cNvGrpSpPr/>
          <p:nvPr/>
        </p:nvGrpSpPr>
        <p:grpSpPr>
          <a:xfrm>
            <a:off x="6481637" y="2051218"/>
            <a:ext cx="3600000" cy="3600000"/>
            <a:chOff x="1039401" y="2057129"/>
            <a:chExt cx="3600000" cy="3600000"/>
          </a:xfrm>
        </p:grpSpPr>
        <p:cxnSp>
          <p:nvCxnSpPr>
            <p:cNvPr id="77" name="直線矢印コネクタ 76">
              <a:extLst>
                <a:ext uri="{FF2B5EF4-FFF2-40B4-BE49-F238E27FC236}">
                  <a16:creationId xmlns:a16="http://schemas.microsoft.com/office/drawing/2014/main" id="{F0A1820F-0E1B-9A14-04B8-BFB119E0A56F}"/>
                </a:ext>
              </a:extLst>
            </p:cNvPr>
            <p:cNvCxnSpPr>
              <a:cxnSpLocks/>
            </p:cNvCxnSpPr>
            <p:nvPr/>
          </p:nvCxnSpPr>
          <p:spPr>
            <a:xfrm flipV="1">
              <a:off x="1399401"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67C94A10-34BE-AF23-6A23-81C6C94A5F7A}"/>
                </a:ext>
              </a:extLst>
            </p:cNvPr>
            <p:cNvCxnSpPr>
              <a:cxnSpLocks/>
            </p:cNvCxnSpPr>
            <p:nvPr/>
          </p:nvCxnSpPr>
          <p:spPr>
            <a:xfrm>
              <a:off x="1039401"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54" name="グループ化 53">
            <a:extLst>
              <a:ext uri="{FF2B5EF4-FFF2-40B4-BE49-F238E27FC236}">
                <a16:creationId xmlns:a16="http://schemas.microsoft.com/office/drawing/2014/main" id="{0A7E5B4E-AC7C-0BDF-849E-7663648C2929}"/>
              </a:ext>
            </a:extLst>
          </p:cNvPr>
          <p:cNvGrpSpPr/>
          <p:nvPr/>
        </p:nvGrpSpPr>
        <p:grpSpPr>
          <a:xfrm>
            <a:off x="7166948" y="2787180"/>
            <a:ext cx="2588658" cy="1986592"/>
            <a:chOff x="1551227" y="2666503"/>
            <a:chExt cx="2588658" cy="1986592"/>
          </a:xfrm>
        </p:grpSpPr>
        <p:sp>
          <p:nvSpPr>
            <p:cNvPr id="56" name="円/楕円 55">
              <a:extLst>
                <a:ext uri="{FF2B5EF4-FFF2-40B4-BE49-F238E27FC236}">
                  <a16:creationId xmlns:a16="http://schemas.microsoft.com/office/drawing/2014/main" id="{005AD0CF-E814-05FA-F036-FA8639C843C5}"/>
                </a:ext>
              </a:extLst>
            </p:cNvPr>
            <p:cNvSpPr/>
            <p:nvPr/>
          </p:nvSpPr>
          <p:spPr>
            <a:xfrm>
              <a:off x="2155537" y="28206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円/楕円 56">
              <a:extLst>
                <a:ext uri="{FF2B5EF4-FFF2-40B4-BE49-F238E27FC236}">
                  <a16:creationId xmlns:a16="http://schemas.microsoft.com/office/drawing/2014/main" id="{FABB8040-156D-559F-3B50-9D43F6B11D25}"/>
                </a:ext>
              </a:extLst>
            </p:cNvPr>
            <p:cNvSpPr/>
            <p:nvPr/>
          </p:nvSpPr>
          <p:spPr>
            <a:xfrm>
              <a:off x="1551227" y="359337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円/楕円 57">
              <a:extLst>
                <a:ext uri="{FF2B5EF4-FFF2-40B4-BE49-F238E27FC236}">
                  <a16:creationId xmlns:a16="http://schemas.microsoft.com/office/drawing/2014/main" id="{8BEB67A8-4096-F5AE-95CB-AC2DF32D6E82}"/>
                </a:ext>
              </a:extLst>
            </p:cNvPr>
            <p:cNvSpPr/>
            <p:nvPr/>
          </p:nvSpPr>
          <p:spPr>
            <a:xfrm>
              <a:off x="1662374" y="312569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円/楕円 58">
              <a:extLst>
                <a:ext uri="{FF2B5EF4-FFF2-40B4-BE49-F238E27FC236}">
                  <a16:creationId xmlns:a16="http://schemas.microsoft.com/office/drawing/2014/main" id="{BDAFD0CD-FB59-1457-46CE-945D6121C553}"/>
                </a:ext>
              </a:extLst>
            </p:cNvPr>
            <p:cNvSpPr/>
            <p:nvPr/>
          </p:nvSpPr>
          <p:spPr>
            <a:xfrm>
              <a:off x="1816454" y="332877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59">
              <a:extLst>
                <a:ext uri="{FF2B5EF4-FFF2-40B4-BE49-F238E27FC236}">
                  <a16:creationId xmlns:a16="http://schemas.microsoft.com/office/drawing/2014/main" id="{0D940E28-0812-9A73-F320-248BC7511AF6}"/>
                </a:ext>
              </a:extLst>
            </p:cNvPr>
            <p:cNvSpPr/>
            <p:nvPr/>
          </p:nvSpPr>
          <p:spPr>
            <a:xfrm>
              <a:off x="1842848" y="307956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円/楕円 60">
              <a:extLst>
                <a:ext uri="{FF2B5EF4-FFF2-40B4-BE49-F238E27FC236}">
                  <a16:creationId xmlns:a16="http://schemas.microsoft.com/office/drawing/2014/main" id="{D6A7F0C9-2671-C568-F058-55418D613B1A}"/>
                </a:ext>
              </a:extLst>
            </p:cNvPr>
            <p:cNvSpPr/>
            <p:nvPr/>
          </p:nvSpPr>
          <p:spPr>
            <a:xfrm>
              <a:off x="3002718" y="393402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円/楕円 61">
              <a:extLst>
                <a:ext uri="{FF2B5EF4-FFF2-40B4-BE49-F238E27FC236}">
                  <a16:creationId xmlns:a16="http://schemas.microsoft.com/office/drawing/2014/main" id="{FC093C33-5363-25B8-8648-D5D20EECF2A0}"/>
                </a:ext>
              </a:extLst>
            </p:cNvPr>
            <p:cNvSpPr/>
            <p:nvPr/>
          </p:nvSpPr>
          <p:spPr>
            <a:xfrm>
              <a:off x="3451649" y="363142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円/楕円 62">
              <a:extLst>
                <a:ext uri="{FF2B5EF4-FFF2-40B4-BE49-F238E27FC236}">
                  <a16:creationId xmlns:a16="http://schemas.microsoft.com/office/drawing/2014/main" id="{AD777892-D509-5E49-097C-E87FE2C5AEEB}"/>
                </a:ext>
              </a:extLst>
            </p:cNvPr>
            <p:cNvSpPr/>
            <p:nvPr/>
          </p:nvSpPr>
          <p:spPr>
            <a:xfrm>
              <a:off x="2660815" y="266650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円/楕円 63">
              <a:extLst>
                <a:ext uri="{FF2B5EF4-FFF2-40B4-BE49-F238E27FC236}">
                  <a16:creationId xmlns:a16="http://schemas.microsoft.com/office/drawing/2014/main" id="{8752A1BB-5A3A-FACE-F159-C044B49550D1}"/>
                </a:ext>
              </a:extLst>
            </p:cNvPr>
            <p:cNvSpPr/>
            <p:nvPr/>
          </p:nvSpPr>
          <p:spPr>
            <a:xfrm>
              <a:off x="3387240" y="325683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円/楕円 64">
              <a:extLst>
                <a:ext uri="{FF2B5EF4-FFF2-40B4-BE49-F238E27FC236}">
                  <a16:creationId xmlns:a16="http://schemas.microsoft.com/office/drawing/2014/main" id="{D7DB18DF-0240-DF08-1109-B005A017395B}"/>
                </a:ext>
              </a:extLst>
            </p:cNvPr>
            <p:cNvSpPr/>
            <p:nvPr/>
          </p:nvSpPr>
          <p:spPr>
            <a:xfrm>
              <a:off x="2584203" y="447262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円/楕円 65">
              <a:extLst>
                <a:ext uri="{FF2B5EF4-FFF2-40B4-BE49-F238E27FC236}">
                  <a16:creationId xmlns:a16="http://schemas.microsoft.com/office/drawing/2014/main" id="{73324FAB-706F-499D-6485-17D475EFA2E5}"/>
                </a:ext>
              </a:extLst>
            </p:cNvPr>
            <p:cNvSpPr/>
            <p:nvPr/>
          </p:nvSpPr>
          <p:spPr>
            <a:xfrm>
              <a:off x="3328561" y="394319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楕円 66">
              <a:extLst>
                <a:ext uri="{FF2B5EF4-FFF2-40B4-BE49-F238E27FC236}">
                  <a16:creationId xmlns:a16="http://schemas.microsoft.com/office/drawing/2014/main" id="{E9FA09FE-C473-7D6D-849B-BD24364DFA4B}"/>
                </a:ext>
              </a:extLst>
            </p:cNvPr>
            <p:cNvSpPr/>
            <p:nvPr/>
          </p:nvSpPr>
          <p:spPr>
            <a:xfrm>
              <a:off x="3703800" y="35855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円/楕円 67">
              <a:extLst>
                <a:ext uri="{FF2B5EF4-FFF2-40B4-BE49-F238E27FC236}">
                  <a16:creationId xmlns:a16="http://schemas.microsoft.com/office/drawing/2014/main" id="{17388981-7F2B-C8BE-8BB3-B0A957914633}"/>
                </a:ext>
              </a:extLst>
            </p:cNvPr>
            <p:cNvSpPr/>
            <p:nvPr/>
          </p:nvSpPr>
          <p:spPr>
            <a:xfrm>
              <a:off x="3162565" y="431446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円/楕円 68">
              <a:extLst>
                <a:ext uri="{FF2B5EF4-FFF2-40B4-BE49-F238E27FC236}">
                  <a16:creationId xmlns:a16="http://schemas.microsoft.com/office/drawing/2014/main" id="{F9C64507-B241-AE68-C659-191F35E2B688}"/>
                </a:ext>
              </a:extLst>
            </p:cNvPr>
            <p:cNvSpPr/>
            <p:nvPr/>
          </p:nvSpPr>
          <p:spPr>
            <a:xfrm>
              <a:off x="3959411" y="325683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1" name="グループ化 70">
            <a:extLst>
              <a:ext uri="{FF2B5EF4-FFF2-40B4-BE49-F238E27FC236}">
                <a16:creationId xmlns:a16="http://schemas.microsoft.com/office/drawing/2014/main" id="{30B75ED4-4667-0E54-E1D7-24EFF4D958A4}"/>
              </a:ext>
            </a:extLst>
          </p:cNvPr>
          <p:cNvGrpSpPr/>
          <p:nvPr/>
        </p:nvGrpSpPr>
        <p:grpSpPr>
          <a:xfrm>
            <a:off x="1724206" y="2793091"/>
            <a:ext cx="2588658" cy="1986592"/>
            <a:chOff x="1551227" y="2666503"/>
            <a:chExt cx="2588658" cy="1986592"/>
          </a:xfrm>
        </p:grpSpPr>
        <p:sp>
          <p:nvSpPr>
            <p:cNvPr id="72" name="円/楕円 71">
              <a:extLst>
                <a:ext uri="{FF2B5EF4-FFF2-40B4-BE49-F238E27FC236}">
                  <a16:creationId xmlns:a16="http://schemas.microsoft.com/office/drawing/2014/main" id="{F8F7D25C-2CCF-EC66-8F31-DAAD2A655F4D}"/>
                </a:ext>
              </a:extLst>
            </p:cNvPr>
            <p:cNvSpPr/>
            <p:nvPr/>
          </p:nvSpPr>
          <p:spPr>
            <a:xfrm>
              <a:off x="2155537" y="28206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円/楕円 72">
              <a:extLst>
                <a:ext uri="{FF2B5EF4-FFF2-40B4-BE49-F238E27FC236}">
                  <a16:creationId xmlns:a16="http://schemas.microsoft.com/office/drawing/2014/main" id="{117BAEA3-F6C6-1B4C-4C0E-76D515254961}"/>
                </a:ext>
              </a:extLst>
            </p:cNvPr>
            <p:cNvSpPr/>
            <p:nvPr/>
          </p:nvSpPr>
          <p:spPr>
            <a:xfrm>
              <a:off x="1551227" y="359337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円/楕円 73">
              <a:extLst>
                <a:ext uri="{FF2B5EF4-FFF2-40B4-BE49-F238E27FC236}">
                  <a16:creationId xmlns:a16="http://schemas.microsoft.com/office/drawing/2014/main" id="{453A0C00-7338-D0AD-1BE5-24627C36E4B5}"/>
                </a:ext>
              </a:extLst>
            </p:cNvPr>
            <p:cNvSpPr/>
            <p:nvPr/>
          </p:nvSpPr>
          <p:spPr>
            <a:xfrm>
              <a:off x="1662374" y="312569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円/楕円 95">
              <a:extLst>
                <a:ext uri="{FF2B5EF4-FFF2-40B4-BE49-F238E27FC236}">
                  <a16:creationId xmlns:a16="http://schemas.microsoft.com/office/drawing/2014/main" id="{6448D79C-8F98-76AF-0800-8DF3072D1783}"/>
                </a:ext>
              </a:extLst>
            </p:cNvPr>
            <p:cNvSpPr/>
            <p:nvPr/>
          </p:nvSpPr>
          <p:spPr>
            <a:xfrm>
              <a:off x="1816454" y="332877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円/楕円 96">
              <a:extLst>
                <a:ext uri="{FF2B5EF4-FFF2-40B4-BE49-F238E27FC236}">
                  <a16:creationId xmlns:a16="http://schemas.microsoft.com/office/drawing/2014/main" id="{5F42FB88-56EF-14DB-3623-B1709761EA45}"/>
                </a:ext>
              </a:extLst>
            </p:cNvPr>
            <p:cNvSpPr/>
            <p:nvPr/>
          </p:nvSpPr>
          <p:spPr>
            <a:xfrm>
              <a:off x="1842848" y="307956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円/楕円 97">
              <a:extLst>
                <a:ext uri="{FF2B5EF4-FFF2-40B4-BE49-F238E27FC236}">
                  <a16:creationId xmlns:a16="http://schemas.microsoft.com/office/drawing/2014/main" id="{2569BBAD-0CAA-DF6F-5B93-716755C9D041}"/>
                </a:ext>
              </a:extLst>
            </p:cNvPr>
            <p:cNvSpPr/>
            <p:nvPr/>
          </p:nvSpPr>
          <p:spPr>
            <a:xfrm>
              <a:off x="3002718" y="393402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円/楕円 98">
              <a:extLst>
                <a:ext uri="{FF2B5EF4-FFF2-40B4-BE49-F238E27FC236}">
                  <a16:creationId xmlns:a16="http://schemas.microsoft.com/office/drawing/2014/main" id="{A70C601E-4D07-0985-BF16-6648D2EB4568}"/>
                </a:ext>
              </a:extLst>
            </p:cNvPr>
            <p:cNvSpPr/>
            <p:nvPr/>
          </p:nvSpPr>
          <p:spPr>
            <a:xfrm>
              <a:off x="3451649" y="363142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円/楕円 99">
              <a:extLst>
                <a:ext uri="{FF2B5EF4-FFF2-40B4-BE49-F238E27FC236}">
                  <a16:creationId xmlns:a16="http://schemas.microsoft.com/office/drawing/2014/main" id="{E62A3AB3-2AF4-F9E6-9E60-292F41781C1E}"/>
                </a:ext>
              </a:extLst>
            </p:cNvPr>
            <p:cNvSpPr/>
            <p:nvPr/>
          </p:nvSpPr>
          <p:spPr>
            <a:xfrm>
              <a:off x="2660815" y="266650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1" name="円/楕円 100">
              <a:extLst>
                <a:ext uri="{FF2B5EF4-FFF2-40B4-BE49-F238E27FC236}">
                  <a16:creationId xmlns:a16="http://schemas.microsoft.com/office/drawing/2014/main" id="{30456AF9-DE69-FE4E-B0B0-705EAA96C2E6}"/>
                </a:ext>
              </a:extLst>
            </p:cNvPr>
            <p:cNvSpPr/>
            <p:nvPr/>
          </p:nvSpPr>
          <p:spPr>
            <a:xfrm>
              <a:off x="3387240" y="325683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円/楕円 101">
              <a:extLst>
                <a:ext uri="{FF2B5EF4-FFF2-40B4-BE49-F238E27FC236}">
                  <a16:creationId xmlns:a16="http://schemas.microsoft.com/office/drawing/2014/main" id="{ABBA7F0F-3685-4E73-995E-E37B604F6344}"/>
                </a:ext>
              </a:extLst>
            </p:cNvPr>
            <p:cNvSpPr/>
            <p:nvPr/>
          </p:nvSpPr>
          <p:spPr>
            <a:xfrm>
              <a:off x="2584203" y="447262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円/楕円 102">
              <a:extLst>
                <a:ext uri="{FF2B5EF4-FFF2-40B4-BE49-F238E27FC236}">
                  <a16:creationId xmlns:a16="http://schemas.microsoft.com/office/drawing/2014/main" id="{23FA4A06-E4B0-8D3B-39D4-D5F63724C99D}"/>
                </a:ext>
              </a:extLst>
            </p:cNvPr>
            <p:cNvSpPr/>
            <p:nvPr/>
          </p:nvSpPr>
          <p:spPr>
            <a:xfrm>
              <a:off x="3328561" y="394319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円/楕円 103">
              <a:extLst>
                <a:ext uri="{FF2B5EF4-FFF2-40B4-BE49-F238E27FC236}">
                  <a16:creationId xmlns:a16="http://schemas.microsoft.com/office/drawing/2014/main" id="{B7D4EA77-3D8A-890F-4F95-5398CDD35265}"/>
                </a:ext>
              </a:extLst>
            </p:cNvPr>
            <p:cNvSpPr/>
            <p:nvPr/>
          </p:nvSpPr>
          <p:spPr>
            <a:xfrm>
              <a:off x="3703800" y="35855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円/楕円 104">
              <a:extLst>
                <a:ext uri="{FF2B5EF4-FFF2-40B4-BE49-F238E27FC236}">
                  <a16:creationId xmlns:a16="http://schemas.microsoft.com/office/drawing/2014/main" id="{29D171F4-4D47-C865-4D0D-5E684D97D2E1}"/>
                </a:ext>
              </a:extLst>
            </p:cNvPr>
            <p:cNvSpPr/>
            <p:nvPr/>
          </p:nvSpPr>
          <p:spPr>
            <a:xfrm>
              <a:off x="3162565" y="431446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 name="円/楕円 105">
              <a:extLst>
                <a:ext uri="{FF2B5EF4-FFF2-40B4-BE49-F238E27FC236}">
                  <a16:creationId xmlns:a16="http://schemas.microsoft.com/office/drawing/2014/main" id="{A6599F57-059E-4E07-F6A4-C4ED01207E26}"/>
                </a:ext>
              </a:extLst>
            </p:cNvPr>
            <p:cNvSpPr/>
            <p:nvPr/>
          </p:nvSpPr>
          <p:spPr>
            <a:xfrm>
              <a:off x="3959411" y="325683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07" name="テキスト ボックス 106">
            <a:extLst>
              <a:ext uri="{FF2B5EF4-FFF2-40B4-BE49-F238E27FC236}">
                <a16:creationId xmlns:a16="http://schemas.microsoft.com/office/drawing/2014/main" id="{7ED66CCB-7BF0-B138-9D9F-1D23C0A97CEF}"/>
              </a:ext>
            </a:extLst>
          </p:cNvPr>
          <p:cNvSpPr txBox="1"/>
          <p:nvPr/>
        </p:nvSpPr>
        <p:spPr>
          <a:xfrm>
            <a:off x="1156197" y="5770136"/>
            <a:ext cx="9879628" cy="954107"/>
          </a:xfrm>
          <a:prstGeom prst="rect">
            <a:avLst/>
          </a:prstGeom>
          <a:noFill/>
        </p:spPr>
        <p:txBody>
          <a:bodyPr wrap="none" rtlCol="0">
            <a:spAutoFit/>
          </a:bodyPr>
          <a:lstStyle/>
          <a:p>
            <a:pPr algn="ctr"/>
            <a:r>
              <a:rPr kumimoji="1" lang="ja-JP" altLang="en-US" sz="2800" b="1">
                <a:solidFill>
                  <a:schemeClr val="accent1">
                    <a:lumMod val="50000"/>
                  </a:schemeClr>
                </a:solidFill>
              </a:rPr>
              <a:t>主成分分析で求めた第一主成分を基底として射影した場合</a:t>
            </a:r>
            <a:endParaRPr kumimoji="1" lang="en-US" altLang="ja-JP" sz="2800" b="1" dirty="0">
              <a:solidFill>
                <a:schemeClr val="accent1">
                  <a:lumMod val="50000"/>
                </a:schemeClr>
              </a:solidFill>
            </a:endParaRPr>
          </a:p>
          <a:p>
            <a:pPr algn="ctr"/>
            <a:r>
              <a:rPr lang="en-US" altLang="ja-JP" sz="2800" b="1" dirty="0">
                <a:solidFill>
                  <a:schemeClr val="accent1">
                    <a:lumMod val="50000"/>
                  </a:schemeClr>
                </a:solidFill>
              </a:rPr>
              <a:t>2</a:t>
            </a:r>
            <a:r>
              <a:rPr lang="ja-JP" altLang="en-US" sz="2800" b="1">
                <a:solidFill>
                  <a:schemeClr val="accent1">
                    <a:lumMod val="50000"/>
                  </a:schemeClr>
                </a:solidFill>
              </a:rPr>
              <a:t>つのクラスを識別できない</a:t>
            </a:r>
            <a:endParaRPr kumimoji="1" lang="ja-JP" altLang="en-US" sz="2800" b="1">
              <a:solidFill>
                <a:schemeClr val="accent1">
                  <a:lumMod val="50000"/>
                </a:schemeClr>
              </a:solidFill>
            </a:endParaRPr>
          </a:p>
        </p:txBody>
      </p:sp>
      <p:cxnSp>
        <p:nvCxnSpPr>
          <p:cNvPr id="48" name="直線コネクタ 47">
            <a:extLst>
              <a:ext uri="{FF2B5EF4-FFF2-40B4-BE49-F238E27FC236}">
                <a16:creationId xmlns:a16="http://schemas.microsoft.com/office/drawing/2014/main" id="{2A36FA94-2F70-D11C-432D-9CF641F22609}"/>
              </a:ext>
            </a:extLst>
          </p:cNvPr>
          <p:cNvCxnSpPr>
            <a:cxnSpLocks/>
          </p:cNvCxnSpPr>
          <p:nvPr/>
        </p:nvCxnSpPr>
        <p:spPr>
          <a:xfrm flipH="1">
            <a:off x="1654507" y="2391211"/>
            <a:ext cx="2408184" cy="2798722"/>
          </a:xfrm>
          <a:prstGeom prst="line">
            <a:avLst/>
          </a:prstGeom>
          <a:ln w="635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0CD9436E-BF73-6440-78AB-F4C7D65D6D95}"/>
              </a:ext>
            </a:extLst>
          </p:cNvPr>
          <p:cNvCxnSpPr>
            <a:cxnSpLocks/>
          </p:cNvCxnSpPr>
          <p:nvPr/>
        </p:nvCxnSpPr>
        <p:spPr>
          <a:xfrm flipH="1">
            <a:off x="9293452" y="3426850"/>
            <a:ext cx="1992627" cy="2339526"/>
          </a:xfrm>
          <a:prstGeom prst="line">
            <a:avLst/>
          </a:prstGeom>
          <a:ln w="635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 name="フリーフォーム 2">
            <a:extLst>
              <a:ext uri="{FF2B5EF4-FFF2-40B4-BE49-F238E27FC236}">
                <a16:creationId xmlns:a16="http://schemas.microsoft.com/office/drawing/2014/main" id="{237B2AE1-D1AE-2BCB-FF92-B8C27EC78E97}"/>
              </a:ext>
            </a:extLst>
          </p:cNvPr>
          <p:cNvSpPr/>
          <p:nvPr/>
        </p:nvSpPr>
        <p:spPr>
          <a:xfrm>
            <a:off x="9250878" y="3408218"/>
            <a:ext cx="1935678" cy="2173185"/>
          </a:xfrm>
          <a:custGeom>
            <a:avLst/>
            <a:gdLst>
              <a:gd name="connsiteX0" fmla="*/ 0 w 1935678"/>
              <a:gd name="connsiteY0" fmla="*/ 2173185 h 2173185"/>
              <a:gd name="connsiteX1" fmla="*/ 118753 w 1935678"/>
              <a:gd name="connsiteY1" fmla="*/ 1876301 h 2173185"/>
              <a:gd name="connsiteX2" fmla="*/ 35626 w 1935678"/>
              <a:gd name="connsiteY2" fmla="*/ 1258785 h 2173185"/>
              <a:gd name="connsiteX3" fmla="*/ 498764 w 1935678"/>
              <a:gd name="connsiteY3" fmla="*/ 1163782 h 2173185"/>
              <a:gd name="connsiteX4" fmla="*/ 665018 w 1935678"/>
              <a:gd name="connsiteY4" fmla="*/ 1009403 h 2173185"/>
              <a:gd name="connsiteX5" fmla="*/ 688769 w 1935678"/>
              <a:gd name="connsiteY5" fmla="*/ 771896 h 2173185"/>
              <a:gd name="connsiteX6" fmla="*/ 938151 w 1935678"/>
              <a:gd name="connsiteY6" fmla="*/ 736270 h 2173185"/>
              <a:gd name="connsiteX7" fmla="*/ 1246909 w 1935678"/>
              <a:gd name="connsiteY7" fmla="*/ 581891 h 2173185"/>
              <a:gd name="connsiteX8" fmla="*/ 1626919 w 1935678"/>
              <a:gd name="connsiteY8" fmla="*/ 356260 h 2173185"/>
              <a:gd name="connsiteX9" fmla="*/ 1935678 w 1935678"/>
              <a:gd name="connsiteY9" fmla="*/ 0 h 217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35678" h="2173185">
                <a:moveTo>
                  <a:pt x="0" y="2173185"/>
                </a:moveTo>
                <a:cubicBezTo>
                  <a:pt x="56407" y="2100943"/>
                  <a:pt x="112815" y="2028701"/>
                  <a:pt x="118753" y="1876301"/>
                </a:cubicBezTo>
                <a:cubicBezTo>
                  <a:pt x="124691" y="1723901"/>
                  <a:pt x="-27709" y="1377538"/>
                  <a:pt x="35626" y="1258785"/>
                </a:cubicBezTo>
                <a:cubicBezTo>
                  <a:pt x="98961" y="1140032"/>
                  <a:pt x="393865" y="1205346"/>
                  <a:pt x="498764" y="1163782"/>
                </a:cubicBezTo>
                <a:cubicBezTo>
                  <a:pt x="603663" y="1122218"/>
                  <a:pt x="633351" y="1074717"/>
                  <a:pt x="665018" y="1009403"/>
                </a:cubicBezTo>
                <a:cubicBezTo>
                  <a:pt x="696685" y="944089"/>
                  <a:pt x="643247" y="817418"/>
                  <a:pt x="688769" y="771896"/>
                </a:cubicBezTo>
                <a:cubicBezTo>
                  <a:pt x="734291" y="726374"/>
                  <a:pt x="845128" y="767937"/>
                  <a:pt x="938151" y="736270"/>
                </a:cubicBezTo>
                <a:cubicBezTo>
                  <a:pt x="1031174" y="704603"/>
                  <a:pt x="1132114" y="645226"/>
                  <a:pt x="1246909" y="581891"/>
                </a:cubicBezTo>
                <a:cubicBezTo>
                  <a:pt x="1361704" y="518556"/>
                  <a:pt x="1512124" y="453242"/>
                  <a:pt x="1626919" y="356260"/>
                </a:cubicBezTo>
                <a:cubicBezTo>
                  <a:pt x="1741714" y="259278"/>
                  <a:pt x="1838696" y="129639"/>
                  <a:pt x="1935678" y="0"/>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正方形/長方形 69">
            <a:extLst>
              <a:ext uri="{FF2B5EF4-FFF2-40B4-BE49-F238E27FC236}">
                <a16:creationId xmlns:a16="http://schemas.microsoft.com/office/drawing/2014/main" id="{6746A7D7-2010-0880-6184-3BFDE1B41EAF}"/>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テキスト ボックス 78">
            <a:extLst>
              <a:ext uri="{FF2B5EF4-FFF2-40B4-BE49-F238E27FC236}">
                <a16:creationId xmlns:a16="http://schemas.microsoft.com/office/drawing/2014/main" id="{CF29D212-ED3C-2FDA-B488-C6ECB543F765}"/>
              </a:ext>
            </a:extLst>
          </p:cNvPr>
          <p:cNvSpPr txBox="1"/>
          <p:nvPr/>
        </p:nvSpPr>
        <p:spPr>
          <a:xfrm>
            <a:off x="385370" y="120924"/>
            <a:ext cx="2031325" cy="461665"/>
          </a:xfrm>
          <a:prstGeom prst="rect">
            <a:avLst/>
          </a:prstGeom>
          <a:noFill/>
        </p:spPr>
        <p:txBody>
          <a:bodyPr wrap="none" rtlCol="0">
            <a:spAutoFit/>
          </a:bodyPr>
          <a:lstStyle/>
          <a:p>
            <a:r>
              <a:rPr lang="ja-JP" altLang="en-US" sz="2400" b="1">
                <a:solidFill>
                  <a:schemeClr val="bg1"/>
                </a:solidFill>
              </a:rPr>
              <a:t>線形判断分析</a:t>
            </a:r>
          </a:p>
        </p:txBody>
      </p:sp>
      <p:sp>
        <p:nvSpPr>
          <p:cNvPr id="2" name="テキスト ボックス 1">
            <a:extLst>
              <a:ext uri="{FF2B5EF4-FFF2-40B4-BE49-F238E27FC236}">
                <a16:creationId xmlns:a16="http://schemas.microsoft.com/office/drawing/2014/main" id="{80066B25-1F5B-E025-B278-AA4A0FED2617}"/>
              </a:ext>
            </a:extLst>
          </p:cNvPr>
          <p:cNvSpPr txBox="1"/>
          <p:nvPr/>
        </p:nvSpPr>
        <p:spPr>
          <a:xfrm>
            <a:off x="3805102" y="1828154"/>
            <a:ext cx="1338828" cy="369332"/>
          </a:xfrm>
          <a:prstGeom prst="rect">
            <a:avLst/>
          </a:prstGeom>
          <a:noFill/>
        </p:spPr>
        <p:txBody>
          <a:bodyPr wrap="none" rtlCol="0">
            <a:spAutoFit/>
          </a:bodyPr>
          <a:lstStyle/>
          <a:p>
            <a:r>
              <a:rPr kumimoji="1" lang="ja-JP" altLang="en-US"/>
              <a:t>第一主成分</a:t>
            </a:r>
          </a:p>
        </p:txBody>
      </p:sp>
    </p:spTree>
    <p:extLst>
      <p:ext uri="{BB962C8B-B14F-4D97-AF65-F5344CB8AC3E}">
        <p14:creationId xmlns:p14="http://schemas.microsoft.com/office/powerpoint/2010/main" val="2710365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グループ化 50">
            <a:extLst>
              <a:ext uri="{FF2B5EF4-FFF2-40B4-BE49-F238E27FC236}">
                <a16:creationId xmlns:a16="http://schemas.microsoft.com/office/drawing/2014/main" id="{FC04E49F-FC9A-7E7E-DD0F-D8DFCC4B9CBE}"/>
              </a:ext>
            </a:extLst>
          </p:cNvPr>
          <p:cNvGrpSpPr/>
          <p:nvPr/>
        </p:nvGrpSpPr>
        <p:grpSpPr>
          <a:xfrm>
            <a:off x="1039401" y="2057129"/>
            <a:ext cx="3600000" cy="3600000"/>
            <a:chOff x="1039401" y="2057129"/>
            <a:chExt cx="3600000" cy="3600000"/>
          </a:xfrm>
        </p:grpSpPr>
        <p:cxnSp>
          <p:nvCxnSpPr>
            <p:cNvPr id="52" name="直線矢印コネクタ 51">
              <a:extLst>
                <a:ext uri="{FF2B5EF4-FFF2-40B4-BE49-F238E27FC236}">
                  <a16:creationId xmlns:a16="http://schemas.microsoft.com/office/drawing/2014/main" id="{33415472-1B94-DC89-ED31-343738C6F4FD}"/>
                </a:ext>
              </a:extLst>
            </p:cNvPr>
            <p:cNvCxnSpPr>
              <a:cxnSpLocks/>
            </p:cNvCxnSpPr>
            <p:nvPr/>
          </p:nvCxnSpPr>
          <p:spPr>
            <a:xfrm flipV="1">
              <a:off x="1399401" y="2057129"/>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94DB1820-CD66-F5FC-1263-A04548BBD3EB}"/>
                </a:ext>
              </a:extLst>
            </p:cNvPr>
            <p:cNvCxnSpPr>
              <a:cxnSpLocks/>
            </p:cNvCxnSpPr>
            <p:nvPr/>
          </p:nvCxnSpPr>
          <p:spPr>
            <a:xfrm>
              <a:off x="1039401" y="5295168"/>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14" name="グループ化 13">
            <a:extLst>
              <a:ext uri="{FF2B5EF4-FFF2-40B4-BE49-F238E27FC236}">
                <a16:creationId xmlns:a16="http://schemas.microsoft.com/office/drawing/2014/main" id="{10A076A3-5F05-8F7D-EB8F-0043067B0653}"/>
              </a:ext>
            </a:extLst>
          </p:cNvPr>
          <p:cNvGrpSpPr/>
          <p:nvPr/>
        </p:nvGrpSpPr>
        <p:grpSpPr>
          <a:xfrm>
            <a:off x="1039401" y="-3833692"/>
            <a:ext cx="3600000" cy="3600000"/>
            <a:chOff x="1039401" y="-3833692"/>
            <a:chExt cx="3600000" cy="3600000"/>
          </a:xfrm>
        </p:grpSpPr>
        <p:cxnSp>
          <p:nvCxnSpPr>
            <p:cNvPr id="11" name="直線矢印コネクタ 10">
              <a:extLst>
                <a:ext uri="{FF2B5EF4-FFF2-40B4-BE49-F238E27FC236}">
                  <a16:creationId xmlns:a16="http://schemas.microsoft.com/office/drawing/2014/main" id="{037ED7D2-83E8-E0AE-2C4A-8B20F91AF81F}"/>
                </a:ext>
              </a:extLst>
            </p:cNvPr>
            <p:cNvCxnSpPr>
              <a:cxnSpLocks/>
            </p:cNvCxnSpPr>
            <p:nvPr/>
          </p:nvCxnSpPr>
          <p:spPr>
            <a:xfrm flipV="1">
              <a:off x="1399401" y="-3833692"/>
              <a:ext cx="0" cy="36000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0D32960-1661-15FC-E06C-90FEB07EB4B4}"/>
                </a:ext>
              </a:extLst>
            </p:cNvPr>
            <p:cNvCxnSpPr>
              <a:cxnSpLocks/>
            </p:cNvCxnSpPr>
            <p:nvPr/>
          </p:nvCxnSpPr>
          <p:spPr>
            <a:xfrm>
              <a:off x="1039401" y="-595653"/>
              <a:ext cx="36000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C9E11B82-4E4A-BA44-D9D0-85C1E532451C}"/>
                </a:ext>
              </a:extLst>
            </p:cNvPr>
            <p:cNvSpPr/>
            <p:nvPr/>
          </p:nvSpPr>
          <p:spPr>
            <a:xfrm>
              <a:off x="1039401" y="-593692"/>
              <a:ext cx="360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3" name="円/楕円 52">
            <a:extLst>
              <a:ext uri="{FF2B5EF4-FFF2-40B4-BE49-F238E27FC236}">
                <a16:creationId xmlns:a16="http://schemas.microsoft.com/office/drawing/2014/main" id="{B9FDDFD9-2875-39F3-F082-A2338ADDFD92}"/>
              </a:ext>
            </a:extLst>
          </p:cNvPr>
          <p:cNvSpPr/>
          <p:nvPr/>
        </p:nvSpPr>
        <p:spPr>
          <a:xfrm>
            <a:off x="712478" y="1411588"/>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b="1">
                <a:solidFill>
                  <a:schemeClr val="accent1">
                    <a:lumMod val="75000"/>
                  </a:schemeClr>
                </a:solidFill>
              </a:rPr>
              <a:t>３</a:t>
            </a:r>
            <a:endParaRPr kumimoji="1" lang="ja-JP" altLang="en-US" sz="2800" b="1">
              <a:solidFill>
                <a:schemeClr val="accent1">
                  <a:lumMod val="75000"/>
                </a:schemeClr>
              </a:solidFill>
            </a:endParaRPr>
          </a:p>
        </p:txBody>
      </p:sp>
      <p:sp>
        <p:nvSpPr>
          <p:cNvPr id="75" name="円/楕円 74">
            <a:extLst>
              <a:ext uri="{FF2B5EF4-FFF2-40B4-BE49-F238E27FC236}">
                <a16:creationId xmlns:a16="http://schemas.microsoft.com/office/drawing/2014/main" id="{8B74C565-9FEB-93B0-D0EF-4CEFB677CC7E}"/>
              </a:ext>
            </a:extLst>
          </p:cNvPr>
          <p:cNvSpPr/>
          <p:nvPr/>
        </p:nvSpPr>
        <p:spPr>
          <a:xfrm>
            <a:off x="6865676" y="1409195"/>
            <a:ext cx="653845" cy="653845"/>
          </a:xfrm>
          <a:prstGeom prst="ellipse">
            <a:avLst/>
          </a:prstGeom>
          <a:solidFill>
            <a:schemeClr val="bg1"/>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chemeClr val="accent1">
                    <a:lumMod val="75000"/>
                  </a:schemeClr>
                </a:solidFill>
              </a:rPr>
              <a:t>４</a:t>
            </a:r>
          </a:p>
        </p:txBody>
      </p:sp>
      <p:sp>
        <p:nvSpPr>
          <p:cNvPr id="94" name="テキスト ボックス 93">
            <a:extLst>
              <a:ext uri="{FF2B5EF4-FFF2-40B4-BE49-F238E27FC236}">
                <a16:creationId xmlns:a16="http://schemas.microsoft.com/office/drawing/2014/main" id="{54527122-9CD5-21BF-E43B-924EA3694006}"/>
              </a:ext>
            </a:extLst>
          </p:cNvPr>
          <p:cNvSpPr txBox="1"/>
          <p:nvPr/>
        </p:nvSpPr>
        <p:spPr>
          <a:xfrm>
            <a:off x="3720018" y="6042515"/>
            <a:ext cx="6494086" cy="523220"/>
          </a:xfrm>
          <a:prstGeom prst="rect">
            <a:avLst/>
          </a:prstGeom>
          <a:noFill/>
        </p:spPr>
        <p:txBody>
          <a:bodyPr wrap="none" rtlCol="0">
            <a:spAutoFit/>
          </a:bodyPr>
          <a:lstStyle/>
          <a:p>
            <a:pPr algn="ctr"/>
            <a:r>
              <a:rPr lang="ja-JP" altLang="en-US" sz="2800" b="1">
                <a:solidFill>
                  <a:schemeClr val="accent1">
                    <a:lumMod val="50000"/>
                  </a:schemeClr>
                </a:solidFill>
              </a:rPr>
              <a:t>どの軸を使うのが良いか</a:t>
            </a:r>
            <a:r>
              <a:rPr lang="en-US" altLang="ja-JP" sz="2800" b="1" dirty="0">
                <a:solidFill>
                  <a:schemeClr val="accent1">
                    <a:lumMod val="50000"/>
                  </a:schemeClr>
                </a:solidFill>
              </a:rPr>
              <a:t> </a:t>
            </a:r>
            <a:r>
              <a:rPr lang="ja-JP" altLang="en-US" sz="2800" b="1">
                <a:solidFill>
                  <a:schemeClr val="accent1">
                    <a:lumMod val="50000"/>
                  </a:schemeClr>
                </a:solidFill>
              </a:rPr>
              <a:t>→ 部分空間法</a:t>
            </a:r>
            <a:endParaRPr kumimoji="1" lang="ja-JP" altLang="en-US" sz="2800" b="1">
              <a:solidFill>
                <a:schemeClr val="accent1">
                  <a:lumMod val="50000"/>
                </a:schemeClr>
              </a:solidFill>
            </a:endParaRPr>
          </a:p>
        </p:txBody>
      </p:sp>
      <p:grpSp>
        <p:nvGrpSpPr>
          <p:cNvPr id="62" name="グループ化 61">
            <a:extLst>
              <a:ext uri="{FF2B5EF4-FFF2-40B4-BE49-F238E27FC236}">
                <a16:creationId xmlns:a16="http://schemas.microsoft.com/office/drawing/2014/main" id="{02623F2F-812C-03A9-FE7D-66E0AC21ED43}"/>
              </a:ext>
            </a:extLst>
          </p:cNvPr>
          <p:cNvGrpSpPr/>
          <p:nvPr/>
        </p:nvGrpSpPr>
        <p:grpSpPr>
          <a:xfrm>
            <a:off x="1724206" y="2793091"/>
            <a:ext cx="2588658" cy="1986592"/>
            <a:chOff x="1551227" y="2666503"/>
            <a:chExt cx="2588658" cy="1986592"/>
          </a:xfrm>
        </p:grpSpPr>
        <p:sp>
          <p:nvSpPr>
            <p:cNvPr id="63" name="円/楕円 62">
              <a:extLst>
                <a:ext uri="{FF2B5EF4-FFF2-40B4-BE49-F238E27FC236}">
                  <a16:creationId xmlns:a16="http://schemas.microsoft.com/office/drawing/2014/main" id="{98BEC46D-FCCE-B8B1-3C9F-ECAB62EFDC15}"/>
                </a:ext>
              </a:extLst>
            </p:cNvPr>
            <p:cNvSpPr/>
            <p:nvPr/>
          </p:nvSpPr>
          <p:spPr>
            <a:xfrm>
              <a:off x="2155537" y="28206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円/楕円 63">
              <a:extLst>
                <a:ext uri="{FF2B5EF4-FFF2-40B4-BE49-F238E27FC236}">
                  <a16:creationId xmlns:a16="http://schemas.microsoft.com/office/drawing/2014/main" id="{209C2915-1B82-AE2F-43F5-9090BD2AA531}"/>
                </a:ext>
              </a:extLst>
            </p:cNvPr>
            <p:cNvSpPr/>
            <p:nvPr/>
          </p:nvSpPr>
          <p:spPr>
            <a:xfrm>
              <a:off x="1551227" y="359337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円/楕円 64">
              <a:extLst>
                <a:ext uri="{FF2B5EF4-FFF2-40B4-BE49-F238E27FC236}">
                  <a16:creationId xmlns:a16="http://schemas.microsoft.com/office/drawing/2014/main" id="{7F409A00-1F81-A0D1-8CF5-12E09F01AFF8}"/>
                </a:ext>
              </a:extLst>
            </p:cNvPr>
            <p:cNvSpPr/>
            <p:nvPr/>
          </p:nvSpPr>
          <p:spPr>
            <a:xfrm>
              <a:off x="1662374" y="312569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円/楕円 65">
              <a:extLst>
                <a:ext uri="{FF2B5EF4-FFF2-40B4-BE49-F238E27FC236}">
                  <a16:creationId xmlns:a16="http://schemas.microsoft.com/office/drawing/2014/main" id="{8A2B9EA7-0AB4-F768-D948-5822543BD1C5}"/>
                </a:ext>
              </a:extLst>
            </p:cNvPr>
            <p:cNvSpPr/>
            <p:nvPr/>
          </p:nvSpPr>
          <p:spPr>
            <a:xfrm>
              <a:off x="1816454" y="3328774"/>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楕円 66">
              <a:extLst>
                <a:ext uri="{FF2B5EF4-FFF2-40B4-BE49-F238E27FC236}">
                  <a16:creationId xmlns:a16="http://schemas.microsoft.com/office/drawing/2014/main" id="{EDE20A42-AE81-5ECC-748C-433E6EF15964}"/>
                </a:ext>
              </a:extLst>
            </p:cNvPr>
            <p:cNvSpPr/>
            <p:nvPr/>
          </p:nvSpPr>
          <p:spPr>
            <a:xfrm>
              <a:off x="1842848" y="307956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円/楕円 67">
              <a:extLst>
                <a:ext uri="{FF2B5EF4-FFF2-40B4-BE49-F238E27FC236}">
                  <a16:creationId xmlns:a16="http://schemas.microsoft.com/office/drawing/2014/main" id="{3C3F1BFC-725A-DA12-4EDE-76CF45C292A2}"/>
                </a:ext>
              </a:extLst>
            </p:cNvPr>
            <p:cNvSpPr/>
            <p:nvPr/>
          </p:nvSpPr>
          <p:spPr>
            <a:xfrm>
              <a:off x="3002718" y="393402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円/楕円 68">
              <a:extLst>
                <a:ext uri="{FF2B5EF4-FFF2-40B4-BE49-F238E27FC236}">
                  <a16:creationId xmlns:a16="http://schemas.microsoft.com/office/drawing/2014/main" id="{75A8F81E-2754-ECA9-DF68-DAFEABE15C25}"/>
                </a:ext>
              </a:extLst>
            </p:cNvPr>
            <p:cNvSpPr/>
            <p:nvPr/>
          </p:nvSpPr>
          <p:spPr>
            <a:xfrm>
              <a:off x="3451649" y="3631422"/>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円/楕円 69">
              <a:extLst>
                <a:ext uri="{FF2B5EF4-FFF2-40B4-BE49-F238E27FC236}">
                  <a16:creationId xmlns:a16="http://schemas.microsoft.com/office/drawing/2014/main" id="{F3EC57F2-A279-7C09-62C9-7D014D1DCC55}"/>
                </a:ext>
              </a:extLst>
            </p:cNvPr>
            <p:cNvSpPr/>
            <p:nvPr/>
          </p:nvSpPr>
          <p:spPr>
            <a:xfrm>
              <a:off x="2660815" y="266650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円/楕円 75">
              <a:extLst>
                <a:ext uri="{FF2B5EF4-FFF2-40B4-BE49-F238E27FC236}">
                  <a16:creationId xmlns:a16="http://schemas.microsoft.com/office/drawing/2014/main" id="{944F860D-0445-E9C8-306F-00E439108262}"/>
                </a:ext>
              </a:extLst>
            </p:cNvPr>
            <p:cNvSpPr/>
            <p:nvPr/>
          </p:nvSpPr>
          <p:spPr>
            <a:xfrm>
              <a:off x="3387240" y="325683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円/楕円 76">
              <a:extLst>
                <a:ext uri="{FF2B5EF4-FFF2-40B4-BE49-F238E27FC236}">
                  <a16:creationId xmlns:a16="http://schemas.microsoft.com/office/drawing/2014/main" id="{61EBDF6F-53DA-7E8F-9F41-68410EE44CBB}"/>
                </a:ext>
              </a:extLst>
            </p:cNvPr>
            <p:cNvSpPr/>
            <p:nvPr/>
          </p:nvSpPr>
          <p:spPr>
            <a:xfrm>
              <a:off x="2584203" y="4472621"/>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円/楕円 77">
              <a:extLst>
                <a:ext uri="{FF2B5EF4-FFF2-40B4-BE49-F238E27FC236}">
                  <a16:creationId xmlns:a16="http://schemas.microsoft.com/office/drawing/2014/main" id="{1C951E7A-CC2C-0C1B-8BBC-306BBF9A309F}"/>
                </a:ext>
              </a:extLst>
            </p:cNvPr>
            <p:cNvSpPr/>
            <p:nvPr/>
          </p:nvSpPr>
          <p:spPr>
            <a:xfrm>
              <a:off x="3328561" y="394319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円/楕円 101">
              <a:extLst>
                <a:ext uri="{FF2B5EF4-FFF2-40B4-BE49-F238E27FC236}">
                  <a16:creationId xmlns:a16="http://schemas.microsoft.com/office/drawing/2014/main" id="{50FD80B7-3415-5294-4CBB-81875141F667}"/>
                </a:ext>
              </a:extLst>
            </p:cNvPr>
            <p:cNvSpPr/>
            <p:nvPr/>
          </p:nvSpPr>
          <p:spPr>
            <a:xfrm>
              <a:off x="3703800" y="3585529"/>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円/楕円 102">
              <a:extLst>
                <a:ext uri="{FF2B5EF4-FFF2-40B4-BE49-F238E27FC236}">
                  <a16:creationId xmlns:a16="http://schemas.microsoft.com/office/drawing/2014/main" id="{940EC002-BC36-8861-1ABF-459E1ADAC3B6}"/>
                </a:ext>
              </a:extLst>
            </p:cNvPr>
            <p:cNvSpPr/>
            <p:nvPr/>
          </p:nvSpPr>
          <p:spPr>
            <a:xfrm>
              <a:off x="3162565" y="4314460"/>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円/楕円 103">
              <a:extLst>
                <a:ext uri="{FF2B5EF4-FFF2-40B4-BE49-F238E27FC236}">
                  <a16:creationId xmlns:a16="http://schemas.microsoft.com/office/drawing/2014/main" id="{804643AF-012E-739A-2C71-7122681A4A1C}"/>
                </a:ext>
              </a:extLst>
            </p:cNvPr>
            <p:cNvSpPr/>
            <p:nvPr/>
          </p:nvSpPr>
          <p:spPr>
            <a:xfrm>
              <a:off x="3959411" y="3256833"/>
              <a:ext cx="180474" cy="1804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05" name="直線矢印コネクタ 104">
            <a:extLst>
              <a:ext uri="{FF2B5EF4-FFF2-40B4-BE49-F238E27FC236}">
                <a16:creationId xmlns:a16="http://schemas.microsoft.com/office/drawing/2014/main" id="{2512D58D-685A-F4E2-4D10-878921396992}"/>
              </a:ext>
            </a:extLst>
          </p:cNvPr>
          <p:cNvCxnSpPr>
            <a:cxnSpLocks/>
          </p:cNvCxnSpPr>
          <p:nvPr/>
        </p:nvCxnSpPr>
        <p:spPr>
          <a:xfrm>
            <a:off x="900613" y="4069787"/>
            <a:ext cx="2275084" cy="1587342"/>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 name="フリーフォーム 5">
            <a:extLst>
              <a:ext uri="{FF2B5EF4-FFF2-40B4-BE49-F238E27FC236}">
                <a16:creationId xmlns:a16="http://schemas.microsoft.com/office/drawing/2014/main" id="{C2035DC7-9171-9D5C-9F91-EB12E76FCAE4}"/>
              </a:ext>
            </a:extLst>
          </p:cNvPr>
          <p:cNvSpPr/>
          <p:nvPr/>
        </p:nvSpPr>
        <p:spPr>
          <a:xfrm>
            <a:off x="1041304" y="3526187"/>
            <a:ext cx="2754897" cy="1913316"/>
          </a:xfrm>
          <a:custGeom>
            <a:avLst/>
            <a:gdLst>
              <a:gd name="connsiteX0" fmla="*/ 0 w 2754897"/>
              <a:gd name="connsiteY0" fmla="*/ 397033 h 1913316"/>
              <a:gd name="connsiteX1" fmla="*/ 254643 w 2754897"/>
              <a:gd name="connsiteY1" fmla="*/ 524354 h 1913316"/>
              <a:gd name="connsiteX2" fmla="*/ 868101 w 2754897"/>
              <a:gd name="connsiteY2" fmla="*/ 3493 h 1913316"/>
              <a:gd name="connsiteX3" fmla="*/ 879676 w 2754897"/>
              <a:gd name="connsiteY3" fmla="*/ 825296 h 1913316"/>
              <a:gd name="connsiteX4" fmla="*/ 1574157 w 2754897"/>
              <a:gd name="connsiteY4" fmla="*/ 1299858 h 1913316"/>
              <a:gd name="connsiteX5" fmla="*/ 2129742 w 2754897"/>
              <a:gd name="connsiteY5" fmla="*/ 860020 h 1913316"/>
              <a:gd name="connsiteX6" fmla="*/ 2754774 w 2754897"/>
              <a:gd name="connsiteY6" fmla="*/ 454906 h 1913316"/>
              <a:gd name="connsiteX7" fmla="*/ 2187615 w 2754897"/>
              <a:gd name="connsiteY7" fmla="*/ 1612374 h 1913316"/>
              <a:gd name="connsiteX8" fmla="*/ 2650602 w 2754897"/>
              <a:gd name="connsiteY8" fmla="*/ 1913316 h 1913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4897" h="1913316">
                <a:moveTo>
                  <a:pt x="0" y="397033"/>
                </a:moveTo>
                <a:cubicBezTo>
                  <a:pt x="54980" y="493488"/>
                  <a:pt x="109960" y="589944"/>
                  <a:pt x="254643" y="524354"/>
                </a:cubicBezTo>
                <a:cubicBezTo>
                  <a:pt x="399327" y="458764"/>
                  <a:pt x="763929" y="-46664"/>
                  <a:pt x="868101" y="3493"/>
                </a:cubicBezTo>
                <a:cubicBezTo>
                  <a:pt x="972273" y="53650"/>
                  <a:pt x="762000" y="609235"/>
                  <a:pt x="879676" y="825296"/>
                </a:cubicBezTo>
                <a:cubicBezTo>
                  <a:pt x="997352" y="1041357"/>
                  <a:pt x="1365813" y="1294071"/>
                  <a:pt x="1574157" y="1299858"/>
                </a:cubicBezTo>
                <a:cubicBezTo>
                  <a:pt x="1782501" y="1305645"/>
                  <a:pt x="1932973" y="1000845"/>
                  <a:pt x="2129742" y="860020"/>
                </a:cubicBezTo>
                <a:cubicBezTo>
                  <a:pt x="2326511" y="719195"/>
                  <a:pt x="2745129" y="329514"/>
                  <a:pt x="2754774" y="454906"/>
                </a:cubicBezTo>
                <a:cubicBezTo>
                  <a:pt x="2764420" y="580298"/>
                  <a:pt x="2204977" y="1369306"/>
                  <a:pt x="2187615" y="1612374"/>
                </a:cubicBezTo>
                <a:cubicBezTo>
                  <a:pt x="2170253" y="1855442"/>
                  <a:pt x="2410427" y="1884379"/>
                  <a:pt x="2650602" y="1913316"/>
                </a:cubicBezTo>
              </a:path>
            </a:pathLst>
          </a:cu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 name="直線矢印コネクタ 105">
            <a:extLst>
              <a:ext uri="{FF2B5EF4-FFF2-40B4-BE49-F238E27FC236}">
                <a16:creationId xmlns:a16="http://schemas.microsoft.com/office/drawing/2014/main" id="{FCB4F03A-E32A-8A03-31D9-7CBD52B6EF64}"/>
              </a:ext>
            </a:extLst>
          </p:cNvPr>
          <p:cNvCxnSpPr>
            <a:cxnSpLocks/>
          </p:cNvCxnSpPr>
          <p:nvPr/>
        </p:nvCxnSpPr>
        <p:spPr>
          <a:xfrm>
            <a:off x="7614909" y="3671291"/>
            <a:ext cx="2484760" cy="1434686"/>
          </a:xfrm>
          <a:prstGeom prst="straightConnector1">
            <a:avLst/>
          </a:prstGeom>
          <a:ln w="635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7" name="フリーフォーム 106">
            <a:extLst>
              <a:ext uri="{FF2B5EF4-FFF2-40B4-BE49-F238E27FC236}">
                <a16:creationId xmlns:a16="http://schemas.microsoft.com/office/drawing/2014/main" id="{FE9D4BE0-F9BF-1E96-5DC6-23034F11B160}"/>
              </a:ext>
            </a:extLst>
          </p:cNvPr>
          <p:cNvSpPr/>
          <p:nvPr/>
        </p:nvSpPr>
        <p:spPr>
          <a:xfrm>
            <a:off x="7755600" y="3127691"/>
            <a:ext cx="2754897" cy="1913316"/>
          </a:xfrm>
          <a:custGeom>
            <a:avLst/>
            <a:gdLst>
              <a:gd name="connsiteX0" fmla="*/ 0 w 2754897"/>
              <a:gd name="connsiteY0" fmla="*/ 397033 h 1913316"/>
              <a:gd name="connsiteX1" fmla="*/ 254643 w 2754897"/>
              <a:gd name="connsiteY1" fmla="*/ 524354 h 1913316"/>
              <a:gd name="connsiteX2" fmla="*/ 868101 w 2754897"/>
              <a:gd name="connsiteY2" fmla="*/ 3493 h 1913316"/>
              <a:gd name="connsiteX3" fmla="*/ 879676 w 2754897"/>
              <a:gd name="connsiteY3" fmla="*/ 825296 h 1913316"/>
              <a:gd name="connsiteX4" fmla="*/ 1574157 w 2754897"/>
              <a:gd name="connsiteY4" fmla="*/ 1299858 h 1913316"/>
              <a:gd name="connsiteX5" fmla="*/ 2129742 w 2754897"/>
              <a:gd name="connsiteY5" fmla="*/ 860020 h 1913316"/>
              <a:gd name="connsiteX6" fmla="*/ 2754774 w 2754897"/>
              <a:gd name="connsiteY6" fmla="*/ 454906 h 1913316"/>
              <a:gd name="connsiteX7" fmla="*/ 2187615 w 2754897"/>
              <a:gd name="connsiteY7" fmla="*/ 1612374 h 1913316"/>
              <a:gd name="connsiteX8" fmla="*/ 2650602 w 2754897"/>
              <a:gd name="connsiteY8" fmla="*/ 1913316 h 1913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4897" h="1913316">
                <a:moveTo>
                  <a:pt x="0" y="397033"/>
                </a:moveTo>
                <a:cubicBezTo>
                  <a:pt x="54980" y="493488"/>
                  <a:pt x="109960" y="589944"/>
                  <a:pt x="254643" y="524354"/>
                </a:cubicBezTo>
                <a:cubicBezTo>
                  <a:pt x="399327" y="458764"/>
                  <a:pt x="763929" y="-46664"/>
                  <a:pt x="868101" y="3493"/>
                </a:cubicBezTo>
                <a:cubicBezTo>
                  <a:pt x="972273" y="53650"/>
                  <a:pt x="762000" y="609235"/>
                  <a:pt x="879676" y="825296"/>
                </a:cubicBezTo>
                <a:cubicBezTo>
                  <a:pt x="997352" y="1041357"/>
                  <a:pt x="1365813" y="1294071"/>
                  <a:pt x="1574157" y="1299858"/>
                </a:cubicBezTo>
                <a:cubicBezTo>
                  <a:pt x="1782501" y="1305645"/>
                  <a:pt x="1932973" y="1000845"/>
                  <a:pt x="2129742" y="860020"/>
                </a:cubicBezTo>
                <a:cubicBezTo>
                  <a:pt x="2326511" y="719195"/>
                  <a:pt x="2745129" y="329514"/>
                  <a:pt x="2754774" y="454906"/>
                </a:cubicBezTo>
                <a:cubicBezTo>
                  <a:pt x="2764420" y="580298"/>
                  <a:pt x="2204977" y="1369306"/>
                  <a:pt x="2187615" y="1612374"/>
                </a:cubicBezTo>
                <a:cubicBezTo>
                  <a:pt x="2170253" y="1855442"/>
                  <a:pt x="2410427" y="1884379"/>
                  <a:pt x="2650602" y="1913316"/>
                </a:cubicBezTo>
              </a:path>
            </a:pathLst>
          </a:cu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51906C10-B461-10B3-DA4A-F6E5725F7032}"/>
              </a:ext>
            </a:extLst>
          </p:cNvPr>
          <p:cNvSpPr txBox="1"/>
          <p:nvPr/>
        </p:nvSpPr>
        <p:spPr>
          <a:xfrm>
            <a:off x="8012228" y="2547107"/>
            <a:ext cx="1120820" cy="400110"/>
          </a:xfrm>
          <a:prstGeom prst="rect">
            <a:avLst/>
          </a:prstGeom>
          <a:noFill/>
        </p:spPr>
        <p:txBody>
          <a:bodyPr wrap="none" rtlCol="0">
            <a:spAutoFit/>
          </a:bodyPr>
          <a:lstStyle/>
          <a:p>
            <a:r>
              <a:rPr kumimoji="1" lang="ja-JP" altLang="en-US" sz="2000" b="1">
                <a:solidFill>
                  <a:schemeClr val="accent1">
                    <a:lumMod val="50000"/>
                  </a:schemeClr>
                </a:solidFill>
              </a:rPr>
              <a:t>クラス</a:t>
            </a:r>
            <a:r>
              <a:rPr kumimoji="1" lang="en-US" altLang="ja-JP" sz="2000" b="1" dirty="0">
                <a:solidFill>
                  <a:schemeClr val="accent1">
                    <a:lumMod val="50000"/>
                  </a:schemeClr>
                </a:solidFill>
              </a:rPr>
              <a:t>A</a:t>
            </a:r>
            <a:endParaRPr kumimoji="1" lang="ja-JP" altLang="en-US" sz="2000" b="1">
              <a:solidFill>
                <a:schemeClr val="accent1">
                  <a:lumMod val="50000"/>
                </a:schemeClr>
              </a:solidFill>
            </a:endParaRPr>
          </a:p>
        </p:txBody>
      </p:sp>
      <p:sp>
        <p:nvSpPr>
          <p:cNvPr id="9" name="テキスト ボックス 8">
            <a:extLst>
              <a:ext uri="{FF2B5EF4-FFF2-40B4-BE49-F238E27FC236}">
                <a16:creationId xmlns:a16="http://schemas.microsoft.com/office/drawing/2014/main" id="{38320512-9200-2D7D-98F1-35F4B383BAFD}"/>
              </a:ext>
            </a:extLst>
          </p:cNvPr>
          <p:cNvSpPr txBox="1"/>
          <p:nvPr/>
        </p:nvSpPr>
        <p:spPr>
          <a:xfrm>
            <a:off x="9993368" y="3048094"/>
            <a:ext cx="1135247" cy="400110"/>
          </a:xfrm>
          <a:prstGeom prst="rect">
            <a:avLst/>
          </a:prstGeom>
          <a:noFill/>
        </p:spPr>
        <p:txBody>
          <a:bodyPr wrap="none" rtlCol="0">
            <a:spAutoFit/>
          </a:bodyPr>
          <a:lstStyle/>
          <a:p>
            <a:r>
              <a:rPr kumimoji="1" lang="ja-JP" altLang="en-US" sz="2000" b="1">
                <a:solidFill>
                  <a:schemeClr val="accent1">
                    <a:lumMod val="50000"/>
                  </a:schemeClr>
                </a:solidFill>
              </a:rPr>
              <a:t>クラス</a:t>
            </a:r>
            <a:r>
              <a:rPr kumimoji="1" lang="en-US" altLang="ja-JP" sz="2000" b="1" dirty="0">
                <a:solidFill>
                  <a:schemeClr val="accent1">
                    <a:lumMod val="50000"/>
                  </a:schemeClr>
                </a:solidFill>
              </a:rPr>
              <a:t>B</a:t>
            </a:r>
            <a:endParaRPr kumimoji="1" lang="ja-JP" altLang="en-US" sz="2000" b="1">
              <a:solidFill>
                <a:schemeClr val="accent1">
                  <a:lumMod val="50000"/>
                </a:schemeClr>
              </a:solidFill>
            </a:endParaRPr>
          </a:p>
        </p:txBody>
      </p:sp>
      <p:sp>
        <p:nvSpPr>
          <p:cNvPr id="34" name="正方形/長方形 33">
            <a:extLst>
              <a:ext uri="{FF2B5EF4-FFF2-40B4-BE49-F238E27FC236}">
                <a16:creationId xmlns:a16="http://schemas.microsoft.com/office/drawing/2014/main" id="{AB4338AA-C8E8-A7DD-C295-545676DF101F}"/>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96CA8C8-3193-E409-53B1-96C69BA9F4D5}"/>
              </a:ext>
            </a:extLst>
          </p:cNvPr>
          <p:cNvSpPr txBox="1"/>
          <p:nvPr/>
        </p:nvSpPr>
        <p:spPr>
          <a:xfrm>
            <a:off x="385370" y="120924"/>
            <a:ext cx="7072770" cy="461665"/>
          </a:xfrm>
          <a:prstGeom prst="rect">
            <a:avLst/>
          </a:prstGeom>
          <a:noFill/>
        </p:spPr>
        <p:txBody>
          <a:bodyPr wrap="none" rtlCol="0">
            <a:spAutoFit/>
          </a:bodyPr>
          <a:lstStyle/>
          <a:p>
            <a:r>
              <a:rPr lang="ja-JP" altLang="en-US" sz="2400" b="1">
                <a:solidFill>
                  <a:schemeClr val="bg1"/>
                </a:solidFill>
              </a:rPr>
              <a:t>線形判断分析：クラスを識別できる基底の求め方</a:t>
            </a:r>
          </a:p>
        </p:txBody>
      </p:sp>
      <p:cxnSp>
        <p:nvCxnSpPr>
          <p:cNvPr id="2" name="直線コネクタ 1">
            <a:extLst>
              <a:ext uri="{FF2B5EF4-FFF2-40B4-BE49-F238E27FC236}">
                <a16:creationId xmlns:a16="http://schemas.microsoft.com/office/drawing/2014/main" id="{12FAE413-955F-CCF3-461F-54AE81FA5E90}"/>
              </a:ext>
            </a:extLst>
          </p:cNvPr>
          <p:cNvCxnSpPr>
            <a:cxnSpLocks/>
          </p:cNvCxnSpPr>
          <p:nvPr/>
        </p:nvCxnSpPr>
        <p:spPr>
          <a:xfrm flipH="1">
            <a:off x="1654507" y="2391211"/>
            <a:ext cx="2408184" cy="2798722"/>
          </a:xfrm>
          <a:prstGeom prst="line">
            <a:avLst/>
          </a:prstGeom>
          <a:ln w="635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1DCA37CE-5556-2C11-1C49-0E1E0F8AFEA6}"/>
              </a:ext>
            </a:extLst>
          </p:cNvPr>
          <p:cNvSpPr txBox="1"/>
          <p:nvPr/>
        </p:nvSpPr>
        <p:spPr>
          <a:xfrm>
            <a:off x="3805102" y="1828154"/>
            <a:ext cx="1338828" cy="369332"/>
          </a:xfrm>
          <a:prstGeom prst="rect">
            <a:avLst/>
          </a:prstGeom>
          <a:noFill/>
        </p:spPr>
        <p:txBody>
          <a:bodyPr wrap="none" rtlCol="0">
            <a:spAutoFit/>
          </a:bodyPr>
          <a:lstStyle/>
          <a:p>
            <a:r>
              <a:rPr kumimoji="1" lang="ja-JP" altLang="en-US"/>
              <a:t>第一主成分</a:t>
            </a:r>
          </a:p>
        </p:txBody>
      </p:sp>
      <p:sp>
        <p:nvSpPr>
          <p:cNvPr id="5" name="テキスト ボックス 4">
            <a:extLst>
              <a:ext uri="{FF2B5EF4-FFF2-40B4-BE49-F238E27FC236}">
                <a16:creationId xmlns:a16="http://schemas.microsoft.com/office/drawing/2014/main" id="{4BCE7BE2-40D9-2405-758A-AA8A45AEF461}"/>
              </a:ext>
            </a:extLst>
          </p:cNvPr>
          <p:cNvSpPr txBox="1"/>
          <p:nvPr/>
        </p:nvSpPr>
        <p:spPr>
          <a:xfrm>
            <a:off x="2315515" y="5824967"/>
            <a:ext cx="1338828" cy="369332"/>
          </a:xfrm>
          <a:prstGeom prst="rect">
            <a:avLst/>
          </a:prstGeom>
          <a:noFill/>
        </p:spPr>
        <p:txBody>
          <a:bodyPr wrap="none" rtlCol="0">
            <a:spAutoFit/>
          </a:bodyPr>
          <a:lstStyle/>
          <a:p>
            <a:r>
              <a:rPr kumimoji="1" lang="ja-JP" altLang="en-US"/>
              <a:t>第二主成分</a:t>
            </a:r>
          </a:p>
        </p:txBody>
      </p:sp>
      <p:sp>
        <p:nvSpPr>
          <p:cNvPr id="8" name="テキスト ボックス 7">
            <a:extLst>
              <a:ext uri="{FF2B5EF4-FFF2-40B4-BE49-F238E27FC236}">
                <a16:creationId xmlns:a16="http://schemas.microsoft.com/office/drawing/2014/main" id="{65618B5A-0FC4-164C-F0DF-9E7FC3B7B8C2}"/>
              </a:ext>
            </a:extLst>
          </p:cNvPr>
          <p:cNvSpPr txBox="1"/>
          <p:nvPr/>
        </p:nvSpPr>
        <p:spPr>
          <a:xfrm>
            <a:off x="9615966" y="5308773"/>
            <a:ext cx="1338828" cy="369332"/>
          </a:xfrm>
          <a:prstGeom prst="rect">
            <a:avLst/>
          </a:prstGeom>
          <a:noFill/>
        </p:spPr>
        <p:txBody>
          <a:bodyPr wrap="none" rtlCol="0">
            <a:spAutoFit/>
          </a:bodyPr>
          <a:lstStyle/>
          <a:p>
            <a:r>
              <a:rPr kumimoji="1" lang="ja-JP" altLang="en-US"/>
              <a:t>第二主成分</a:t>
            </a:r>
          </a:p>
        </p:txBody>
      </p:sp>
    </p:spTree>
    <p:extLst>
      <p:ext uri="{BB962C8B-B14F-4D97-AF65-F5344CB8AC3E}">
        <p14:creationId xmlns:p14="http://schemas.microsoft.com/office/powerpoint/2010/main" val="1587093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B441E656-E4D6-0590-C391-9666B5C2CB2A}"/>
              </a:ext>
            </a:extLst>
          </p:cNvPr>
          <p:cNvSpPr txBox="1"/>
          <p:nvPr/>
        </p:nvSpPr>
        <p:spPr>
          <a:xfrm>
            <a:off x="856526" y="1318611"/>
            <a:ext cx="10187404" cy="707886"/>
          </a:xfrm>
          <a:prstGeom prst="rect">
            <a:avLst/>
          </a:prstGeom>
          <a:noFill/>
        </p:spPr>
        <p:txBody>
          <a:bodyPr wrap="none" rtlCol="0">
            <a:spAutoFit/>
          </a:bodyPr>
          <a:lstStyle/>
          <a:p>
            <a:r>
              <a:rPr lang="ja-JP" altLang="en-US" sz="2000" b="1">
                <a:solidFill>
                  <a:schemeClr val="accent1">
                    <a:lumMod val="50000"/>
                  </a:schemeClr>
                </a:solidFill>
                <a:latin typeface="+mn-ea"/>
              </a:rPr>
              <a:t>部分空間法とは、データの全体のベクトル空間を識別クラスごとの部分空間に分けて、</a:t>
            </a:r>
            <a:endParaRPr lang="en-US" altLang="ja-JP" sz="2000" b="1" dirty="0">
              <a:solidFill>
                <a:schemeClr val="accent1">
                  <a:lumMod val="50000"/>
                </a:schemeClr>
              </a:solidFill>
              <a:latin typeface="+mn-ea"/>
            </a:endParaRPr>
          </a:p>
          <a:p>
            <a:r>
              <a:rPr lang="ja-JP" altLang="en-US" sz="2000" b="1">
                <a:solidFill>
                  <a:schemeClr val="accent1">
                    <a:lumMod val="50000"/>
                  </a:schemeClr>
                </a:solidFill>
                <a:latin typeface="+mn-ea"/>
              </a:rPr>
              <a:t>その部分空間への射影の大きさを比較することでクラス分類をする手法</a:t>
            </a:r>
            <a:endParaRPr kumimoji="1" lang="ja-JP" altLang="en-US" sz="2000">
              <a:solidFill>
                <a:schemeClr val="accent1">
                  <a:lumMod val="50000"/>
                </a:schemeClr>
              </a:solidFill>
              <a:latin typeface="+mn-ea"/>
            </a:endParaRPr>
          </a:p>
        </p:txBody>
      </p:sp>
      <p:pic>
        <p:nvPicPr>
          <p:cNvPr id="9" name="図 8" descr="グラフ&#10;&#10;自動的に生成された説明">
            <a:extLst>
              <a:ext uri="{FF2B5EF4-FFF2-40B4-BE49-F238E27FC236}">
                <a16:creationId xmlns:a16="http://schemas.microsoft.com/office/drawing/2014/main" id="{D384923A-07B5-8793-0070-015FAA6FC894}"/>
              </a:ext>
            </a:extLst>
          </p:cNvPr>
          <p:cNvPicPr>
            <a:picLocks noChangeAspect="1"/>
          </p:cNvPicPr>
          <p:nvPr/>
        </p:nvPicPr>
        <p:blipFill>
          <a:blip r:embed="rId2"/>
          <a:stretch>
            <a:fillRect/>
          </a:stretch>
        </p:blipFill>
        <p:spPr>
          <a:xfrm>
            <a:off x="2334768" y="2026497"/>
            <a:ext cx="7522464" cy="4701540"/>
          </a:xfrm>
          <a:prstGeom prst="rect">
            <a:avLst/>
          </a:prstGeom>
        </p:spPr>
      </p:pic>
      <p:sp>
        <p:nvSpPr>
          <p:cNvPr id="5" name="正方形/長方形 4">
            <a:extLst>
              <a:ext uri="{FF2B5EF4-FFF2-40B4-BE49-F238E27FC236}">
                <a16:creationId xmlns:a16="http://schemas.microsoft.com/office/drawing/2014/main" id="{B8367618-0618-F221-C088-3C13FB711B1F}"/>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08B4A3B7-9DD9-078B-416A-7096347FF903}"/>
              </a:ext>
            </a:extLst>
          </p:cNvPr>
          <p:cNvSpPr txBox="1"/>
          <p:nvPr/>
        </p:nvSpPr>
        <p:spPr>
          <a:xfrm>
            <a:off x="385370" y="120924"/>
            <a:ext cx="1723549" cy="461665"/>
          </a:xfrm>
          <a:prstGeom prst="rect">
            <a:avLst/>
          </a:prstGeom>
          <a:noFill/>
        </p:spPr>
        <p:txBody>
          <a:bodyPr wrap="none" rtlCol="0">
            <a:spAutoFit/>
          </a:bodyPr>
          <a:lstStyle/>
          <a:p>
            <a:r>
              <a:rPr lang="ja-JP" altLang="en-US" sz="2400" b="1">
                <a:solidFill>
                  <a:schemeClr val="bg1"/>
                </a:solidFill>
              </a:rPr>
              <a:t>部分空間法</a:t>
            </a:r>
          </a:p>
        </p:txBody>
      </p:sp>
    </p:spTree>
    <p:extLst>
      <p:ext uri="{BB962C8B-B14F-4D97-AF65-F5344CB8AC3E}">
        <p14:creationId xmlns:p14="http://schemas.microsoft.com/office/powerpoint/2010/main" val="2453868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グラフ&#10;&#10;自動的に生成された説明">
            <a:extLst>
              <a:ext uri="{FF2B5EF4-FFF2-40B4-BE49-F238E27FC236}">
                <a16:creationId xmlns:a16="http://schemas.microsoft.com/office/drawing/2014/main" id="{D384923A-07B5-8793-0070-015FAA6FC894}"/>
              </a:ext>
            </a:extLst>
          </p:cNvPr>
          <p:cNvPicPr>
            <a:picLocks noChangeAspect="1"/>
          </p:cNvPicPr>
          <p:nvPr/>
        </p:nvPicPr>
        <p:blipFill>
          <a:blip r:embed="rId2"/>
          <a:stretch>
            <a:fillRect/>
          </a:stretch>
        </p:blipFill>
        <p:spPr>
          <a:xfrm>
            <a:off x="3783216" y="1043066"/>
            <a:ext cx="9702556" cy="6064098"/>
          </a:xfrm>
          <a:prstGeom prst="rect">
            <a:avLst/>
          </a:prstGeom>
        </p:spPr>
      </p:pic>
      <p:sp>
        <p:nvSpPr>
          <p:cNvPr id="5" name="テキスト ボックス 4">
            <a:extLst>
              <a:ext uri="{FF2B5EF4-FFF2-40B4-BE49-F238E27FC236}">
                <a16:creationId xmlns:a16="http://schemas.microsoft.com/office/drawing/2014/main" id="{0DB1EE63-DC56-AAD8-FD1B-AAE994F6A12B}"/>
              </a:ext>
            </a:extLst>
          </p:cNvPr>
          <p:cNvSpPr txBox="1"/>
          <p:nvPr/>
        </p:nvSpPr>
        <p:spPr>
          <a:xfrm>
            <a:off x="929530" y="2675682"/>
            <a:ext cx="4288353" cy="707886"/>
          </a:xfrm>
          <a:prstGeom prst="rect">
            <a:avLst/>
          </a:prstGeom>
          <a:noFill/>
        </p:spPr>
        <p:txBody>
          <a:bodyPr wrap="none" rtlCol="0">
            <a:spAutoFit/>
          </a:bodyPr>
          <a:lstStyle/>
          <a:p>
            <a:r>
              <a:rPr kumimoji="1" lang="ja-JP" altLang="en-US" sz="2000" b="1">
                <a:solidFill>
                  <a:schemeClr val="accent1">
                    <a:lumMod val="50000"/>
                  </a:schemeClr>
                </a:solidFill>
              </a:rPr>
              <a:t>テストデータの射影（ベクトル）が</a:t>
            </a:r>
            <a:endParaRPr kumimoji="1" lang="en-US" altLang="ja-JP" sz="2000" b="1" dirty="0">
              <a:solidFill>
                <a:schemeClr val="accent1">
                  <a:lumMod val="50000"/>
                </a:schemeClr>
              </a:solidFill>
            </a:endParaRPr>
          </a:p>
          <a:p>
            <a:r>
              <a:rPr kumimoji="1" lang="ja-JP" altLang="en-US" sz="2000" b="1">
                <a:solidFill>
                  <a:schemeClr val="accent1">
                    <a:lumMod val="50000"/>
                  </a:schemeClr>
                </a:solidFill>
              </a:rPr>
              <a:t>大きい方に似ている</a:t>
            </a:r>
            <a:endParaRPr kumimoji="1" lang="en-US" altLang="ja-JP" sz="2000" b="1" dirty="0">
              <a:solidFill>
                <a:schemeClr val="accent1">
                  <a:lumMod val="50000"/>
                </a:schemeClr>
              </a:solidFill>
            </a:endParaRPr>
          </a:p>
        </p:txBody>
      </p:sp>
      <p:sp>
        <p:nvSpPr>
          <p:cNvPr id="6" name="テキスト ボックス 5">
            <a:extLst>
              <a:ext uri="{FF2B5EF4-FFF2-40B4-BE49-F238E27FC236}">
                <a16:creationId xmlns:a16="http://schemas.microsoft.com/office/drawing/2014/main" id="{7ED13D1B-DCAF-A3DC-21E7-02CCC55EB128}"/>
              </a:ext>
            </a:extLst>
          </p:cNvPr>
          <p:cNvSpPr txBox="1"/>
          <p:nvPr/>
        </p:nvSpPr>
        <p:spPr>
          <a:xfrm>
            <a:off x="929530" y="1661599"/>
            <a:ext cx="3775393" cy="400110"/>
          </a:xfrm>
          <a:prstGeom prst="rect">
            <a:avLst/>
          </a:prstGeom>
          <a:noFill/>
        </p:spPr>
        <p:txBody>
          <a:bodyPr wrap="none" rtlCol="0">
            <a:spAutoFit/>
          </a:bodyPr>
          <a:lstStyle/>
          <a:p>
            <a:r>
              <a:rPr kumimoji="1" lang="ja-JP" altLang="en-US" sz="2000" b="1">
                <a:solidFill>
                  <a:schemeClr val="accent1">
                    <a:lumMod val="50000"/>
                  </a:schemeClr>
                </a:solidFill>
              </a:rPr>
              <a:t>訓練データから部分空間を作成</a:t>
            </a:r>
          </a:p>
        </p:txBody>
      </p:sp>
      <p:sp>
        <p:nvSpPr>
          <p:cNvPr id="10" name="正方形/長方形 9">
            <a:extLst>
              <a:ext uri="{FF2B5EF4-FFF2-40B4-BE49-F238E27FC236}">
                <a16:creationId xmlns:a16="http://schemas.microsoft.com/office/drawing/2014/main" id="{7E266E93-B6C5-C4E7-A663-C28B6EFC7E72}"/>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AFCF7A0A-551A-F2DB-7E2E-36B3B99FCA49}"/>
              </a:ext>
            </a:extLst>
          </p:cNvPr>
          <p:cNvSpPr txBox="1"/>
          <p:nvPr/>
        </p:nvSpPr>
        <p:spPr>
          <a:xfrm>
            <a:off x="385370" y="120924"/>
            <a:ext cx="1723549" cy="461665"/>
          </a:xfrm>
          <a:prstGeom prst="rect">
            <a:avLst/>
          </a:prstGeom>
          <a:noFill/>
        </p:spPr>
        <p:txBody>
          <a:bodyPr wrap="none" rtlCol="0">
            <a:spAutoFit/>
          </a:bodyPr>
          <a:lstStyle/>
          <a:p>
            <a:r>
              <a:rPr lang="ja-JP" altLang="en-US" sz="2400" b="1">
                <a:solidFill>
                  <a:schemeClr val="bg1"/>
                </a:solidFill>
              </a:rPr>
              <a:t>部分空間法</a:t>
            </a:r>
          </a:p>
        </p:txBody>
      </p:sp>
    </p:spTree>
    <p:extLst>
      <p:ext uri="{BB962C8B-B14F-4D97-AF65-F5344CB8AC3E}">
        <p14:creationId xmlns:p14="http://schemas.microsoft.com/office/powerpoint/2010/main" val="4039088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4292CB0B-3A16-0AD9-742F-40CB7B4E444F}"/>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304C8160-095D-33FB-2115-33AD4FF73DB0}"/>
              </a:ext>
            </a:extLst>
          </p:cNvPr>
          <p:cNvSpPr txBox="1"/>
          <p:nvPr/>
        </p:nvSpPr>
        <p:spPr>
          <a:xfrm>
            <a:off x="385370" y="120924"/>
            <a:ext cx="1723549" cy="461665"/>
          </a:xfrm>
          <a:prstGeom prst="rect">
            <a:avLst/>
          </a:prstGeom>
          <a:noFill/>
        </p:spPr>
        <p:txBody>
          <a:bodyPr wrap="none" rtlCol="0">
            <a:spAutoFit/>
          </a:bodyPr>
          <a:lstStyle/>
          <a:p>
            <a:r>
              <a:rPr lang="ja-JP" altLang="en-US" sz="2400" b="1">
                <a:solidFill>
                  <a:schemeClr val="bg1"/>
                </a:solidFill>
              </a:rPr>
              <a:t>部分空間法</a:t>
            </a:r>
          </a:p>
        </p:txBody>
      </p:sp>
      <p:pic>
        <p:nvPicPr>
          <p:cNvPr id="7" name="図 6" descr="ダイアグラム&#10;&#10;自動的に生成された説明">
            <a:extLst>
              <a:ext uri="{FF2B5EF4-FFF2-40B4-BE49-F238E27FC236}">
                <a16:creationId xmlns:a16="http://schemas.microsoft.com/office/drawing/2014/main" id="{F363603C-54E8-39B5-EF94-2F338E95083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141947" y="505471"/>
            <a:ext cx="8468164" cy="4996024"/>
          </a:xfrm>
          <a:prstGeom prst="rect">
            <a:avLst/>
          </a:prstGeom>
        </p:spPr>
      </p:pic>
      <p:pic>
        <p:nvPicPr>
          <p:cNvPr id="4" name="図 3" descr="グラフ&#10;&#10;自動的に生成された説明">
            <a:extLst>
              <a:ext uri="{FF2B5EF4-FFF2-40B4-BE49-F238E27FC236}">
                <a16:creationId xmlns:a16="http://schemas.microsoft.com/office/drawing/2014/main" id="{7B332271-7F7D-2CDA-64DB-FF0912F59CD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186410" y="1949736"/>
            <a:ext cx="8236944" cy="5065106"/>
          </a:xfrm>
          <a:prstGeom prst="rect">
            <a:avLst/>
          </a:prstGeom>
        </p:spPr>
      </p:pic>
    </p:spTree>
    <p:extLst>
      <p:ext uri="{BB962C8B-B14F-4D97-AF65-F5344CB8AC3E}">
        <p14:creationId xmlns:p14="http://schemas.microsoft.com/office/powerpoint/2010/main" val="1560699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905DE4F-3AB7-4C81-F124-38B455572B19}"/>
              </a:ext>
            </a:extLst>
          </p:cNvPr>
          <p:cNvSpPr txBox="1"/>
          <p:nvPr/>
        </p:nvSpPr>
        <p:spPr>
          <a:xfrm>
            <a:off x="169576" y="1206189"/>
            <a:ext cx="1911101" cy="461665"/>
          </a:xfrm>
          <a:prstGeom prst="rect">
            <a:avLst/>
          </a:prstGeom>
          <a:noFill/>
        </p:spPr>
        <p:txBody>
          <a:bodyPr wrap="none" rtlCol="0">
            <a:spAutoFit/>
          </a:bodyPr>
          <a:lstStyle/>
          <a:p>
            <a:r>
              <a:rPr kumimoji="1" lang="ja-JP" altLang="en-US" sz="2400" b="1">
                <a:solidFill>
                  <a:schemeClr val="accent1">
                    <a:lumMod val="50000"/>
                  </a:schemeClr>
                </a:solidFill>
              </a:rPr>
              <a:t>・</a:t>
            </a:r>
            <a:r>
              <a:rPr kumimoji="1" lang="en-US" altLang="ja-JP" sz="2400" b="1" dirty="0">
                <a:solidFill>
                  <a:schemeClr val="accent2">
                    <a:lumMod val="50000"/>
                  </a:schemeClr>
                </a:solidFill>
              </a:rPr>
              <a:t>SELFIC</a:t>
            </a:r>
            <a:r>
              <a:rPr kumimoji="1" lang="ja-JP" altLang="en-US" sz="2400" b="1">
                <a:solidFill>
                  <a:schemeClr val="accent2">
                    <a:lumMod val="50000"/>
                  </a:schemeClr>
                </a:solidFill>
              </a:rPr>
              <a:t>法</a:t>
            </a:r>
          </a:p>
        </p:txBody>
      </p:sp>
      <p:sp>
        <p:nvSpPr>
          <p:cNvPr id="5" name="テキスト ボックス 4">
            <a:extLst>
              <a:ext uri="{FF2B5EF4-FFF2-40B4-BE49-F238E27FC236}">
                <a16:creationId xmlns:a16="http://schemas.microsoft.com/office/drawing/2014/main" id="{FA3A2B74-790E-08B3-3236-56C9F83DB609}"/>
              </a:ext>
            </a:extLst>
          </p:cNvPr>
          <p:cNvSpPr txBox="1"/>
          <p:nvPr/>
        </p:nvSpPr>
        <p:spPr>
          <a:xfrm>
            <a:off x="488989" y="1667854"/>
            <a:ext cx="10956846" cy="461665"/>
          </a:xfrm>
          <a:prstGeom prst="rect">
            <a:avLst/>
          </a:prstGeom>
          <a:noFill/>
        </p:spPr>
        <p:txBody>
          <a:bodyPr wrap="none" rtlCol="0">
            <a:spAutoFit/>
          </a:bodyPr>
          <a:lstStyle/>
          <a:p>
            <a:r>
              <a:rPr lang="ja-JP" altLang="en-US" sz="2400" b="1">
                <a:solidFill>
                  <a:schemeClr val="accent1">
                    <a:lumMod val="50000"/>
                  </a:schemeClr>
                </a:solidFill>
              </a:rPr>
              <a:t>・主成分分析で低次元化した特徴空間でクラスの近さに基づく識別を行う方法</a:t>
            </a:r>
            <a:endParaRPr kumimoji="1" lang="ja-JP" altLang="en-US" sz="2400"/>
          </a:p>
        </p:txBody>
      </p:sp>
      <p:sp>
        <p:nvSpPr>
          <p:cNvPr id="6" name="テキスト ボックス 5">
            <a:extLst>
              <a:ext uri="{FF2B5EF4-FFF2-40B4-BE49-F238E27FC236}">
                <a16:creationId xmlns:a16="http://schemas.microsoft.com/office/drawing/2014/main" id="{D92C6128-1EA2-929D-C743-680A3790A8FA}"/>
              </a:ext>
            </a:extLst>
          </p:cNvPr>
          <p:cNvSpPr txBox="1"/>
          <p:nvPr/>
        </p:nvSpPr>
        <p:spPr>
          <a:xfrm>
            <a:off x="169576" y="2640017"/>
            <a:ext cx="1941557" cy="461665"/>
          </a:xfrm>
          <a:prstGeom prst="rect">
            <a:avLst/>
          </a:prstGeom>
          <a:noFill/>
        </p:spPr>
        <p:txBody>
          <a:bodyPr wrap="none" rtlCol="0">
            <a:spAutoFit/>
          </a:bodyPr>
          <a:lstStyle/>
          <a:p>
            <a:r>
              <a:rPr lang="ja-JP" altLang="en-US" sz="2400" b="1">
                <a:solidFill>
                  <a:schemeClr val="accent1">
                    <a:lumMod val="50000"/>
                  </a:schemeClr>
                </a:solidFill>
              </a:rPr>
              <a:t>・</a:t>
            </a:r>
            <a:r>
              <a:rPr lang="en-US" altLang="ja-JP" sz="2400" b="1" dirty="0">
                <a:solidFill>
                  <a:schemeClr val="accent2">
                    <a:lumMod val="50000"/>
                  </a:schemeClr>
                </a:solidFill>
              </a:rPr>
              <a:t>CLAFIC</a:t>
            </a:r>
            <a:r>
              <a:rPr lang="ja-JP" altLang="en-US" sz="2400" b="1">
                <a:solidFill>
                  <a:schemeClr val="accent2">
                    <a:lumMod val="50000"/>
                  </a:schemeClr>
                </a:solidFill>
              </a:rPr>
              <a:t>法</a:t>
            </a:r>
            <a:endParaRPr kumimoji="1" lang="ja-JP" altLang="en-US" sz="2400">
              <a:solidFill>
                <a:schemeClr val="accent2">
                  <a:lumMod val="50000"/>
                </a:schemeClr>
              </a:solidFill>
            </a:endParaRPr>
          </a:p>
        </p:txBody>
      </p:sp>
      <p:sp>
        <p:nvSpPr>
          <p:cNvPr id="7" name="テキスト ボックス 6">
            <a:extLst>
              <a:ext uri="{FF2B5EF4-FFF2-40B4-BE49-F238E27FC236}">
                <a16:creationId xmlns:a16="http://schemas.microsoft.com/office/drawing/2014/main" id="{189E43C1-7717-1F2E-1503-8DF8D64E2AB3}"/>
              </a:ext>
            </a:extLst>
          </p:cNvPr>
          <p:cNvSpPr txBox="1"/>
          <p:nvPr/>
        </p:nvSpPr>
        <p:spPr>
          <a:xfrm>
            <a:off x="488989" y="3101682"/>
            <a:ext cx="10956846" cy="830997"/>
          </a:xfrm>
          <a:prstGeom prst="rect">
            <a:avLst/>
          </a:prstGeom>
          <a:noFill/>
        </p:spPr>
        <p:txBody>
          <a:bodyPr wrap="none" rtlCol="0">
            <a:spAutoFit/>
          </a:bodyPr>
          <a:lstStyle/>
          <a:p>
            <a:r>
              <a:rPr lang="ja-JP" altLang="en-US" sz="2400" b="1">
                <a:solidFill>
                  <a:schemeClr val="accent1">
                    <a:lumMod val="50000"/>
                  </a:schemeClr>
                </a:solidFill>
              </a:rPr>
              <a:t>・主成分分析を用いて、クラスごとに入力画像群をよく表現する</a:t>
            </a:r>
            <a:endParaRPr lang="en-US" altLang="ja-JP" sz="2400" b="1" dirty="0">
              <a:solidFill>
                <a:schemeClr val="accent1">
                  <a:lumMod val="50000"/>
                </a:schemeClr>
              </a:solidFill>
            </a:endParaRPr>
          </a:p>
          <a:p>
            <a:r>
              <a:rPr lang="ja-JP" altLang="en-US" sz="2400" b="1">
                <a:solidFill>
                  <a:schemeClr val="accent1">
                    <a:lumMod val="50000"/>
                  </a:schemeClr>
                </a:solidFill>
              </a:rPr>
              <a:t>　低次元な特徴空間を求め、その特徴空間をパターン学習の結果とみなす方法</a:t>
            </a:r>
            <a:endParaRPr kumimoji="1" lang="ja-JP" altLang="en-US" sz="2400"/>
          </a:p>
        </p:txBody>
      </p:sp>
      <p:sp>
        <p:nvSpPr>
          <p:cNvPr id="8" name="テキスト ボックス 7">
            <a:extLst>
              <a:ext uri="{FF2B5EF4-FFF2-40B4-BE49-F238E27FC236}">
                <a16:creationId xmlns:a16="http://schemas.microsoft.com/office/drawing/2014/main" id="{FACD9006-54AC-29C2-7FC3-759F181DB290}"/>
              </a:ext>
            </a:extLst>
          </p:cNvPr>
          <p:cNvSpPr txBox="1"/>
          <p:nvPr/>
        </p:nvSpPr>
        <p:spPr>
          <a:xfrm>
            <a:off x="169576" y="4135104"/>
            <a:ext cx="1505540" cy="461665"/>
          </a:xfrm>
          <a:prstGeom prst="rect">
            <a:avLst/>
          </a:prstGeom>
          <a:noFill/>
        </p:spPr>
        <p:txBody>
          <a:bodyPr wrap="none" rtlCol="0">
            <a:spAutoFit/>
          </a:bodyPr>
          <a:lstStyle/>
          <a:p>
            <a:r>
              <a:rPr kumimoji="1" lang="ja-JP" altLang="en-US" sz="2400" b="1">
                <a:solidFill>
                  <a:schemeClr val="accent1">
                    <a:lumMod val="50000"/>
                  </a:schemeClr>
                </a:solidFill>
              </a:rPr>
              <a:t>・</a:t>
            </a:r>
            <a:r>
              <a:rPr kumimoji="1" lang="en-US" altLang="ja-JP" sz="2400" b="1" dirty="0">
                <a:solidFill>
                  <a:schemeClr val="accent2">
                    <a:lumMod val="50000"/>
                  </a:schemeClr>
                </a:solidFill>
              </a:rPr>
              <a:t>KL</a:t>
            </a:r>
            <a:r>
              <a:rPr kumimoji="1" lang="ja-JP" altLang="en-US" sz="2400" b="1">
                <a:solidFill>
                  <a:schemeClr val="accent2">
                    <a:lumMod val="50000"/>
                  </a:schemeClr>
                </a:solidFill>
              </a:rPr>
              <a:t>展開</a:t>
            </a:r>
          </a:p>
        </p:txBody>
      </p:sp>
      <p:sp>
        <p:nvSpPr>
          <p:cNvPr id="9" name="テキスト ボックス 8">
            <a:extLst>
              <a:ext uri="{FF2B5EF4-FFF2-40B4-BE49-F238E27FC236}">
                <a16:creationId xmlns:a16="http://schemas.microsoft.com/office/drawing/2014/main" id="{044D3163-26DB-6C81-AE0A-CBC0319AB841}"/>
              </a:ext>
            </a:extLst>
          </p:cNvPr>
          <p:cNvSpPr txBox="1"/>
          <p:nvPr/>
        </p:nvSpPr>
        <p:spPr>
          <a:xfrm>
            <a:off x="488989" y="4596769"/>
            <a:ext cx="11309506" cy="1569660"/>
          </a:xfrm>
          <a:prstGeom prst="rect">
            <a:avLst/>
          </a:prstGeom>
          <a:noFill/>
        </p:spPr>
        <p:txBody>
          <a:bodyPr wrap="none" rtlCol="0">
            <a:spAutoFit/>
          </a:bodyPr>
          <a:lstStyle/>
          <a:p>
            <a:r>
              <a:rPr lang="ja-JP" altLang="en-US" sz="2400" b="1">
                <a:solidFill>
                  <a:schemeClr val="accent1">
                    <a:lumMod val="50000"/>
                  </a:schemeClr>
                </a:solidFill>
              </a:rPr>
              <a:t>・例えば</a:t>
            </a:r>
            <a:r>
              <a:rPr lang="en-US" altLang="ja-JP" sz="2400" b="1" dirty="0">
                <a:solidFill>
                  <a:schemeClr val="accent1">
                    <a:lumMod val="50000"/>
                  </a:schemeClr>
                </a:solidFill>
              </a:rPr>
              <a:t>5</a:t>
            </a:r>
            <a:r>
              <a:rPr lang="ja-JP" altLang="en-US" sz="2400" b="1">
                <a:solidFill>
                  <a:schemeClr val="accent1">
                    <a:lumMod val="50000"/>
                  </a:schemeClr>
                </a:solidFill>
              </a:rPr>
              <a:t>つの要素を持つベクトルがいくつかある場合に，</a:t>
            </a:r>
            <a:endParaRPr lang="en-US" altLang="ja-JP" sz="2400" b="1" dirty="0">
              <a:solidFill>
                <a:schemeClr val="accent1">
                  <a:lumMod val="50000"/>
                </a:schemeClr>
              </a:solidFill>
            </a:endParaRPr>
          </a:p>
          <a:p>
            <a:r>
              <a:rPr lang="ja-JP" altLang="en-US" sz="2400" b="1">
                <a:solidFill>
                  <a:schemeClr val="accent1">
                    <a:lumMod val="50000"/>
                  </a:schemeClr>
                </a:solidFill>
              </a:rPr>
              <a:t>　出来るだけ元のデータを失わないように</a:t>
            </a:r>
            <a:r>
              <a:rPr lang="en-US" altLang="ja-JP" sz="2400" b="1" dirty="0">
                <a:solidFill>
                  <a:schemeClr val="accent1">
                    <a:lumMod val="50000"/>
                  </a:schemeClr>
                </a:solidFill>
              </a:rPr>
              <a:t>3</a:t>
            </a:r>
            <a:r>
              <a:rPr lang="ja-JP" altLang="en-US" sz="2400" b="1">
                <a:solidFill>
                  <a:schemeClr val="accent1">
                    <a:lumMod val="50000"/>
                  </a:schemeClr>
                </a:solidFill>
              </a:rPr>
              <a:t>つや</a:t>
            </a:r>
            <a:r>
              <a:rPr lang="en-US" altLang="ja-JP" sz="2400" b="1" dirty="0">
                <a:solidFill>
                  <a:schemeClr val="accent1">
                    <a:lumMod val="50000"/>
                  </a:schemeClr>
                </a:solidFill>
              </a:rPr>
              <a:t>4</a:t>
            </a:r>
            <a:r>
              <a:rPr lang="ja-JP" altLang="en-US" sz="2400" b="1">
                <a:solidFill>
                  <a:schemeClr val="accent1">
                    <a:lumMod val="50000"/>
                  </a:schemeClr>
                </a:solidFill>
              </a:rPr>
              <a:t>つの要素のベクトルで表す手法</a:t>
            </a:r>
            <a:endParaRPr lang="en-US" altLang="ja-JP" sz="2400" b="1" dirty="0">
              <a:solidFill>
                <a:schemeClr val="accent1">
                  <a:lumMod val="50000"/>
                </a:schemeClr>
              </a:solidFill>
            </a:endParaRPr>
          </a:p>
          <a:p>
            <a:r>
              <a:rPr lang="ja-JP" altLang="en-US" sz="2400" b="1">
                <a:solidFill>
                  <a:schemeClr val="accent1">
                    <a:lumMod val="50000"/>
                  </a:schemeClr>
                </a:solidFill>
              </a:rPr>
              <a:t>・要するに元のデータの特徴を残し，</a:t>
            </a:r>
            <a:endParaRPr lang="en-US" altLang="ja-JP" sz="2400" b="1" dirty="0">
              <a:solidFill>
                <a:schemeClr val="accent1">
                  <a:lumMod val="50000"/>
                </a:schemeClr>
              </a:solidFill>
            </a:endParaRPr>
          </a:p>
          <a:p>
            <a:r>
              <a:rPr lang="ja-JP" altLang="en-US" sz="2400" b="1">
                <a:solidFill>
                  <a:schemeClr val="accent1">
                    <a:lumMod val="50000"/>
                  </a:schemeClr>
                </a:solidFill>
              </a:rPr>
              <a:t>　あまり特徴と関係ないであろう部分を消してしまおうという処理</a:t>
            </a:r>
          </a:p>
        </p:txBody>
      </p:sp>
      <p:sp>
        <p:nvSpPr>
          <p:cNvPr id="10" name="正方形/長方形 9">
            <a:extLst>
              <a:ext uri="{FF2B5EF4-FFF2-40B4-BE49-F238E27FC236}">
                <a16:creationId xmlns:a16="http://schemas.microsoft.com/office/drawing/2014/main" id="{B26E830D-DD55-4056-C865-5576775E7FBB}"/>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2E78BD7-D168-C920-D6E3-4A1371E0BA5B}"/>
              </a:ext>
            </a:extLst>
          </p:cNvPr>
          <p:cNvSpPr txBox="1"/>
          <p:nvPr/>
        </p:nvSpPr>
        <p:spPr>
          <a:xfrm>
            <a:off x="385370" y="120924"/>
            <a:ext cx="1723549" cy="461665"/>
          </a:xfrm>
          <a:prstGeom prst="rect">
            <a:avLst/>
          </a:prstGeom>
          <a:noFill/>
        </p:spPr>
        <p:txBody>
          <a:bodyPr wrap="none" rtlCol="0">
            <a:spAutoFit/>
          </a:bodyPr>
          <a:lstStyle/>
          <a:p>
            <a:r>
              <a:rPr lang="ja-JP" altLang="en-US" sz="2400" b="1">
                <a:solidFill>
                  <a:schemeClr val="bg1"/>
                </a:solidFill>
              </a:rPr>
              <a:t>部分空間法</a:t>
            </a:r>
          </a:p>
        </p:txBody>
      </p:sp>
    </p:spTree>
    <p:extLst>
      <p:ext uri="{BB962C8B-B14F-4D97-AF65-F5344CB8AC3E}">
        <p14:creationId xmlns:p14="http://schemas.microsoft.com/office/powerpoint/2010/main" val="4166519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FA27D5EF-C6D0-1FD5-ABED-DAB7EECAA99D}"/>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675CE1A1-AC84-EFB7-5728-8D2ED9D2875B}"/>
              </a:ext>
            </a:extLst>
          </p:cNvPr>
          <p:cNvSpPr txBox="1"/>
          <p:nvPr/>
        </p:nvSpPr>
        <p:spPr>
          <a:xfrm>
            <a:off x="385370" y="120924"/>
            <a:ext cx="2823209" cy="461665"/>
          </a:xfrm>
          <a:prstGeom prst="rect">
            <a:avLst/>
          </a:prstGeom>
          <a:noFill/>
        </p:spPr>
        <p:txBody>
          <a:bodyPr wrap="none" rtlCol="0">
            <a:spAutoFit/>
          </a:bodyPr>
          <a:lstStyle/>
          <a:p>
            <a:r>
              <a:rPr lang="ja-JP" altLang="en-US" sz="2400" b="1">
                <a:solidFill>
                  <a:schemeClr val="bg1"/>
                </a:solidFill>
              </a:rPr>
              <a:t>演習</a:t>
            </a:r>
            <a:r>
              <a:rPr lang="en-US" altLang="ja-JP" sz="2400" b="1" dirty="0">
                <a:solidFill>
                  <a:schemeClr val="bg1"/>
                </a:solidFill>
              </a:rPr>
              <a:t>1</a:t>
            </a:r>
            <a:r>
              <a:rPr lang="ja-JP" altLang="en-US" sz="2400" b="1">
                <a:solidFill>
                  <a:schemeClr val="bg1"/>
                </a:solidFill>
              </a:rPr>
              <a:t>：主成分分析</a:t>
            </a:r>
          </a:p>
        </p:txBody>
      </p:sp>
      <p:pic>
        <p:nvPicPr>
          <p:cNvPr id="6" name="図 5" descr="壁に掛けられた看板&#10;&#10;自動的に生成された説明">
            <a:extLst>
              <a:ext uri="{FF2B5EF4-FFF2-40B4-BE49-F238E27FC236}">
                <a16:creationId xmlns:a16="http://schemas.microsoft.com/office/drawing/2014/main" id="{B64F2172-DE8D-43D5-D469-CBACFC0FEC3B}"/>
              </a:ext>
            </a:extLst>
          </p:cNvPr>
          <p:cNvPicPr>
            <a:picLocks noChangeAspect="1"/>
          </p:cNvPicPr>
          <p:nvPr/>
        </p:nvPicPr>
        <p:blipFill>
          <a:blip r:embed="rId2"/>
          <a:stretch>
            <a:fillRect/>
          </a:stretch>
        </p:blipFill>
        <p:spPr>
          <a:xfrm>
            <a:off x="1130537" y="2095251"/>
            <a:ext cx="5621283" cy="4215962"/>
          </a:xfrm>
          <a:prstGeom prst="rect">
            <a:avLst/>
          </a:prstGeom>
        </p:spPr>
      </p:pic>
      <p:sp>
        <p:nvSpPr>
          <p:cNvPr id="8" name="テキスト ボックス 7">
            <a:extLst>
              <a:ext uri="{FF2B5EF4-FFF2-40B4-BE49-F238E27FC236}">
                <a16:creationId xmlns:a16="http://schemas.microsoft.com/office/drawing/2014/main" id="{C4FCE726-0D46-3C44-E959-FB5BBDEF9F00}"/>
              </a:ext>
            </a:extLst>
          </p:cNvPr>
          <p:cNvSpPr txBox="1"/>
          <p:nvPr/>
        </p:nvSpPr>
        <p:spPr>
          <a:xfrm>
            <a:off x="1130537" y="1040524"/>
            <a:ext cx="9930925" cy="707886"/>
          </a:xfrm>
          <a:prstGeom prst="rect">
            <a:avLst/>
          </a:prstGeom>
          <a:noFill/>
        </p:spPr>
        <p:txBody>
          <a:bodyPr wrap="none" rtlCol="0">
            <a:spAutoFit/>
          </a:bodyPr>
          <a:lstStyle/>
          <a:p>
            <a:pPr algn="ctr"/>
            <a:r>
              <a:rPr lang="ja-JP" altLang="en-US" sz="4000"/>
              <a:t>輪郭を抽出して輪郭別に主成分分析をする</a:t>
            </a:r>
            <a:endParaRPr kumimoji="1" lang="ja-JP" altLang="en-US" sz="4000"/>
          </a:p>
        </p:txBody>
      </p:sp>
      <p:sp>
        <p:nvSpPr>
          <p:cNvPr id="9" name="テキスト ボックス 8">
            <a:extLst>
              <a:ext uri="{FF2B5EF4-FFF2-40B4-BE49-F238E27FC236}">
                <a16:creationId xmlns:a16="http://schemas.microsoft.com/office/drawing/2014/main" id="{2BAFE67C-EB3E-0F23-6808-48FD4A761372}"/>
              </a:ext>
            </a:extLst>
          </p:cNvPr>
          <p:cNvSpPr txBox="1"/>
          <p:nvPr/>
        </p:nvSpPr>
        <p:spPr>
          <a:xfrm>
            <a:off x="7783584" y="3355427"/>
            <a:ext cx="2898550" cy="1384995"/>
          </a:xfrm>
          <a:prstGeom prst="rect">
            <a:avLst/>
          </a:prstGeom>
          <a:noFill/>
        </p:spPr>
        <p:txBody>
          <a:bodyPr wrap="none" rtlCol="0">
            <a:spAutoFit/>
          </a:bodyPr>
          <a:lstStyle/>
          <a:p>
            <a:r>
              <a:rPr lang="ja-JP" altLang="en-US" sz="2800"/>
              <a:t>赤：輪郭</a:t>
            </a:r>
            <a:endParaRPr lang="en-US" altLang="ja-JP" sz="2800" dirty="0"/>
          </a:p>
          <a:p>
            <a:r>
              <a:rPr kumimoji="1" lang="ja-JP" altLang="en-US" sz="2800"/>
              <a:t>緑：第</a:t>
            </a:r>
            <a:r>
              <a:rPr kumimoji="1" lang="en-US" altLang="ja-JP" sz="2800" dirty="0"/>
              <a:t>1</a:t>
            </a:r>
            <a:r>
              <a:rPr kumimoji="1" lang="ja-JP" altLang="en-US" sz="2800"/>
              <a:t>主成分</a:t>
            </a:r>
            <a:endParaRPr kumimoji="1" lang="en-US" altLang="ja-JP" sz="2800" dirty="0"/>
          </a:p>
          <a:p>
            <a:r>
              <a:rPr lang="ja-JP" altLang="en-US" sz="2800"/>
              <a:t>水色：第</a:t>
            </a:r>
            <a:r>
              <a:rPr lang="en-US" altLang="ja-JP" sz="2800" dirty="0"/>
              <a:t>2</a:t>
            </a:r>
            <a:r>
              <a:rPr lang="ja-JP" altLang="en-US" sz="2800"/>
              <a:t>主成分</a:t>
            </a:r>
            <a:endParaRPr kumimoji="1" lang="ja-JP" altLang="en-US"/>
          </a:p>
        </p:txBody>
      </p:sp>
    </p:spTree>
    <p:extLst>
      <p:ext uri="{BB962C8B-B14F-4D97-AF65-F5344CB8AC3E}">
        <p14:creationId xmlns:p14="http://schemas.microsoft.com/office/powerpoint/2010/main" val="1703768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FA27D5EF-C6D0-1FD5-ABED-DAB7EECAA99D}"/>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675CE1A1-AC84-EFB7-5728-8D2ED9D2875B}"/>
              </a:ext>
            </a:extLst>
          </p:cNvPr>
          <p:cNvSpPr txBox="1"/>
          <p:nvPr/>
        </p:nvSpPr>
        <p:spPr>
          <a:xfrm>
            <a:off x="385370" y="120924"/>
            <a:ext cx="2823209" cy="461665"/>
          </a:xfrm>
          <a:prstGeom prst="rect">
            <a:avLst/>
          </a:prstGeom>
          <a:noFill/>
        </p:spPr>
        <p:txBody>
          <a:bodyPr wrap="none" rtlCol="0">
            <a:spAutoFit/>
          </a:bodyPr>
          <a:lstStyle/>
          <a:p>
            <a:r>
              <a:rPr lang="ja-JP" altLang="en-US" sz="2400" b="1">
                <a:solidFill>
                  <a:schemeClr val="bg1"/>
                </a:solidFill>
              </a:rPr>
              <a:t>演習</a:t>
            </a:r>
            <a:r>
              <a:rPr lang="en-US" altLang="ja-JP" sz="2400" b="1" dirty="0">
                <a:solidFill>
                  <a:schemeClr val="bg1"/>
                </a:solidFill>
              </a:rPr>
              <a:t>1</a:t>
            </a:r>
            <a:r>
              <a:rPr lang="ja-JP" altLang="en-US" sz="2400" b="1">
                <a:solidFill>
                  <a:schemeClr val="bg1"/>
                </a:solidFill>
              </a:rPr>
              <a:t>：主成分分析</a:t>
            </a:r>
          </a:p>
        </p:txBody>
      </p:sp>
      <p:sp>
        <p:nvSpPr>
          <p:cNvPr id="3" name="テキスト ボックス 2">
            <a:extLst>
              <a:ext uri="{FF2B5EF4-FFF2-40B4-BE49-F238E27FC236}">
                <a16:creationId xmlns:a16="http://schemas.microsoft.com/office/drawing/2014/main" id="{0C00E4D5-B11A-FEB1-22B2-CBF7E4E44A27}"/>
              </a:ext>
            </a:extLst>
          </p:cNvPr>
          <p:cNvSpPr txBox="1"/>
          <p:nvPr/>
        </p:nvSpPr>
        <p:spPr>
          <a:xfrm>
            <a:off x="836387" y="948690"/>
            <a:ext cx="10519226" cy="5909310"/>
          </a:xfrm>
          <a:prstGeom prst="rect">
            <a:avLst/>
          </a:prstGeom>
          <a:noFill/>
        </p:spPr>
        <p:txBody>
          <a:bodyPr wrap="none" rtlCol="0">
            <a:spAutoFit/>
          </a:bodyPr>
          <a:lstStyle/>
          <a:p>
            <a:r>
              <a:rPr lang="en-US" altLang="ja-JP" sz="2400" dirty="0"/>
              <a:t>// </a:t>
            </a:r>
            <a:r>
              <a:rPr lang="ja-JP" altLang="en-US" sz="2400"/>
              <a:t>主成分分析の実行</a:t>
            </a:r>
          </a:p>
          <a:p>
            <a:r>
              <a:rPr lang="en" altLang="ja-JP" sz="2400" dirty="0"/>
              <a:t>cv::PCA </a:t>
            </a:r>
            <a:r>
              <a:rPr lang="en" altLang="ja-JP" sz="2400" dirty="0" err="1"/>
              <a:t>pca_analysis</a:t>
            </a:r>
            <a:r>
              <a:rPr lang="en" altLang="ja-JP" sz="2400" dirty="0"/>
              <a:t>(</a:t>
            </a:r>
            <a:r>
              <a:rPr lang="en" altLang="ja-JP" sz="2400" dirty="0" err="1"/>
              <a:t>data_pts</a:t>
            </a:r>
            <a:r>
              <a:rPr lang="en" altLang="ja-JP" sz="2400" dirty="0"/>
              <a:t>, cv::Mat(), cv::PCA::DATA_AS_ROW);</a:t>
            </a:r>
          </a:p>
          <a:p>
            <a:br>
              <a:rPr lang="en" altLang="ja-JP" sz="2400" dirty="0"/>
            </a:br>
            <a:r>
              <a:rPr lang="en" altLang="ja-JP" sz="2400" dirty="0"/>
              <a:t>// [</a:t>
            </a:r>
            <a:r>
              <a:rPr lang="ja-JP" altLang="en-US" sz="2400"/>
              <a:t>分析結果</a:t>
            </a:r>
            <a:r>
              <a:rPr lang="en-US" altLang="ja-JP" sz="2400" dirty="0"/>
              <a:t>] </a:t>
            </a:r>
            <a:r>
              <a:rPr lang="ja-JP" altLang="en-US" sz="2400"/>
              <a:t>中心の座標</a:t>
            </a:r>
          </a:p>
          <a:p>
            <a:r>
              <a:rPr lang="en" altLang="ja-JP" sz="2400" dirty="0"/>
              <a:t>cv::Point center = cv::Point(</a:t>
            </a:r>
            <a:r>
              <a:rPr lang="en" altLang="ja-JP" sz="2400" dirty="0" err="1"/>
              <a:t>pca_analysis.mean.at</a:t>
            </a:r>
            <a:r>
              <a:rPr lang="en" altLang="ja-JP" sz="2400" dirty="0"/>
              <a:t>&lt;double&gt;(0, 0),</a:t>
            </a:r>
          </a:p>
          <a:p>
            <a:r>
              <a:rPr lang="en" altLang="ja-JP" sz="2400" dirty="0" err="1"/>
              <a:t>pca_analysis.mean.at</a:t>
            </a:r>
            <a:r>
              <a:rPr lang="en" altLang="ja-JP" sz="2400" dirty="0"/>
              <a:t>&lt;double&gt;(0, 1));</a:t>
            </a:r>
          </a:p>
          <a:p>
            <a:br>
              <a:rPr lang="en" altLang="ja-JP" sz="2400" dirty="0"/>
            </a:br>
            <a:r>
              <a:rPr lang="en" altLang="ja-JP" sz="2400" dirty="0"/>
              <a:t>// [</a:t>
            </a:r>
            <a:r>
              <a:rPr lang="ja-JP" altLang="en-US" sz="2400"/>
              <a:t>分析結果</a:t>
            </a:r>
            <a:r>
              <a:rPr lang="en-US" altLang="ja-JP" sz="2400" dirty="0"/>
              <a:t>] </a:t>
            </a:r>
            <a:r>
              <a:rPr lang="ja-JP" altLang="en-US" sz="2400"/>
              <a:t>固有値と固有ベクトル</a:t>
            </a:r>
            <a:endParaRPr lang="en-US" altLang="ja-JP" sz="2400" dirty="0"/>
          </a:p>
          <a:p>
            <a:r>
              <a:rPr lang="en" altLang="ja-JP" sz="2400" dirty="0"/>
              <a:t>std::vector&lt;double&gt; </a:t>
            </a:r>
            <a:r>
              <a:rPr lang="en" altLang="ja-JP" sz="2400" dirty="0" err="1"/>
              <a:t>eigen_val</a:t>
            </a:r>
            <a:r>
              <a:rPr lang="en" altLang="ja-JP" sz="2400" dirty="0"/>
              <a:t>(2);//</a:t>
            </a:r>
            <a:r>
              <a:rPr lang="ja-JP" altLang="en-US" sz="2400"/>
              <a:t>固有値</a:t>
            </a:r>
          </a:p>
          <a:p>
            <a:r>
              <a:rPr lang="en" altLang="ja-JP" sz="2400" dirty="0"/>
              <a:t>std::vector&lt;cv::Point2d&gt; </a:t>
            </a:r>
            <a:r>
              <a:rPr lang="en" altLang="ja-JP" sz="2400" dirty="0" err="1"/>
              <a:t>eigen_vecs</a:t>
            </a:r>
            <a:r>
              <a:rPr lang="en" altLang="ja-JP" sz="2400" dirty="0"/>
              <a:t>(2);//</a:t>
            </a:r>
            <a:r>
              <a:rPr lang="ja-JP" altLang="en-US" sz="2400"/>
              <a:t>固有ベクトル</a:t>
            </a:r>
          </a:p>
          <a:p>
            <a:r>
              <a:rPr lang="en" altLang="ja-JP" sz="2400" dirty="0"/>
              <a:t>for (int </a:t>
            </a:r>
            <a:r>
              <a:rPr lang="en" altLang="ja-JP" sz="2400" dirty="0" err="1"/>
              <a:t>i</a:t>
            </a:r>
            <a:r>
              <a:rPr lang="en" altLang="ja-JP" sz="2400" dirty="0"/>
              <a:t> = 0; </a:t>
            </a:r>
            <a:r>
              <a:rPr lang="en" altLang="ja-JP" sz="2400" dirty="0" err="1"/>
              <a:t>i</a:t>
            </a:r>
            <a:r>
              <a:rPr lang="en" altLang="ja-JP" sz="2400" dirty="0"/>
              <a:t> &lt; 2; </a:t>
            </a:r>
            <a:r>
              <a:rPr lang="en" altLang="ja-JP" sz="2400" dirty="0" err="1"/>
              <a:t>i</a:t>
            </a:r>
            <a:r>
              <a:rPr lang="en" altLang="ja-JP" sz="2400" dirty="0"/>
              <a:t>++) {</a:t>
            </a:r>
          </a:p>
          <a:p>
            <a:r>
              <a:rPr lang="en-US" altLang="ja-JP" sz="2400" dirty="0"/>
              <a:t>  </a:t>
            </a:r>
            <a:r>
              <a:rPr lang="en" altLang="ja-JP" sz="2400" dirty="0" err="1"/>
              <a:t>eigen_vecs</a:t>
            </a:r>
            <a:r>
              <a:rPr lang="en" altLang="ja-JP" sz="2400" dirty="0"/>
              <a:t>[</a:t>
            </a:r>
            <a:r>
              <a:rPr lang="en" altLang="ja-JP" sz="2400" dirty="0" err="1"/>
              <a:t>i</a:t>
            </a:r>
            <a:r>
              <a:rPr lang="en" altLang="ja-JP" sz="2400" dirty="0"/>
              <a:t>] = cv::Point2d(</a:t>
            </a:r>
            <a:r>
              <a:rPr lang="en" altLang="ja-JP" sz="2400" dirty="0" err="1"/>
              <a:t>pca_analysis.eigenvectors.at</a:t>
            </a:r>
            <a:r>
              <a:rPr lang="en" altLang="ja-JP" sz="2400" dirty="0"/>
              <a:t>&lt;double&gt;(</a:t>
            </a:r>
            <a:r>
              <a:rPr lang="en" altLang="ja-JP" sz="2400" dirty="0" err="1"/>
              <a:t>i</a:t>
            </a:r>
            <a:r>
              <a:rPr lang="en" altLang="ja-JP" sz="2400" dirty="0"/>
              <a:t>, 0),</a:t>
            </a:r>
          </a:p>
          <a:p>
            <a:r>
              <a:rPr lang="en" altLang="ja-JP" sz="2400" dirty="0"/>
              <a:t>  </a:t>
            </a:r>
            <a:r>
              <a:rPr lang="en" altLang="ja-JP" sz="2400" dirty="0" err="1"/>
              <a:t>pca_analysis.eigenvectors.at</a:t>
            </a:r>
            <a:r>
              <a:rPr lang="en" altLang="ja-JP" sz="2400" dirty="0"/>
              <a:t>&lt;double&gt;(</a:t>
            </a:r>
            <a:r>
              <a:rPr lang="en" altLang="ja-JP" sz="2400" dirty="0" err="1"/>
              <a:t>i</a:t>
            </a:r>
            <a:r>
              <a:rPr lang="en" altLang="ja-JP" sz="2400" dirty="0"/>
              <a:t>, 1));</a:t>
            </a:r>
          </a:p>
          <a:p>
            <a:r>
              <a:rPr lang="en" altLang="ja-JP" sz="2400" dirty="0"/>
              <a:t>  </a:t>
            </a:r>
            <a:r>
              <a:rPr lang="en" altLang="ja-JP" sz="2400" dirty="0" err="1"/>
              <a:t>eigen_val</a:t>
            </a:r>
            <a:r>
              <a:rPr lang="en" altLang="ja-JP" sz="2400" dirty="0"/>
              <a:t>[</a:t>
            </a:r>
            <a:r>
              <a:rPr lang="en" altLang="ja-JP" sz="2400" dirty="0" err="1"/>
              <a:t>i</a:t>
            </a:r>
            <a:r>
              <a:rPr lang="en" altLang="ja-JP" sz="2400" dirty="0"/>
              <a:t>] = </a:t>
            </a:r>
            <a:r>
              <a:rPr lang="en" altLang="ja-JP" sz="2400" dirty="0" err="1"/>
              <a:t>pca_analysis.eigenvalues.at</a:t>
            </a:r>
            <a:r>
              <a:rPr lang="en" altLang="ja-JP" sz="2400" dirty="0"/>
              <a:t>&lt;double&gt;(</a:t>
            </a:r>
            <a:r>
              <a:rPr lang="en" altLang="ja-JP" sz="2400" dirty="0" err="1"/>
              <a:t>i</a:t>
            </a:r>
            <a:r>
              <a:rPr lang="en" altLang="ja-JP" sz="2400" dirty="0"/>
              <a:t>);</a:t>
            </a:r>
          </a:p>
          <a:p>
            <a:r>
              <a:rPr lang="en" altLang="ja-JP" sz="2400" dirty="0"/>
              <a:t>}</a:t>
            </a:r>
          </a:p>
          <a:p>
            <a:endParaRPr kumimoji="1" lang="ja-JP" altLang="en-US"/>
          </a:p>
        </p:txBody>
      </p:sp>
    </p:spTree>
    <p:extLst>
      <p:ext uri="{BB962C8B-B14F-4D97-AF65-F5344CB8AC3E}">
        <p14:creationId xmlns:p14="http://schemas.microsoft.com/office/powerpoint/2010/main" val="1672069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FA27D5EF-C6D0-1FD5-ABED-DAB7EECAA99D}"/>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675CE1A1-AC84-EFB7-5728-8D2ED9D2875B}"/>
              </a:ext>
            </a:extLst>
          </p:cNvPr>
          <p:cNvSpPr txBox="1"/>
          <p:nvPr/>
        </p:nvSpPr>
        <p:spPr>
          <a:xfrm>
            <a:off x="385370" y="120924"/>
            <a:ext cx="2823209" cy="461665"/>
          </a:xfrm>
          <a:prstGeom prst="rect">
            <a:avLst/>
          </a:prstGeom>
          <a:noFill/>
        </p:spPr>
        <p:txBody>
          <a:bodyPr wrap="none" rtlCol="0">
            <a:spAutoFit/>
          </a:bodyPr>
          <a:lstStyle/>
          <a:p>
            <a:r>
              <a:rPr lang="ja-JP" altLang="en-US" sz="2400" b="1">
                <a:solidFill>
                  <a:schemeClr val="bg1"/>
                </a:solidFill>
              </a:rPr>
              <a:t>演習</a:t>
            </a:r>
            <a:r>
              <a:rPr lang="en-US" altLang="ja-JP" sz="2400" b="1" dirty="0">
                <a:solidFill>
                  <a:schemeClr val="bg1"/>
                </a:solidFill>
              </a:rPr>
              <a:t>1</a:t>
            </a:r>
            <a:r>
              <a:rPr lang="ja-JP" altLang="en-US" sz="2400" b="1">
                <a:solidFill>
                  <a:schemeClr val="bg1"/>
                </a:solidFill>
              </a:rPr>
              <a:t>：主成分分析</a:t>
            </a:r>
          </a:p>
        </p:txBody>
      </p:sp>
      <p:sp>
        <p:nvSpPr>
          <p:cNvPr id="3" name="テキスト ボックス 2">
            <a:extLst>
              <a:ext uri="{FF2B5EF4-FFF2-40B4-BE49-F238E27FC236}">
                <a16:creationId xmlns:a16="http://schemas.microsoft.com/office/drawing/2014/main" id="{0C00E4D5-B11A-FEB1-22B2-CBF7E4E44A27}"/>
              </a:ext>
            </a:extLst>
          </p:cNvPr>
          <p:cNvSpPr txBox="1"/>
          <p:nvPr/>
        </p:nvSpPr>
        <p:spPr>
          <a:xfrm>
            <a:off x="836387" y="948690"/>
            <a:ext cx="10441214" cy="4431983"/>
          </a:xfrm>
          <a:prstGeom prst="rect">
            <a:avLst/>
          </a:prstGeom>
          <a:noFill/>
        </p:spPr>
        <p:txBody>
          <a:bodyPr wrap="square" rtlCol="0">
            <a:spAutoFit/>
          </a:bodyPr>
          <a:lstStyle/>
          <a:p>
            <a:r>
              <a:rPr lang="en-US" altLang="ja-JP" sz="2400" dirty="0"/>
              <a:t>// </a:t>
            </a:r>
            <a:r>
              <a:rPr lang="ja-JP" altLang="en-US" sz="2400"/>
              <a:t>分析結果を描画</a:t>
            </a:r>
          </a:p>
          <a:p>
            <a:r>
              <a:rPr lang="en-US" altLang="ja-JP" sz="2400" dirty="0"/>
              <a:t>// </a:t>
            </a:r>
            <a:r>
              <a:rPr lang="ja-JP" altLang="en-US" sz="2400"/>
              <a:t>中心座標を描画</a:t>
            </a:r>
          </a:p>
          <a:p>
            <a:r>
              <a:rPr lang="en" altLang="ja-JP" sz="2400" dirty="0"/>
              <a:t>cv::circle(</a:t>
            </a:r>
            <a:r>
              <a:rPr lang="en" altLang="ja-JP" sz="2400" dirty="0" err="1"/>
              <a:t>img</a:t>
            </a:r>
            <a:r>
              <a:rPr lang="en" altLang="ja-JP" sz="2400" dirty="0"/>
              <a:t>, center, 3, cv::Scalar(255, 0, 255), 2);</a:t>
            </a:r>
          </a:p>
          <a:p>
            <a:r>
              <a:rPr lang="en" altLang="ja-JP" sz="2400" dirty="0"/>
              <a:t>// </a:t>
            </a:r>
            <a:r>
              <a:rPr lang="ja-JP" altLang="en-US" sz="2400"/>
              <a:t>第</a:t>
            </a:r>
            <a:r>
              <a:rPr lang="en-US" altLang="ja-JP" sz="2400" dirty="0"/>
              <a:t>1</a:t>
            </a:r>
            <a:r>
              <a:rPr lang="ja-JP" altLang="en-US" sz="2400"/>
              <a:t>主成分</a:t>
            </a:r>
          </a:p>
          <a:p>
            <a:r>
              <a:rPr lang="en" altLang="ja-JP" sz="2400" dirty="0"/>
              <a:t>cv::Point p1 = center + 0.02 * cv::Point(</a:t>
            </a:r>
            <a:r>
              <a:rPr lang="en" altLang="ja-JP" sz="2400" dirty="0" err="1"/>
              <a:t>eigen_vecs</a:t>
            </a:r>
            <a:r>
              <a:rPr lang="en" altLang="ja-JP" sz="2400" dirty="0"/>
              <a:t>[0].x * </a:t>
            </a:r>
            <a:r>
              <a:rPr lang="en" altLang="ja-JP" sz="2400" dirty="0" err="1"/>
              <a:t>eigen_val</a:t>
            </a:r>
            <a:r>
              <a:rPr lang="en" altLang="ja-JP" sz="2400" dirty="0"/>
              <a:t>[0], </a:t>
            </a:r>
            <a:r>
              <a:rPr lang="en" altLang="ja-JP" sz="2400" dirty="0" err="1"/>
              <a:t>eigen_vecs</a:t>
            </a:r>
            <a:r>
              <a:rPr lang="en" altLang="ja-JP" sz="2400" dirty="0"/>
              <a:t>[0].y * </a:t>
            </a:r>
            <a:r>
              <a:rPr lang="en" altLang="ja-JP" sz="2400" dirty="0" err="1"/>
              <a:t>eigen_val</a:t>
            </a:r>
            <a:r>
              <a:rPr lang="en" altLang="ja-JP" sz="2400" dirty="0"/>
              <a:t>[0]);</a:t>
            </a:r>
          </a:p>
          <a:p>
            <a:r>
              <a:rPr lang="en" altLang="ja-JP" sz="2400" dirty="0"/>
              <a:t>// </a:t>
            </a:r>
            <a:r>
              <a:rPr lang="ja-JP" altLang="en-US" sz="2400"/>
              <a:t>第</a:t>
            </a:r>
            <a:r>
              <a:rPr lang="en-US" altLang="ja-JP" sz="2400" dirty="0"/>
              <a:t>2</a:t>
            </a:r>
            <a:r>
              <a:rPr lang="ja-JP" altLang="en-US" sz="2400"/>
              <a:t>主成分</a:t>
            </a:r>
          </a:p>
          <a:p>
            <a:r>
              <a:rPr lang="en" altLang="ja-JP" sz="2400" dirty="0"/>
              <a:t>cv::Point p2 = center - 0.02 * cv::Point(</a:t>
            </a:r>
            <a:r>
              <a:rPr lang="en" altLang="ja-JP" sz="2400" dirty="0" err="1"/>
              <a:t>eigen_vecs</a:t>
            </a:r>
            <a:r>
              <a:rPr lang="en" altLang="ja-JP" sz="2400" dirty="0"/>
              <a:t>[1].x * </a:t>
            </a:r>
            <a:r>
              <a:rPr lang="en" altLang="ja-JP" sz="2400" dirty="0" err="1"/>
              <a:t>eigen_val</a:t>
            </a:r>
            <a:r>
              <a:rPr lang="en" altLang="ja-JP" sz="2400" dirty="0"/>
              <a:t>[1], </a:t>
            </a:r>
            <a:r>
              <a:rPr lang="en" altLang="ja-JP" sz="2400" dirty="0" err="1"/>
              <a:t>eigen_vecs</a:t>
            </a:r>
            <a:r>
              <a:rPr lang="en" altLang="ja-JP" sz="2400" dirty="0"/>
              <a:t>[1].y * </a:t>
            </a:r>
            <a:r>
              <a:rPr lang="en" altLang="ja-JP" sz="2400" dirty="0" err="1"/>
              <a:t>eigen_val</a:t>
            </a:r>
            <a:r>
              <a:rPr lang="en" altLang="ja-JP" sz="2400" dirty="0"/>
              <a:t>[1]);</a:t>
            </a:r>
          </a:p>
          <a:p>
            <a:r>
              <a:rPr lang="en" altLang="ja-JP" sz="2400" dirty="0" err="1"/>
              <a:t>drawAxis</a:t>
            </a:r>
            <a:r>
              <a:rPr lang="en" altLang="ja-JP" sz="2400" dirty="0"/>
              <a:t>(</a:t>
            </a:r>
            <a:r>
              <a:rPr lang="en" altLang="ja-JP" sz="2400" dirty="0" err="1"/>
              <a:t>img</a:t>
            </a:r>
            <a:r>
              <a:rPr lang="en" altLang="ja-JP" sz="2400" dirty="0"/>
              <a:t>, center, p1, cv::Scalar(0, 255, 0), 1);</a:t>
            </a:r>
          </a:p>
          <a:p>
            <a:r>
              <a:rPr lang="en" altLang="ja-JP" sz="2400" dirty="0" err="1"/>
              <a:t>drawAxis</a:t>
            </a:r>
            <a:r>
              <a:rPr lang="en" altLang="ja-JP" sz="2400" dirty="0"/>
              <a:t>(</a:t>
            </a:r>
            <a:r>
              <a:rPr lang="en" altLang="ja-JP" sz="2400" dirty="0" err="1"/>
              <a:t>img</a:t>
            </a:r>
            <a:r>
              <a:rPr lang="en" altLang="ja-JP" sz="2400" dirty="0"/>
              <a:t>, center, p2, cv::Scalar(255, 255, 0), 5);</a:t>
            </a:r>
          </a:p>
          <a:p>
            <a:endParaRPr kumimoji="1" lang="ja-JP" altLang="en-US"/>
          </a:p>
        </p:txBody>
      </p:sp>
    </p:spTree>
    <p:extLst>
      <p:ext uri="{BB962C8B-B14F-4D97-AF65-F5344CB8AC3E}">
        <p14:creationId xmlns:p14="http://schemas.microsoft.com/office/powerpoint/2010/main" val="1947265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グループ化 62">
            <a:extLst>
              <a:ext uri="{FF2B5EF4-FFF2-40B4-BE49-F238E27FC236}">
                <a16:creationId xmlns:a16="http://schemas.microsoft.com/office/drawing/2014/main" id="{3B58F4ED-B3FE-61A8-1DE5-934E141CC674}"/>
              </a:ext>
            </a:extLst>
          </p:cNvPr>
          <p:cNvGrpSpPr/>
          <p:nvPr/>
        </p:nvGrpSpPr>
        <p:grpSpPr>
          <a:xfrm>
            <a:off x="876062" y="1803400"/>
            <a:ext cx="4614936" cy="4876800"/>
            <a:chOff x="876062" y="1803400"/>
            <a:chExt cx="4614936" cy="4876800"/>
          </a:xfrm>
        </p:grpSpPr>
        <p:sp>
          <p:nvSpPr>
            <p:cNvPr id="42" name="三角形 41">
              <a:extLst>
                <a:ext uri="{FF2B5EF4-FFF2-40B4-BE49-F238E27FC236}">
                  <a16:creationId xmlns:a16="http://schemas.microsoft.com/office/drawing/2014/main" id="{FA6F6463-E19D-6B0C-8501-D07D6ACAA60E}"/>
                </a:ext>
              </a:extLst>
            </p:cNvPr>
            <p:cNvSpPr/>
            <p:nvPr/>
          </p:nvSpPr>
          <p:spPr>
            <a:xfrm rot="16579232">
              <a:off x="2922922" y="5973689"/>
              <a:ext cx="138194" cy="26700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角丸四角形 40">
              <a:extLst>
                <a:ext uri="{FF2B5EF4-FFF2-40B4-BE49-F238E27FC236}">
                  <a16:creationId xmlns:a16="http://schemas.microsoft.com/office/drawing/2014/main" id="{7919B388-E301-9E94-22A8-7379377E8AA3}"/>
                </a:ext>
              </a:extLst>
            </p:cNvPr>
            <p:cNvSpPr/>
            <p:nvPr/>
          </p:nvSpPr>
          <p:spPr>
            <a:xfrm>
              <a:off x="3044660" y="5471410"/>
              <a:ext cx="2446338" cy="864029"/>
            </a:xfrm>
            <a:prstGeom prst="round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0A0BFE65-2A77-75F8-B012-607B9882CC22}"/>
                </a:ext>
              </a:extLst>
            </p:cNvPr>
            <p:cNvSpPr txBox="1"/>
            <p:nvPr/>
          </p:nvSpPr>
          <p:spPr>
            <a:xfrm>
              <a:off x="3193402" y="5611036"/>
              <a:ext cx="2236510" cy="584775"/>
            </a:xfrm>
            <a:prstGeom prst="rect">
              <a:avLst/>
            </a:prstGeom>
            <a:noFill/>
          </p:spPr>
          <p:txBody>
            <a:bodyPr wrap="none" rtlCol="0">
              <a:spAutoFit/>
            </a:bodyPr>
            <a:lstStyle/>
            <a:p>
              <a:r>
                <a:rPr kumimoji="1" lang="ja-JP" altLang="en-US" sz="3200"/>
                <a:t>顔ではない</a:t>
              </a:r>
            </a:p>
          </p:txBody>
        </p:sp>
        <p:pic>
          <p:nvPicPr>
            <p:cNvPr id="38" name="図 37" descr="アイコン&#10;&#10;自動的に生成された説明">
              <a:extLst>
                <a:ext uri="{FF2B5EF4-FFF2-40B4-BE49-F238E27FC236}">
                  <a16:creationId xmlns:a16="http://schemas.microsoft.com/office/drawing/2014/main" id="{4CC30140-32E8-A57E-721D-E2D095D4462B}"/>
                </a:ext>
              </a:extLst>
            </p:cNvPr>
            <p:cNvPicPr>
              <a:picLocks noChangeAspect="1"/>
            </p:cNvPicPr>
            <p:nvPr/>
          </p:nvPicPr>
          <p:blipFill>
            <a:blip r:embed="rId2"/>
            <a:stretch>
              <a:fillRect/>
            </a:stretch>
          </p:blipFill>
          <p:spPr>
            <a:xfrm>
              <a:off x="1055184" y="5054600"/>
              <a:ext cx="1625600" cy="1625600"/>
            </a:xfrm>
            <a:prstGeom prst="rect">
              <a:avLst/>
            </a:prstGeom>
          </p:spPr>
        </p:pic>
        <p:pic>
          <p:nvPicPr>
            <p:cNvPr id="39" name="図 38" descr="帽子を被っている女性&#10;&#10;自動的に生成された説明">
              <a:extLst>
                <a:ext uri="{FF2B5EF4-FFF2-40B4-BE49-F238E27FC236}">
                  <a16:creationId xmlns:a16="http://schemas.microsoft.com/office/drawing/2014/main" id="{D7E0D66D-A4DE-F004-600C-56CF892BBD25}"/>
                </a:ext>
              </a:extLst>
            </p:cNvPr>
            <p:cNvPicPr>
              <a:picLocks noChangeAspect="1"/>
            </p:cNvPicPr>
            <p:nvPr/>
          </p:nvPicPr>
          <p:blipFill>
            <a:blip r:embed="rId3"/>
            <a:stretch>
              <a:fillRect/>
            </a:stretch>
          </p:blipFill>
          <p:spPr>
            <a:xfrm>
              <a:off x="876062" y="1803400"/>
              <a:ext cx="3251200" cy="3251200"/>
            </a:xfrm>
            <a:prstGeom prst="rect">
              <a:avLst/>
            </a:prstGeom>
          </p:spPr>
        </p:pic>
        <p:sp>
          <p:nvSpPr>
            <p:cNvPr id="44" name="正方形/長方形 43">
              <a:extLst>
                <a:ext uri="{FF2B5EF4-FFF2-40B4-BE49-F238E27FC236}">
                  <a16:creationId xmlns:a16="http://schemas.microsoft.com/office/drawing/2014/main" id="{3FBF4D76-851B-F9E3-393C-F587F207E6B0}"/>
                </a:ext>
              </a:extLst>
            </p:cNvPr>
            <p:cNvSpPr/>
            <p:nvPr/>
          </p:nvSpPr>
          <p:spPr>
            <a:xfrm>
              <a:off x="915195" y="1837961"/>
              <a:ext cx="540000" cy="540000"/>
            </a:xfrm>
            <a:prstGeom prst="rect">
              <a:avLst/>
            </a:prstGeom>
            <a:solidFill>
              <a:schemeClr val="bg1">
                <a:alpha val="66287"/>
              </a:schemeClr>
            </a:solidFill>
            <a:ln w="6350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右矢印 44">
              <a:extLst>
                <a:ext uri="{FF2B5EF4-FFF2-40B4-BE49-F238E27FC236}">
                  <a16:creationId xmlns:a16="http://schemas.microsoft.com/office/drawing/2014/main" id="{12AD0C53-F163-F0C7-C14F-C804103F4A39}"/>
                </a:ext>
              </a:extLst>
            </p:cNvPr>
            <p:cNvSpPr/>
            <p:nvPr/>
          </p:nvSpPr>
          <p:spPr>
            <a:xfrm>
              <a:off x="1640189" y="1928079"/>
              <a:ext cx="1199213" cy="359764"/>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a:extLst>
                <a:ext uri="{FF2B5EF4-FFF2-40B4-BE49-F238E27FC236}">
                  <a16:creationId xmlns:a16="http://schemas.microsoft.com/office/drawing/2014/main" id="{222A228A-D5F0-F74E-0314-75B7217B0160}"/>
                </a:ext>
              </a:extLst>
            </p:cNvPr>
            <p:cNvSpPr/>
            <p:nvPr/>
          </p:nvSpPr>
          <p:spPr>
            <a:xfrm>
              <a:off x="2452019" y="3401221"/>
              <a:ext cx="540000" cy="540000"/>
            </a:xfrm>
            <a:prstGeom prst="rect">
              <a:avLst/>
            </a:prstGeom>
            <a:solidFill>
              <a:schemeClr val="bg1">
                <a:alpha val="66287"/>
              </a:schemeClr>
            </a:solidFill>
            <a:ln w="6350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2" name="図 61" descr="帽子を被っている女性&#10;&#10;自動的に生成された説明">
              <a:extLst>
                <a:ext uri="{FF2B5EF4-FFF2-40B4-BE49-F238E27FC236}">
                  <a16:creationId xmlns:a16="http://schemas.microsoft.com/office/drawing/2014/main" id="{90DBEF09-3891-309A-24D3-6BA106154811}"/>
                </a:ext>
              </a:extLst>
            </p:cNvPr>
            <p:cNvPicPr>
              <a:picLocks noChangeAspect="1"/>
            </p:cNvPicPr>
            <p:nvPr/>
          </p:nvPicPr>
          <p:blipFill rotWithShape="1">
            <a:blip r:embed="rId3"/>
            <a:srcRect l="47020" t="49732" r="36371" b="33659"/>
            <a:stretch/>
          </p:blipFill>
          <p:spPr>
            <a:xfrm>
              <a:off x="4410997" y="3144070"/>
              <a:ext cx="1080000" cy="1080000"/>
            </a:xfrm>
            <a:prstGeom prst="rect">
              <a:avLst/>
            </a:prstGeom>
          </p:spPr>
        </p:pic>
      </p:grpSp>
      <p:sp>
        <p:nvSpPr>
          <p:cNvPr id="65" name="三角形 64">
            <a:extLst>
              <a:ext uri="{FF2B5EF4-FFF2-40B4-BE49-F238E27FC236}">
                <a16:creationId xmlns:a16="http://schemas.microsoft.com/office/drawing/2014/main" id="{E4EB24CF-FE98-0D46-4CAA-69DEC2A378AA}"/>
              </a:ext>
            </a:extLst>
          </p:cNvPr>
          <p:cNvSpPr/>
          <p:nvPr/>
        </p:nvSpPr>
        <p:spPr>
          <a:xfrm rot="16579232">
            <a:off x="8747864" y="5955959"/>
            <a:ext cx="138194" cy="26700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角丸四角形 65">
            <a:extLst>
              <a:ext uri="{FF2B5EF4-FFF2-40B4-BE49-F238E27FC236}">
                <a16:creationId xmlns:a16="http://schemas.microsoft.com/office/drawing/2014/main" id="{37652D6D-EC3D-D199-BD0E-D22598DEF4FF}"/>
              </a:ext>
            </a:extLst>
          </p:cNvPr>
          <p:cNvSpPr/>
          <p:nvPr/>
        </p:nvSpPr>
        <p:spPr>
          <a:xfrm>
            <a:off x="8869602" y="5453680"/>
            <a:ext cx="2446338" cy="864029"/>
          </a:xfrm>
          <a:prstGeom prst="round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テキスト ボックス 66">
            <a:extLst>
              <a:ext uri="{FF2B5EF4-FFF2-40B4-BE49-F238E27FC236}">
                <a16:creationId xmlns:a16="http://schemas.microsoft.com/office/drawing/2014/main" id="{8153D46C-130F-C668-594F-36B00D500B1F}"/>
              </a:ext>
            </a:extLst>
          </p:cNvPr>
          <p:cNvSpPr txBox="1"/>
          <p:nvPr/>
        </p:nvSpPr>
        <p:spPr>
          <a:xfrm>
            <a:off x="9018344" y="5593306"/>
            <a:ext cx="1826141" cy="584775"/>
          </a:xfrm>
          <a:prstGeom prst="rect">
            <a:avLst/>
          </a:prstGeom>
          <a:noFill/>
        </p:spPr>
        <p:txBody>
          <a:bodyPr wrap="none" rtlCol="0">
            <a:spAutoFit/>
          </a:bodyPr>
          <a:lstStyle/>
          <a:p>
            <a:r>
              <a:rPr kumimoji="1" lang="ja-JP" altLang="en-US" sz="3200"/>
              <a:t>顔です！</a:t>
            </a:r>
          </a:p>
        </p:txBody>
      </p:sp>
      <p:pic>
        <p:nvPicPr>
          <p:cNvPr id="68" name="図 67" descr="アイコン&#10;&#10;自動的に生成された説明">
            <a:extLst>
              <a:ext uri="{FF2B5EF4-FFF2-40B4-BE49-F238E27FC236}">
                <a16:creationId xmlns:a16="http://schemas.microsoft.com/office/drawing/2014/main" id="{926A1F66-1750-75C6-12E2-C7D80847A660}"/>
              </a:ext>
            </a:extLst>
          </p:cNvPr>
          <p:cNvPicPr>
            <a:picLocks noChangeAspect="1"/>
          </p:cNvPicPr>
          <p:nvPr/>
        </p:nvPicPr>
        <p:blipFill>
          <a:blip r:embed="rId2"/>
          <a:stretch>
            <a:fillRect/>
          </a:stretch>
        </p:blipFill>
        <p:spPr>
          <a:xfrm>
            <a:off x="6880126" y="5036870"/>
            <a:ext cx="1625600" cy="1625600"/>
          </a:xfrm>
          <a:prstGeom prst="rect">
            <a:avLst/>
          </a:prstGeom>
        </p:spPr>
      </p:pic>
      <p:pic>
        <p:nvPicPr>
          <p:cNvPr id="69" name="図 68" descr="帽子を被っている女性&#10;&#10;自動的に生成された説明">
            <a:extLst>
              <a:ext uri="{FF2B5EF4-FFF2-40B4-BE49-F238E27FC236}">
                <a16:creationId xmlns:a16="http://schemas.microsoft.com/office/drawing/2014/main" id="{6BB107EB-19EA-6E70-C819-B23CAA73B4DA}"/>
              </a:ext>
            </a:extLst>
          </p:cNvPr>
          <p:cNvPicPr>
            <a:picLocks noChangeAspect="1"/>
          </p:cNvPicPr>
          <p:nvPr/>
        </p:nvPicPr>
        <p:blipFill>
          <a:blip r:embed="rId3"/>
          <a:stretch>
            <a:fillRect/>
          </a:stretch>
        </p:blipFill>
        <p:spPr>
          <a:xfrm>
            <a:off x="6701004" y="2207698"/>
            <a:ext cx="2446339" cy="2446339"/>
          </a:xfrm>
          <a:prstGeom prst="rect">
            <a:avLst/>
          </a:prstGeom>
        </p:spPr>
      </p:pic>
      <p:sp>
        <p:nvSpPr>
          <p:cNvPr id="70" name="正方形/長方形 69">
            <a:extLst>
              <a:ext uri="{FF2B5EF4-FFF2-40B4-BE49-F238E27FC236}">
                <a16:creationId xmlns:a16="http://schemas.microsoft.com/office/drawing/2014/main" id="{12DDA49B-A97C-6FBF-25C5-7825DB85E670}"/>
              </a:ext>
            </a:extLst>
          </p:cNvPr>
          <p:cNvSpPr/>
          <p:nvPr/>
        </p:nvSpPr>
        <p:spPr>
          <a:xfrm>
            <a:off x="6740137" y="2242259"/>
            <a:ext cx="540000" cy="540000"/>
          </a:xfrm>
          <a:prstGeom prst="rect">
            <a:avLst/>
          </a:prstGeom>
          <a:solidFill>
            <a:schemeClr val="bg1">
              <a:alpha val="66287"/>
            </a:schemeClr>
          </a:solidFill>
          <a:ln w="6350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右矢印 70">
            <a:extLst>
              <a:ext uri="{FF2B5EF4-FFF2-40B4-BE49-F238E27FC236}">
                <a16:creationId xmlns:a16="http://schemas.microsoft.com/office/drawing/2014/main" id="{2249835A-901F-3885-15F1-6B955F7F06A4}"/>
              </a:ext>
            </a:extLst>
          </p:cNvPr>
          <p:cNvSpPr/>
          <p:nvPr/>
        </p:nvSpPr>
        <p:spPr>
          <a:xfrm>
            <a:off x="7465131" y="2332377"/>
            <a:ext cx="1199213" cy="359764"/>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726E2FE0-C0F9-407F-7ABA-5A796F6EE20B}"/>
              </a:ext>
            </a:extLst>
          </p:cNvPr>
          <p:cNvSpPr/>
          <p:nvPr/>
        </p:nvSpPr>
        <p:spPr>
          <a:xfrm>
            <a:off x="7794737" y="3403089"/>
            <a:ext cx="540000" cy="540000"/>
          </a:xfrm>
          <a:prstGeom prst="rect">
            <a:avLst/>
          </a:prstGeom>
          <a:solidFill>
            <a:schemeClr val="bg1">
              <a:alpha val="66287"/>
            </a:schemeClr>
          </a:solidFill>
          <a:ln w="6350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4" name="図 73" descr="帽子を被っている女性&#10;&#10;自動的に生成された説明">
            <a:extLst>
              <a:ext uri="{FF2B5EF4-FFF2-40B4-BE49-F238E27FC236}">
                <a16:creationId xmlns:a16="http://schemas.microsoft.com/office/drawing/2014/main" id="{670CB495-DBA4-D225-EFD5-F6C1FAA992CB}"/>
              </a:ext>
            </a:extLst>
          </p:cNvPr>
          <p:cNvPicPr>
            <a:picLocks noChangeAspect="1"/>
          </p:cNvPicPr>
          <p:nvPr/>
        </p:nvPicPr>
        <p:blipFill rotWithShape="1">
          <a:blip r:embed="rId3"/>
          <a:srcRect l="45154" t="49448" r="32803" b="28509"/>
          <a:stretch/>
        </p:blipFill>
        <p:spPr>
          <a:xfrm>
            <a:off x="10136599" y="3144070"/>
            <a:ext cx="1080000" cy="1080000"/>
          </a:xfrm>
          <a:prstGeom prst="rect">
            <a:avLst/>
          </a:prstGeom>
        </p:spPr>
      </p:pic>
      <p:sp>
        <p:nvSpPr>
          <p:cNvPr id="75" name="テキスト ボックス 74">
            <a:extLst>
              <a:ext uri="{FF2B5EF4-FFF2-40B4-BE49-F238E27FC236}">
                <a16:creationId xmlns:a16="http://schemas.microsoft.com/office/drawing/2014/main" id="{97383366-88A6-FD19-A4EF-CAE52837B500}"/>
              </a:ext>
            </a:extLst>
          </p:cNvPr>
          <p:cNvSpPr txBox="1"/>
          <p:nvPr/>
        </p:nvSpPr>
        <p:spPr>
          <a:xfrm>
            <a:off x="1643499" y="948466"/>
            <a:ext cx="8905002" cy="707886"/>
          </a:xfrm>
          <a:prstGeom prst="rect">
            <a:avLst/>
          </a:prstGeom>
          <a:noFill/>
        </p:spPr>
        <p:txBody>
          <a:bodyPr wrap="none" rtlCol="0">
            <a:spAutoFit/>
          </a:bodyPr>
          <a:lstStyle/>
          <a:p>
            <a:r>
              <a:rPr kumimoji="1" lang="ja-JP" altLang="en-US" sz="2000" b="1">
                <a:solidFill>
                  <a:schemeClr val="accent1">
                    <a:lumMod val="50000"/>
                  </a:schemeClr>
                </a:solidFill>
              </a:rPr>
              <a:t>画像内の対象の大きさは常に一定とは限らない．</a:t>
            </a:r>
            <a:endParaRPr kumimoji="1" lang="en-US" altLang="ja-JP" sz="2000" b="1" dirty="0">
              <a:solidFill>
                <a:schemeClr val="accent1">
                  <a:lumMod val="50000"/>
                </a:schemeClr>
              </a:solidFill>
            </a:endParaRPr>
          </a:p>
          <a:p>
            <a:r>
              <a:rPr lang="ja-JP" altLang="en-US" sz="2000" b="1">
                <a:solidFill>
                  <a:schemeClr val="accent1">
                    <a:lumMod val="50000"/>
                  </a:schemeClr>
                </a:solidFill>
              </a:rPr>
              <a:t>そのため入力画像に対してイメージピラミッド（複数の解像度）を作成する</a:t>
            </a:r>
            <a:endParaRPr kumimoji="1" lang="ja-JP" altLang="en-US" sz="2000" b="1">
              <a:solidFill>
                <a:schemeClr val="accent1">
                  <a:lumMod val="50000"/>
                </a:schemeClr>
              </a:solidFill>
            </a:endParaRPr>
          </a:p>
        </p:txBody>
      </p:sp>
      <p:sp>
        <p:nvSpPr>
          <p:cNvPr id="23" name="正方形/長方形 22">
            <a:extLst>
              <a:ext uri="{FF2B5EF4-FFF2-40B4-BE49-F238E27FC236}">
                <a16:creationId xmlns:a16="http://schemas.microsoft.com/office/drawing/2014/main" id="{77B66975-ADF5-EF30-0099-85245FA6EA2A}"/>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70EEACBD-C8D8-0EB4-C417-17E22C4A16C1}"/>
              </a:ext>
            </a:extLst>
          </p:cNvPr>
          <p:cNvSpPr txBox="1"/>
          <p:nvPr/>
        </p:nvSpPr>
        <p:spPr>
          <a:xfrm>
            <a:off x="385370" y="120924"/>
            <a:ext cx="1415772" cy="461665"/>
          </a:xfrm>
          <a:prstGeom prst="rect">
            <a:avLst/>
          </a:prstGeom>
          <a:noFill/>
        </p:spPr>
        <p:txBody>
          <a:bodyPr wrap="none" rtlCol="0">
            <a:spAutoFit/>
          </a:bodyPr>
          <a:lstStyle/>
          <a:p>
            <a:r>
              <a:rPr lang="ja-JP" altLang="en-US" sz="2400" b="1">
                <a:solidFill>
                  <a:schemeClr val="bg1"/>
                </a:solidFill>
              </a:rPr>
              <a:t>物体検出</a:t>
            </a:r>
          </a:p>
        </p:txBody>
      </p:sp>
    </p:spTree>
    <p:extLst>
      <p:ext uri="{BB962C8B-B14F-4D97-AF65-F5344CB8AC3E}">
        <p14:creationId xmlns:p14="http://schemas.microsoft.com/office/powerpoint/2010/main" val="1564269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descr="アイコン&#10;&#10;自動的に生成された説明">
            <a:extLst>
              <a:ext uri="{FF2B5EF4-FFF2-40B4-BE49-F238E27FC236}">
                <a16:creationId xmlns:a16="http://schemas.microsoft.com/office/drawing/2014/main" id="{AE5C9F7E-C296-6DCC-87E3-343FD618F4E9}"/>
              </a:ext>
            </a:extLst>
          </p:cNvPr>
          <p:cNvPicPr>
            <a:picLocks noChangeAspect="1"/>
          </p:cNvPicPr>
          <p:nvPr/>
        </p:nvPicPr>
        <p:blipFill>
          <a:blip r:embed="rId2"/>
          <a:stretch>
            <a:fillRect/>
          </a:stretch>
        </p:blipFill>
        <p:spPr>
          <a:xfrm>
            <a:off x="3082926" y="4584874"/>
            <a:ext cx="1625600" cy="1625600"/>
          </a:xfrm>
          <a:prstGeom prst="rect">
            <a:avLst/>
          </a:prstGeom>
        </p:spPr>
      </p:pic>
      <p:sp>
        <p:nvSpPr>
          <p:cNvPr id="14" name="テキスト ボックス 13">
            <a:extLst>
              <a:ext uri="{FF2B5EF4-FFF2-40B4-BE49-F238E27FC236}">
                <a16:creationId xmlns:a16="http://schemas.microsoft.com/office/drawing/2014/main" id="{AA16D7E4-489E-6249-DFC8-76C6F85F45B0}"/>
              </a:ext>
            </a:extLst>
          </p:cNvPr>
          <p:cNvSpPr txBox="1"/>
          <p:nvPr/>
        </p:nvSpPr>
        <p:spPr>
          <a:xfrm>
            <a:off x="1387018" y="1281586"/>
            <a:ext cx="9417963" cy="400110"/>
          </a:xfrm>
          <a:prstGeom prst="rect">
            <a:avLst/>
          </a:prstGeom>
          <a:noFill/>
        </p:spPr>
        <p:txBody>
          <a:bodyPr wrap="none" rtlCol="0">
            <a:spAutoFit/>
          </a:bodyPr>
          <a:lstStyle/>
          <a:p>
            <a:r>
              <a:rPr kumimoji="1" lang="ja-JP" altLang="en-US" sz="2000" b="1">
                <a:solidFill>
                  <a:schemeClr val="accent1">
                    <a:lumMod val="50000"/>
                  </a:schemeClr>
                </a:solidFill>
              </a:rPr>
              <a:t>画像認識をしよう！って時にいちいち学習用画像を用意するわけにはいかない．</a:t>
            </a:r>
          </a:p>
        </p:txBody>
      </p:sp>
      <p:sp>
        <p:nvSpPr>
          <p:cNvPr id="20" name="三角形 19">
            <a:extLst>
              <a:ext uri="{FF2B5EF4-FFF2-40B4-BE49-F238E27FC236}">
                <a16:creationId xmlns:a16="http://schemas.microsoft.com/office/drawing/2014/main" id="{B4842A5C-2DE0-8DB3-A994-B94AEEC369B3}"/>
              </a:ext>
            </a:extLst>
          </p:cNvPr>
          <p:cNvSpPr/>
          <p:nvPr/>
        </p:nvSpPr>
        <p:spPr>
          <a:xfrm rot="13834292">
            <a:off x="2207645" y="3792567"/>
            <a:ext cx="217714" cy="40510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DC7C498D-7874-3DB8-9521-0153362E52A1}"/>
              </a:ext>
            </a:extLst>
          </p:cNvPr>
          <p:cNvSpPr/>
          <p:nvPr/>
        </p:nvSpPr>
        <p:spPr>
          <a:xfrm>
            <a:off x="2316504" y="2989002"/>
            <a:ext cx="3270209" cy="1218842"/>
          </a:xfrm>
          <a:prstGeom prst="round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51487274-FD7F-DA76-2327-C9845EC1FE78}"/>
              </a:ext>
            </a:extLst>
          </p:cNvPr>
          <p:cNvSpPr txBox="1"/>
          <p:nvPr/>
        </p:nvSpPr>
        <p:spPr>
          <a:xfrm>
            <a:off x="2576872" y="3244480"/>
            <a:ext cx="2749471" cy="707886"/>
          </a:xfrm>
          <a:prstGeom prst="rect">
            <a:avLst/>
          </a:prstGeom>
          <a:noFill/>
        </p:spPr>
        <p:txBody>
          <a:bodyPr wrap="none" rtlCol="0">
            <a:spAutoFit/>
          </a:bodyPr>
          <a:lstStyle/>
          <a:p>
            <a:r>
              <a:rPr kumimoji="1" lang="ja-JP" altLang="en-US" sz="2000"/>
              <a:t>この写真から</a:t>
            </a:r>
            <a:endParaRPr kumimoji="1" lang="en-US" altLang="ja-JP" sz="2000" dirty="0"/>
          </a:p>
          <a:p>
            <a:r>
              <a:rPr kumimoji="1" lang="ja-JP" altLang="en-US" sz="2000"/>
              <a:t>人を検出してください</a:t>
            </a:r>
          </a:p>
        </p:txBody>
      </p:sp>
      <p:pic>
        <p:nvPicPr>
          <p:cNvPr id="27" name="図 26" descr="アイコン&#10;&#10;自動的に生成された説明">
            <a:extLst>
              <a:ext uri="{FF2B5EF4-FFF2-40B4-BE49-F238E27FC236}">
                <a16:creationId xmlns:a16="http://schemas.microsoft.com/office/drawing/2014/main" id="{75971AD3-5489-658B-BF76-4806E5369732}"/>
              </a:ext>
            </a:extLst>
          </p:cNvPr>
          <p:cNvPicPr>
            <a:picLocks noChangeAspect="1"/>
          </p:cNvPicPr>
          <p:nvPr/>
        </p:nvPicPr>
        <p:blipFill>
          <a:blip r:embed="rId2"/>
          <a:stretch>
            <a:fillRect/>
          </a:stretch>
        </p:blipFill>
        <p:spPr>
          <a:xfrm>
            <a:off x="9109076" y="4584874"/>
            <a:ext cx="1625600" cy="1625600"/>
          </a:xfrm>
          <a:prstGeom prst="rect">
            <a:avLst/>
          </a:prstGeom>
        </p:spPr>
      </p:pic>
      <p:sp>
        <p:nvSpPr>
          <p:cNvPr id="29" name="三角形 28">
            <a:extLst>
              <a:ext uri="{FF2B5EF4-FFF2-40B4-BE49-F238E27FC236}">
                <a16:creationId xmlns:a16="http://schemas.microsoft.com/office/drawing/2014/main" id="{BA16EF07-C487-5035-807A-9C8D7122DF66}"/>
              </a:ext>
            </a:extLst>
          </p:cNvPr>
          <p:cNvSpPr/>
          <p:nvPr/>
        </p:nvSpPr>
        <p:spPr>
          <a:xfrm rot="11997607">
            <a:off x="10397231" y="4069693"/>
            <a:ext cx="217714" cy="40510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角丸四角形 29">
            <a:extLst>
              <a:ext uri="{FF2B5EF4-FFF2-40B4-BE49-F238E27FC236}">
                <a16:creationId xmlns:a16="http://schemas.microsoft.com/office/drawing/2014/main" id="{CA524EA6-989C-21F0-23D7-7C487713133F}"/>
              </a:ext>
            </a:extLst>
          </p:cNvPr>
          <p:cNvSpPr/>
          <p:nvPr/>
        </p:nvSpPr>
        <p:spPr>
          <a:xfrm>
            <a:off x="7995290" y="2989002"/>
            <a:ext cx="3782732" cy="1218842"/>
          </a:xfrm>
          <a:prstGeom prst="round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09730448-A7C6-FCEC-63E4-C837BB11C491}"/>
              </a:ext>
            </a:extLst>
          </p:cNvPr>
          <p:cNvSpPr txBox="1"/>
          <p:nvPr/>
        </p:nvSpPr>
        <p:spPr>
          <a:xfrm>
            <a:off x="8308488" y="3244480"/>
            <a:ext cx="3291286" cy="707886"/>
          </a:xfrm>
          <a:prstGeom prst="rect">
            <a:avLst/>
          </a:prstGeom>
          <a:noFill/>
        </p:spPr>
        <p:txBody>
          <a:bodyPr wrap="none" rtlCol="0">
            <a:spAutoFit/>
          </a:bodyPr>
          <a:lstStyle/>
          <a:p>
            <a:r>
              <a:rPr kumimoji="1" lang="ja-JP" altLang="en-US" sz="2000"/>
              <a:t>わかりました．</a:t>
            </a:r>
            <a:endParaRPr kumimoji="1" lang="en-US" altLang="ja-JP" sz="2000" dirty="0"/>
          </a:p>
          <a:p>
            <a:r>
              <a:rPr lang="ja-JP" altLang="en-US" sz="2000"/>
              <a:t>学習用画像</a:t>
            </a:r>
            <a:r>
              <a:rPr lang="en-US" altLang="ja-JP" sz="2000" dirty="0"/>
              <a:t>10</a:t>
            </a:r>
            <a:r>
              <a:rPr lang="ja-JP" altLang="en-US" sz="2000"/>
              <a:t>万枚ください</a:t>
            </a:r>
            <a:endParaRPr kumimoji="1" lang="ja-JP" altLang="en-US" sz="2000"/>
          </a:p>
        </p:txBody>
      </p:sp>
      <p:pic>
        <p:nvPicPr>
          <p:cNvPr id="33" name="図 32" descr="時計 が含まれている画像&#10;&#10;自動的に生成された説明">
            <a:extLst>
              <a:ext uri="{FF2B5EF4-FFF2-40B4-BE49-F238E27FC236}">
                <a16:creationId xmlns:a16="http://schemas.microsoft.com/office/drawing/2014/main" id="{705C8E03-B2E7-FA54-4A39-2A9331049234}"/>
              </a:ext>
            </a:extLst>
          </p:cNvPr>
          <p:cNvPicPr>
            <a:picLocks noChangeAspect="1"/>
          </p:cNvPicPr>
          <p:nvPr/>
        </p:nvPicPr>
        <p:blipFill>
          <a:blip r:embed="rId3"/>
          <a:stretch>
            <a:fillRect/>
          </a:stretch>
        </p:blipFill>
        <p:spPr>
          <a:xfrm>
            <a:off x="-2634" y="3308296"/>
            <a:ext cx="3175000" cy="3175000"/>
          </a:xfrm>
          <a:prstGeom prst="rect">
            <a:avLst/>
          </a:prstGeom>
        </p:spPr>
      </p:pic>
      <p:pic>
        <p:nvPicPr>
          <p:cNvPr id="36" name="図 35" descr="黒い背景と白い文字のロゴ&#10;&#10;中程度の精度で自動的に生成された説明">
            <a:extLst>
              <a:ext uri="{FF2B5EF4-FFF2-40B4-BE49-F238E27FC236}">
                <a16:creationId xmlns:a16="http://schemas.microsoft.com/office/drawing/2014/main" id="{26A718D0-5F4C-119E-8E9A-3371A72F6BBA}"/>
              </a:ext>
            </a:extLst>
          </p:cNvPr>
          <p:cNvPicPr>
            <a:picLocks noChangeAspect="1"/>
          </p:cNvPicPr>
          <p:nvPr/>
        </p:nvPicPr>
        <p:blipFill>
          <a:blip r:embed="rId4"/>
          <a:stretch>
            <a:fillRect/>
          </a:stretch>
        </p:blipFill>
        <p:spPr>
          <a:xfrm>
            <a:off x="5844636" y="3035474"/>
            <a:ext cx="3175000" cy="3175000"/>
          </a:xfrm>
          <a:prstGeom prst="rect">
            <a:avLst/>
          </a:prstGeom>
        </p:spPr>
      </p:pic>
      <p:sp>
        <p:nvSpPr>
          <p:cNvPr id="15" name="正方形/長方形 14">
            <a:extLst>
              <a:ext uri="{FF2B5EF4-FFF2-40B4-BE49-F238E27FC236}">
                <a16:creationId xmlns:a16="http://schemas.microsoft.com/office/drawing/2014/main" id="{ECC7D741-5753-3CE1-F9B8-406D3375D0F3}"/>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76BF3506-F96C-9920-9055-088D0487AF46}"/>
              </a:ext>
            </a:extLst>
          </p:cNvPr>
          <p:cNvSpPr txBox="1"/>
          <p:nvPr/>
        </p:nvSpPr>
        <p:spPr>
          <a:xfrm>
            <a:off x="385370" y="120924"/>
            <a:ext cx="2646878" cy="461665"/>
          </a:xfrm>
          <a:prstGeom prst="rect">
            <a:avLst/>
          </a:prstGeom>
          <a:noFill/>
        </p:spPr>
        <p:txBody>
          <a:bodyPr wrap="none" rtlCol="0">
            <a:spAutoFit/>
          </a:bodyPr>
          <a:lstStyle/>
          <a:p>
            <a:r>
              <a:rPr lang="ja-JP" altLang="en-US" sz="2400" b="1">
                <a:solidFill>
                  <a:schemeClr val="bg1"/>
                </a:solidFill>
              </a:rPr>
              <a:t>カスケード分類器</a:t>
            </a:r>
          </a:p>
        </p:txBody>
      </p:sp>
    </p:spTree>
    <p:extLst>
      <p:ext uri="{BB962C8B-B14F-4D97-AF65-F5344CB8AC3E}">
        <p14:creationId xmlns:p14="http://schemas.microsoft.com/office/powerpoint/2010/main" val="2700423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descr="抽象, シャツ が含まれている画像&#10;&#10;自動的に生成された説明">
            <a:extLst>
              <a:ext uri="{FF2B5EF4-FFF2-40B4-BE49-F238E27FC236}">
                <a16:creationId xmlns:a16="http://schemas.microsoft.com/office/drawing/2014/main" id="{8F013146-E813-ABB1-CABA-766A5B9B1668}"/>
              </a:ext>
            </a:extLst>
          </p:cNvPr>
          <p:cNvPicPr>
            <a:picLocks noChangeAspect="1"/>
          </p:cNvPicPr>
          <p:nvPr/>
        </p:nvPicPr>
        <p:blipFill>
          <a:blip r:embed="rId2"/>
          <a:stretch>
            <a:fillRect/>
          </a:stretch>
        </p:blipFill>
        <p:spPr>
          <a:xfrm>
            <a:off x="-92074" y="3308296"/>
            <a:ext cx="3175000" cy="3175000"/>
          </a:xfrm>
          <a:prstGeom prst="rect">
            <a:avLst/>
          </a:prstGeom>
        </p:spPr>
      </p:pic>
      <p:sp>
        <p:nvSpPr>
          <p:cNvPr id="20" name="三角形 19">
            <a:extLst>
              <a:ext uri="{FF2B5EF4-FFF2-40B4-BE49-F238E27FC236}">
                <a16:creationId xmlns:a16="http://schemas.microsoft.com/office/drawing/2014/main" id="{B4842A5C-2DE0-8DB3-A994-B94AEEC369B3}"/>
              </a:ext>
            </a:extLst>
          </p:cNvPr>
          <p:cNvSpPr/>
          <p:nvPr/>
        </p:nvSpPr>
        <p:spPr>
          <a:xfrm rot="13834292">
            <a:off x="2207645" y="3792567"/>
            <a:ext cx="217714" cy="40510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DC7C498D-7874-3DB8-9521-0153362E52A1}"/>
              </a:ext>
            </a:extLst>
          </p:cNvPr>
          <p:cNvSpPr/>
          <p:nvPr/>
        </p:nvSpPr>
        <p:spPr>
          <a:xfrm>
            <a:off x="2316504" y="2989002"/>
            <a:ext cx="3270209" cy="1218842"/>
          </a:xfrm>
          <a:prstGeom prst="round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51487274-FD7F-DA76-2327-C9845EC1FE78}"/>
              </a:ext>
            </a:extLst>
          </p:cNvPr>
          <p:cNvSpPr txBox="1"/>
          <p:nvPr/>
        </p:nvSpPr>
        <p:spPr>
          <a:xfrm>
            <a:off x="2576872" y="3244480"/>
            <a:ext cx="2920992" cy="707886"/>
          </a:xfrm>
          <a:prstGeom prst="rect">
            <a:avLst/>
          </a:prstGeom>
          <a:noFill/>
        </p:spPr>
        <p:txBody>
          <a:bodyPr wrap="none" rtlCol="0">
            <a:spAutoFit/>
          </a:bodyPr>
          <a:lstStyle/>
          <a:p>
            <a:r>
              <a:rPr kumimoji="1" lang="ja-JP" altLang="en-US" sz="2000"/>
              <a:t>学習用画像</a:t>
            </a:r>
            <a:r>
              <a:rPr kumimoji="1" lang="en-US" altLang="ja-JP" sz="2000" dirty="0"/>
              <a:t>100</a:t>
            </a:r>
            <a:r>
              <a:rPr kumimoji="1" lang="ja-JP" altLang="en-US" sz="2000"/>
              <a:t>万枚から</a:t>
            </a:r>
            <a:endParaRPr kumimoji="1" lang="en-US" altLang="ja-JP" sz="2000" dirty="0"/>
          </a:p>
          <a:p>
            <a:r>
              <a:rPr lang="ja-JP" altLang="en-US" sz="2000"/>
              <a:t>人間の特徴をまとめて</a:t>
            </a:r>
            <a:endParaRPr kumimoji="1" lang="ja-JP" altLang="en-US" sz="2000"/>
          </a:p>
        </p:txBody>
      </p:sp>
      <p:grpSp>
        <p:nvGrpSpPr>
          <p:cNvPr id="7" name="グループ化 6">
            <a:extLst>
              <a:ext uri="{FF2B5EF4-FFF2-40B4-BE49-F238E27FC236}">
                <a16:creationId xmlns:a16="http://schemas.microsoft.com/office/drawing/2014/main" id="{5A3188A3-429D-70B8-CFF0-B220BEB4B127}"/>
              </a:ext>
            </a:extLst>
          </p:cNvPr>
          <p:cNvGrpSpPr/>
          <p:nvPr/>
        </p:nvGrpSpPr>
        <p:grpSpPr>
          <a:xfrm>
            <a:off x="8738251" y="3720645"/>
            <a:ext cx="2738817" cy="1413187"/>
            <a:chOff x="6785225" y="4207844"/>
            <a:chExt cx="2738817" cy="1413187"/>
          </a:xfrm>
        </p:grpSpPr>
        <p:sp>
          <p:nvSpPr>
            <p:cNvPr id="4" name="縦巻き 3">
              <a:extLst>
                <a:ext uri="{FF2B5EF4-FFF2-40B4-BE49-F238E27FC236}">
                  <a16:creationId xmlns:a16="http://schemas.microsoft.com/office/drawing/2014/main" id="{6F2F8B6A-9178-6F33-B5A7-879602B1653F}"/>
                </a:ext>
              </a:extLst>
            </p:cNvPr>
            <p:cNvSpPr/>
            <p:nvPr/>
          </p:nvSpPr>
          <p:spPr>
            <a:xfrm>
              <a:off x="6785225" y="4207844"/>
              <a:ext cx="2738817" cy="1413187"/>
            </a:xfrm>
            <a:prstGeom prst="verticalScroll">
              <a:avLst/>
            </a:prstGeom>
            <a:solidFill>
              <a:schemeClr val="accent2">
                <a:lumMod val="20000"/>
                <a:lumOff val="80000"/>
              </a:schemeClr>
            </a:solidFill>
            <a:ln w="254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752055A-FBD5-9142-7CB9-D2C4221B4B10}"/>
                </a:ext>
              </a:extLst>
            </p:cNvPr>
            <p:cNvSpPr txBox="1"/>
            <p:nvPr/>
          </p:nvSpPr>
          <p:spPr>
            <a:xfrm>
              <a:off x="7108636" y="4650862"/>
              <a:ext cx="2236510" cy="707886"/>
            </a:xfrm>
            <a:prstGeom prst="rect">
              <a:avLst/>
            </a:prstGeom>
            <a:noFill/>
          </p:spPr>
          <p:txBody>
            <a:bodyPr wrap="none" rtlCol="0">
              <a:spAutoFit/>
            </a:bodyPr>
            <a:lstStyle/>
            <a:p>
              <a:r>
                <a:rPr kumimoji="1" lang="ja-JP" altLang="en-US" sz="2000" b="1"/>
                <a:t>機械でもわかる！</a:t>
              </a:r>
              <a:endParaRPr kumimoji="1" lang="en-US" altLang="ja-JP" sz="2000" b="1" dirty="0"/>
            </a:p>
            <a:p>
              <a:r>
                <a:rPr lang="ja-JP" altLang="en-US" sz="2000" b="1"/>
                <a:t>人間のまとめ！</a:t>
              </a:r>
              <a:endParaRPr kumimoji="1" lang="ja-JP" altLang="en-US" sz="2000" b="1"/>
            </a:p>
          </p:txBody>
        </p:sp>
      </p:grpSp>
      <p:sp>
        <p:nvSpPr>
          <p:cNvPr id="6" name="テキスト ボックス 5">
            <a:extLst>
              <a:ext uri="{FF2B5EF4-FFF2-40B4-BE49-F238E27FC236}">
                <a16:creationId xmlns:a16="http://schemas.microsoft.com/office/drawing/2014/main" id="{D3409A59-A324-B020-6983-EF2D37A5EB3D}"/>
              </a:ext>
            </a:extLst>
          </p:cNvPr>
          <p:cNvSpPr txBox="1"/>
          <p:nvPr/>
        </p:nvSpPr>
        <p:spPr>
          <a:xfrm>
            <a:off x="3339741" y="4427239"/>
            <a:ext cx="697627" cy="400110"/>
          </a:xfrm>
          <a:prstGeom prst="rect">
            <a:avLst/>
          </a:prstGeom>
          <a:noFill/>
        </p:spPr>
        <p:txBody>
          <a:bodyPr wrap="none" rtlCol="0">
            <a:spAutoFit/>
          </a:bodyPr>
          <a:lstStyle/>
          <a:p>
            <a:r>
              <a:rPr kumimoji="1" lang="ja-JP" altLang="en-US" sz="2000"/>
              <a:t>ハイ</a:t>
            </a:r>
            <a:endParaRPr kumimoji="1" lang="ja-JP" altLang="en-US"/>
          </a:p>
        </p:txBody>
      </p:sp>
      <p:pic>
        <p:nvPicPr>
          <p:cNvPr id="23" name="図 22" descr="アイコン&#10;&#10;自動的に生成された説明">
            <a:extLst>
              <a:ext uri="{FF2B5EF4-FFF2-40B4-BE49-F238E27FC236}">
                <a16:creationId xmlns:a16="http://schemas.microsoft.com/office/drawing/2014/main" id="{4FD43263-44AA-6808-9D6D-88097932DA16}"/>
              </a:ext>
            </a:extLst>
          </p:cNvPr>
          <p:cNvPicPr>
            <a:picLocks noChangeAspect="1"/>
          </p:cNvPicPr>
          <p:nvPr/>
        </p:nvPicPr>
        <p:blipFill>
          <a:blip r:embed="rId3"/>
          <a:stretch>
            <a:fillRect/>
          </a:stretch>
        </p:blipFill>
        <p:spPr>
          <a:xfrm>
            <a:off x="3082926" y="4584874"/>
            <a:ext cx="1625600" cy="1625600"/>
          </a:xfrm>
          <a:prstGeom prst="rect">
            <a:avLst/>
          </a:prstGeom>
        </p:spPr>
      </p:pic>
      <p:pic>
        <p:nvPicPr>
          <p:cNvPr id="25" name="図 24" descr="アイコン&#10;&#10;自動的に生成された説明">
            <a:extLst>
              <a:ext uri="{FF2B5EF4-FFF2-40B4-BE49-F238E27FC236}">
                <a16:creationId xmlns:a16="http://schemas.microsoft.com/office/drawing/2014/main" id="{AD639CD8-C94E-9A92-4D22-357E25CE97BC}"/>
              </a:ext>
            </a:extLst>
          </p:cNvPr>
          <p:cNvPicPr>
            <a:picLocks noChangeAspect="1"/>
          </p:cNvPicPr>
          <p:nvPr/>
        </p:nvPicPr>
        <p:blipFill>
          <a:blip r:embed="rId3"/>
          <a:stretch>
            <a:fillRect/>
          </a:stretch>
        </p:blipFill>
        <p:spPr>
          <a:xfrm>
            <a:off x="7047264" y="4584874"/>
            <a:ext cx="1625600" cy="1625600"/>
          </a:xfrm>
          <a:prstGeom prst="rect">
            <a:avLst/>
          </a:prstGeom>
        </p:spPr>
      </p:pic>
      <p:sp>
        <p:nvSpPr>
          <p:cNvPr id="26" name="テキスト ボックス 25">
            <a:extLst>
              <a:ext uri="{FF2B5EF4-FFF2-40B4-BE49-F238E27FC236}">
                <a16:creationId xmlns:a16="http://schemas.microsoft.com/office/drawing/2014/main" id="{228BE7AF-8DF2-FBDF-C4B8-2FD4B3F196A3}"/>
              </a:ext>
            </a:extLst>
          </p:cNvPr>
          <p:cNvSpPr txBox="1"/>
          <p:nvPr/>
        </p:nvSpPr>
        <p:spPr>
          <a:xfrm>
            <a:off x="6840346" y="4427239"/>
            <a:ext cx="1467068" cy="400110"/>
          </a:xfrm>
          <a:prstGeom prst="rect">
            <a:avLst/>
          </a:prstGeom>
          <a:noFill/>
        </p:spPr>
        <p:txBody>
          <a:bodyPr wrap="none" rtlCol="0">
            <a:spAutoFit/>
          </a:bodyPr>
          <a:lstStyle/>
          <a:p>
            <a:r>
              <a:rPr lang="ja-JP" altLang="en-US" sz="2000"/>
              <a:t>デキマシタ</a:t>
            </a:r>
            <a:endParaRPr kumimoji="1" lang="ja-JP" altLang="en-US"/>
          </a:p>
        </p:txBody>
      </p:sp>
      <p:sp>
        <p:nvSpPr>
          <p:cNvPr id="15" name="正方形/長方形 14">
            <a:extLst>
              <a:ext uri="{FF2B5EF4-FFF2-40B4-BE49-F238E27FC236}">
                <a16:creationId xmlns:a16="http://schemas.microsoft.com/office/drawing/2014/main" id="{414D85DC-9F72-42A7-6A75-0EF56BA0F491}"/>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787204C-FF41-A837-6EAB-AC329966C4EE}"/>
              </a:ext>
            </a:extLst>
          </p:cNvPr>
          <p:cNvSpPr txBox="1"/>
          <p:nvPr/>
        </p:nvSpPr>
        <p:spPr>
          <a:xfrm>
            <a:off x="385370" y="120924"/>
            <a:ext cx="1723549" cy="461665"/>
          </a:xfrm>
          <a:prstGeom prst="rect">
            <a:avLst/>
          </a:prstGeom>
          <a:noFill/>
        </p:spPr>
        <p:txBody>
          <a:bodyPr wrap="none" rtlCol="0">
            <a:spAutoFit/>
          </a:bodyPr>
          <a:lstStyle/>
          <a:p>
            <a:r>
              <a:rPr lang="ja-JP" altLang="en-US" sz="2400" b="1">
                <a:solidFill>
                  <a:schemeClr val="bg1"/>
                </a:solidFill>
              </a:rPr>
              <a:t>カスケード</a:t>
            </a:r>
          </a:p>
        </p:txBody>
      </p:sp>
      <p:sp>
        <p:nvSpPr>
          <p:cNvPr id="21" name="テキスト ボックス 20">
            <a:extLst>
              <a:ext uri="{FF2B5EF4-FFF2-40B4-BE49-F238E27FC236}">
                <a16:creationId xmlns:a16="http://schemas.microsoft.com/office/drawing/2014/main" id="{408884F2-05CD-015E-5AB7-2EEACA863DCB}"/>
              </a:ext>
            </a:extLst>
          </p:cNvPr>
          <p:cNvSpPr txBox="1"/>
          <p:nvPr/>
        </p:nvSpPr>
        <p:spPr>
          <a:xfrm>
            <a:off x="3567102" y="1281586"/>
            <a:ext cx="5057795" cy="400110"/>
          </a:xfrm>
          <a:prstGeom prst="rect">
            <a:avLst/>
          </a:prstGeom>
          <a:noFill/>
        </p:spPr>
        <p:txBody>
          <a:bodyPr wrap="none" rtlCol="0">
            <a:spAutoFit/>
          </a:bodyPr>
          <a:lstStyle/>
          <a:p>
            <a:pPr algn="ctr"/>
            <a:r>
              <a:rPr lang="ja-JP" altLang="en-US" sz="2000" b="1">
                <a:solidFill>
                  <a:schemeClr val="accent1">
                    <a:lumMod val="50000"/>
                  </a:schemeClr>
                </a:solidFill>
              </a:rPr>
              <a:t>予め特徴をまとめたデータがあれば解決！</a:t>
            </a:r>
          </a:p>
        </p:txBody>
      </p:sp>
      <p:sp>
        <p:nvSpPr>
          <p:cNvPr id="22" name="テキスト ボックス 21">
            <a:extLst>
              <a:ext uri="{FF2B5EF4-FFF2-40B4-BE49-F238E27FC236}">
                <a16:creationId xmlns:a16="http://schemas.microsoft.com/office/drawing/2014/main" id="{929F636B-53AE-57F4-4074-9B3B47C7F926}"/>
              </a:ext>
            </a:extLst>
          </p:cNvPr>
          <p:cNvSpPr txBox="1"/>
          <p:nvPr/>
        </p:nvSpPr>
        <p:spPr>
          <a:xfrm>
            <a:off x="385370" y="120924"/>
            <a:ext cx="2646878" cy="461665"/>
          </a:xfrm>
          <a:prstGeom prst="rect">
            <a:avLst/>
          </a:prstGeom>
          <a:noFill/>
        </p:spPr>
        <p:txBody>
          <a:bodyPr wrap="none" rtlCol="0">
            <a:spAutoFit/>
          </a:bodyPr>
          <a:lstStyle/>
          <a:p>
            <a:r>
              <a:rPr lang="ja-JP" altLang="en-US" sz="2400" b="1">
                <a:solidFill>
                  <a:schemeClr val="bg1"/>
                </a:solidFill>
              </a:rPr>
              <a:t>カスケード分類器</a:t>
            </a:r>
          </a:p>
        </p:txBody>
      </p:sp>
    </p:spTree>
    <p:extLst>
      <p:ext uri="{BB962C8B-B14F-4D97-AF65-F5344CB8AC3E}">
        <p14:creationId xmlns:p14="http://schemas.microsoft.com/office/powerpoint/2010/main" val="2753215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descr="抽象, シャツ が含まれている画像&#10;&#10;自動的に生成された説明">
            <a:extLst>
              <a:ext uri="{FF2B5EF4-FFF2-40B4-BE49-F238E27FC236}">
                <a16:creationId xmlns:a16="http://schemas.microsoft.com/office/drawing/2014/main" id="{8F013146-E813-ABB1-CABA-766A5B9B1668}"/>
              </a:ext>
            </a:extLst>
          </p:cNvPr>
          <p:cNvPicPr>
            <a:picLocks noChangeAspect="1"/>
          </p:cNvPicPr>
          <p:nvPr/>
        </p:nvPicPr>
        <p:blipFill>
          <a:blip r:embed="rId2"/>
          <a:stretch>
            <a:fillRect/>
          </a:stretch>
        </p:blipFill>
        <p:spPr>
          <a:xfrm>
            <a:off x="-92074" y="3308296"/>
            <a:ext cx="3175000" cy="3175000"/>
          </a:xfrm>
          <a:prstGeom prst="rect">
            <a:avLst/>
          </a:prstGeom>
        </p:spPr>
      </p:pic>
      <p:sp>
        <p:nvSpPr>
          <p:cNvPr id="20" name="三角形 19">
            <a:extLst>
              <a:ext uri="{FF2B5EF4-FFF2-40B4-BE49-F238E27FC236}">
                <a16:creationId xmlns:a16="http://schemas.microsoft.com/office/drawing/2014/main" id="{B4842A5C-2DE0-8DB3-A994-B94AEEC369B3}"/>
              </a:ext>
            </a:extLst>
          </p:cNvPr>
          <p:cNvSpPr/>
          <p:nvPr/>
        </p:nvSpPr>
        <p:spPr>
          <a:xfrm rot="13834292">
            <a:off x="2207645" y="3792567"/>
            <a:ext cx="217714" cy="40510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DC7C498D-7874-3DB8-9521-0153362E52A1}"/>
              </a:ext>
            </a:extLst>
          </p:cNvPr>
          <p:cNvSpPr/>
          <p:nvPr/>
        </p:nvSpPr>
        <p:spPr>
          <a:xfrm>
            <a:off x="2316504" y="2989002"/>
            <a:ext cx="3270209" cy="1218842"/>
          </a:xfrm>
          <a:prstGeom prst="round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51487274-FD7F-DA76-2327-C9845EC1FE78}"/>
              </a:ext>
            </a:extLst>
          </p:cNvPr>
          <p:cNvSpPr txBox="1"/>
          <p:nvPr/>
        </p:nvSpPr>
        <p:spPr>
          <a:xfrm>
            <a:off x="2576872" y="3244480"/>
            <a:ext cx="2778325" cy="707886"/>
          </a:xfrm>
          <a:prstGeom prst="rect">
            <a:avLst/>
          </a:prstGeom>
          <a:noFill/>
        </p:spPr>
        <p:txBody>
          <a:bodyPr wrap="none" rtlCol="0">
            <a:spAutoFit/>
          </a:bodyPr>
          <a:lstStyle/>
          <a:p>
            <a:r>
              <a:rPr kumimoji="1" lang="ja-JP" altLang="en-US" sz="2000"/>
              <a:t>学習用画像</a:t>
            </a:r>
            <a:r>
              <a:rPr kumimoji="1" lang="en-US" altLang="ja-JP" sz="2000" dirty="0"/>
              <a:t>10</a:t>
            </a:r>
            <a:r>
              <a:rPr kumimoji="1" lang="ja-JP" altLang="en-US" sz="2000"/>
              <a:t>万枚から</a:t>
            </a:r>
            <a:endParaRPr kumimoji="1" lang="en-US" altLang="ja-JP" sz="2000" dirty="0"/>
          </a:p>
          <a:p>
            <a:r>
              <a:rPr lang="ja-JP" altLang="en-US" sz="2000"/>
              <a:t>人間の特徴をまとめて</a:t>
            </a:r>
            <a:endParaRPr kumimoji="1" lang="ja-JP" altLang="en-US" sz="2000"/>
          </a:p>
        </p:txBody>
      </p:sp>
      <p:grpSp>
        <p:nvGrpSpPr>
          <p:cNvPr id="7" name="グループ化 6">
            <a:extLst>
              <a:ext uri="{FF2B5EF4-FFF2-40B4-BE49-F238E27FC236}">
                <a16:creationId xmlns:a16="http://schemas.microsoft.com/office/drawing/2014/main" id="{5A3188A3-429D-70B8-CFF0-B220BEB4B127}"/>
              </a:ext>
            </a:extLst>
          </p:cNvPr>
          <p:cNvGrpSpPr/>
          <p:nvPr/>
        </p:nvGrpSpPr>
        <p:grpSpPr>
          <a:xfrm>
            <a:off x="8738251" y="3720645"/>
            <a:ext cx="2738817" cy="1413187"/>
            <a:chOff x="6785225" y="4207844"/>
            <a:chExt cx="2738817" cy="1413187"/>
          </a:xfrm>
        </p:grpSpPr>
        <p:sp>
          <p:nvSpPr>
            <p:cNvPr id="4" name="縦巻き 3">
              <a:extLst>
                <a:ext uri="{FF2B5EF4-FFF2-40B4-BE49-F238E27FC236}">
                  <a16:creationId xmlns:a16="http://schemas.microsoft.com/office/drawing/2014/main" id="{6F2F8B6A-9178-6F33-B5A7-879602B1653F}"/>
                </a:ext>
              </a:extLst>
            </p:cNvPr>
            <p:cNvSpPr/>
            <p:nvPr/>
          </p:nvSpPr>
          <p:spPr>
            <a:xfrm>
              <a:off x="6785225" y="4207844"/>
              <a:ext cx="2738817" cy="1413187"/>
            </a:xfrm>
            <a:prstGeom prst="verticalScroll">
              <a:avLst/>
            </a:prstGeom>
            <a:solidFill>
              <a:schemeClr val="accent2">
                <a:lumMod val="20000"/>
                <a:lumOff val="80000"/>
              </a:schemeClr>
            </a:solidFill>
            <a:ln w="254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752055A-FBD5-9142-7CB9-D2C4221B4B10}"/>
                </a:ext>
              </a:extLst>
            </p:cNvPr>
            <p:cNvSpPr txBox="1"/>
            <p:nvPr/>
          </p:nvSpPr>
          <p:spPr>
            <a:xfrm>
              <a:off x="7108636" y="4650862"/>
              <a:ext cx="2236510" cy="707886"/>
            </a:xfrm>
            <a:prstGeom prst="rect">
              <a:avLst/>
            </a:prstGeom>
            <a:noFill/>
          </p:spPr>
          <p:txBody>
            <a:bodyPr wrap="none" rtlCol="0">
              <a:spAutoFit/>
            </a:bodyPr>
            <a:lstStyle/>
            <a:p>
              <a:r>
                <a:rPr kumimoji="1" lang="ja-JP" altLang="en-US" sz="2000" b="1"/>
                <a:t>機械でもわかる！</a:t>
              </a:r>
              <a:endParaRPr kumimoji="1" lang="en-US" altLang="ja-JP" sz="2000" b="1" dirty="0"/>
            </a:p>
            <a:p>
              <a:r>
                <a:rPr lang="ja-JP" altLang="en-US" sz="2000" b="1"/>
                <a:t>人間のまとめ！</a:t>
              </a:r>
              <a:endParaRPr kumimoji="1" lang="ja-JP" altLang="en-US" sz="2000" b="1"/>
            </a:p>
          </p:txBody>
        </p:sp>
      </p:grpSp>
      <p:sp>
        <p:nvSpPr>
          <p:cNvPr id="6" name="テキスト ボックス 5">
            <a:extLst>
              <a:ext uri="{FF2B5EF4-FFF2-40B4-BE49-F238E27FC236}">
                <a16:creationId xmlns:a16="http://schemas.microsoft.com/office/drawing/2014/main" id="{D3409A59-A324-B020-6983-EF2D37A5EB3D}"/>
              </a:ext>
            </a:extLst>
          </p:cNvPr>
          <p:cNvSpPr txBox="1"/>
          <p:nvPr/>
        </p:nvSpPr>
        <p:spPr>
          <a:xfrm>
            <a:off x="3339741" y="4427239"/>
            <a:ext cx="697627" cy="400110"/>
          </a:xfrm>
          <a:prstGeom prst="rect">
            <a:avLst/>
          </a:prstGeom>
          <a:noFill/>
        </p:spPr>
        <p:txBody>
          <a:bodyPr wrap="none" rtlCol="0">
            <a:spAutoFit/>
          </a:bodyPr>
          <a:lstStyle/>
          <a:p>
            <a:r>
              <a:rPr kumimoji="1" lang="ja-JP" altLang="en-US" sz="2000"/>
              <a:t>ハイ</a:t>
            </a:r>
            <a:endParaRPr kumimoji="1" lang="ja-JP" altLang="en-US"/>
          </a:p>
        </p:txBody>
      </p:sp>
      <p:pic>
        <p:nvPicPr>
          <p:cNvPr id="23" name="図 22" descr="アイコン&#10;&#10;自動的に生成された説明">
            <a:extLst>
              <a:ext uri="{FF2B5EF4-FFF2-40B4-BE49-F238E27FC236}">
                <a16:creationId xmlns:a16="http://schemas.microsoft.com/office/drawing/2014/main" id="{4FD43263-44AA-6808-9D6D-88097932DA16}"/>
              </a:ext>
            </a:extLst>
          </p:cNvPr>
          <p:cNvPicPr>
            <a:picLocks noChangeAspect="1"/>
          </p:cNvPicPr>
          <p:nvPr/>
        </p:nvPicPr>
        <p:blipFill>
          <a:blip r:embed="rId3"/>
          <a:stretch>
            <a:fillRect/>
          </a:stretch>
        </p:blipFill>
        <p:spPr>
          <a:xfrm>
            <a:off x="3082926" y="4584874"/>
            <a:ext cx="1625600" cy="1625600"/>
          </a:xfrm>
          <a:prstGeom prst="rect">
            <a:avLst/>
          </a:prstGeom>
        </p:spPr>
      </p:pic>
      <p:pic>
        <p:nvPicPr>
          <p:cNvPr id="25" name="図 24" descr="アイコン&#10;&#10;自動的に生成された説明">
            <a:extLst>
              <a:ext uri="{FF2B5EF4-FFF2-40B4-BE49-F238E27FC236}">
                <a16:creationId xmlns:a16="http://schemas.microsoft.com/office/drawing/2014/main" id="{AD639CD8-C94E-9A92-4D22-357E25CE97BC}"/>
              </a:ext>
            </a:extLst>
          </p:cNvPr>
          <p:cNvPicPr>
            <a:picLocks noChangeAspect="1"/>
          </p:cNvPicPr>
          <p:nvPr/>
        </p:nvPicPr>
        <p:blipFill>
          <a:blip r:embed="rId3"/>
          <a:stretch>
            <a:fillRect/>
          </a:stretch>
        </p:blipFill>
        <p:spPr>
          <a:xfrm>
            <a:off x="7047264" y="4584874"/>
            <a:ext cx="1625600" cy="1625600"/>
          </a:xfrm>
          <a:prstGeom prst="rect">
            <a:avLst/>
          </a:prstGeom>
        </p:spPr>
      </p:pic>
      <p:sp>
        <p:nvSpPr>
          <p:cNvPr id="26" name="テキスト ボックス 25">
            <a:extLst>
              <a:ext uri="{FF2B5EF4-FFF2-40B4-BE49-F238E27FC236}">
                <a16:creationId xmlns:a16="http://schemas.microsoft.com/office/drawing/2014/main" id="{228BE7AF-8DF2-FBDF-C4B8-2FD4B3F196A3}"/>
              </a:ext>
            </a:extLst>
          </p:cNvPr>
          <p:cNvSpPr txBox="1"/>
          <p:nvPr/>
        </p:nvSpPr>
        <p:spPr>
          <a:xfrm>
            <a:off x="6840346" y="4427239"/>
            <a:ext cx="1467068" cy="400110"/>
          </a:xfrm>
          <a:prstGeom prst="rect">
            <a:avLst/>
          </a:prstGeom>
          <a:noFill/>
        </p:spPr>
        <p:txBody>
          <a:bodyPr wrap="none" rtlCol="0">
            <a:spAutoFit/>
          </a:bodyPr>
          <a:lstStyle/>
          <a:p>
            <a:r>
              <a:rPr lang="ja-JP" altLang="en-US" sz="2000"/>
              <a:t>デキマシタ</a:t>
            </a:r>
            <a:endParaRPr kumimoji="1" lang="ja-JP" altLang="en-US"/>
          </a:p>
        </p:txBody>
      </p:sp>
      <p:sp>
        <p:nvSpPr>
          <p:cNvPr id="3" name="テキスト ボックス 2">
            <a:extLst>
              <a:ext uri="{FF2B5EF4-FFF2-40B4-BE49-F238E27FC236}">
                <a16:creationId xmlns:a16="http://schemas.microsoft.com/office/drawing/2014/main" id="{215BC6DE-8071-F429-B587-0303A5901572}"/>
              </a:ext>
            </a:extLst>
          </p:cNvPr>
          <p:cNvSpPr txBox="1"/>
          <p:nvPr/>
        </p:nvSpPr>
        <p:spPr>
          <a:xfrm>
            <a:off x="6976378" y="1843778"/>
            <a:ext cx="3877985" cy="646331"/>
          </a:xfrm>
          <a:prstGeom prst="rect">
            <a:avLst/>
          </a:prstGeom>
          <a:noFill/>
        </p:spPr>
        <p:txBody>
          <a:bodyPr wrap="none" rtlCol="0">
            <a:spAutoFit/>
          </a:bodyPr>
          <a:lstStyle/>
          <a:p>
            <a:r>
              <a:rPr kumimoji="1" lang="ja-JP" altLang="en-US" sz="3600" b="1">
                <a:solidFill>
                  <a:schemeClr val="accent2"/>
                </a:solidFill>
              </a:rPr>
              <a:t>カスケード分類器</a:t>
            </a:r>
          </a:p>
        </p:txBody>
      </p:sp>
      <p:sp>
        <p:nvSpPr>
          <p:cNvPr id="8" name="右矢印 7">
            <a:extLst>
              <a:ext uri="{FF2B5EF4-FFF2-40B4-BE49-F238E27FC236}">
                <a16:creationId xmlns:a16="http://schemas.microsoft.com/office/drawing/2014/main" id="{2E3BF557-5EAD-019D-0142-80C2ECCC1630}"/>
              </a:ext>
            </a:extLst>
          </p:cNvPr>
          <p:cNvSpPr/>
          <p:nvPr/>
        </p:nvSpPr>
        <p:spPr>
          <a:xfrm rot="3720000">
            <a:off x="8931409" y="2717335"/>
            <a:ext cx="871819" cy="592418"/>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3B6903AF-BE6A-BCAA-BFE4-5593C6020B09}"/>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078F87D9-4A0D-5F0A-053A-67B4CA5DCB00}"/>
              </a:ext>
            </a:extLst>
          </p:cNvPr>
          <p:cNvSpPr txBox="1"/>
          <p:nvPr/>
        </p:nvSpPr>
        <p:spPr>
          <a:xfrm>
            <a:off x="385370" y="120924"/>
            <a:ext cx="1723549" cy="461665"/>
          </a:xfrm>
          <a:prstGeom prst="rect">
            <a:avLst/>
          </a:prstGeom>
          <a:noFill/>
        </p:spPr>
        <p:txBody>
          <a:bodyPr wrap="none" rtlCol="0">
            <a:spAutoFit/>
          </a:bodyPr>
          <a:lstStyle/>
          <a:p>
            <a:r>
              <a:rPr lang="ja-JP" altLang="en-US" sz="2400" b="1">
                <a:solidFill>
                  <a:schemeClr val="bg1"/>
                </a:solidFill>
              </a:rPr>
              <a:t>カスケード</a:t>
            </a:r>
          </a:p>
        </p:txBody>
      </p:sp>
      <p:sp>
        <p:nvSpPr>
          <p:cNvPr id="22" name="テキスト ボックス 21">
            <a:extLst>
              <a:ext uri="{FF2B5EF4-FFF2-40B4-BE49-F238E27FC236}">
                <a16:creationId xmlns:a16="http://schemas.microsoft.com/office/drawing/2014/main" id="{7604BD96-D163-9038-DCF7-05B3F621C9E2}"/>
              </a:ext>
            </a:extLst>
          </p:cNvPr>
          <p:cNvSpPr txBox="1"/>
          <p:nvPr/>
        </p:nvSpPr>
        <p:spPr>
          <a:xfrm>
            <a:off x="3567102" y="1281586"/>
            <a:ext cx="5057795" cy="400110"/>
          </a:xfrm>
          <a:prstGeom prst="rect">
            <a:avLst/>
          </a:prstGeom>
          <a:noFill/>
        </p:spPr>
        <p:txBody>
          <a:bodyPr wrap="none" rtlCol="0">
            <a:spAutoFit/>
          </a:bodyPr>
          <a:lstStyle/>
          <a:p>
            <a:pPr algn="ctr"/>
            <a:r>
              <a:rPr lang="ja-JP" altLang="en-US" sz="2000" b="1">
                <a:solidFill>
                  <a:schemeClr val="accent1">
                    <a:lumMod val="50000"/>
                  </a:schemeClr>
                </a:solidFill>
              </a:rPr>
              <a:t>予め特徴をまとめたデータがあれば解決！</a:t>
            </a:r>
          </a:p>
        </p:txBody>
      </p:sp>
      <p:sp>
        <p:nvSpPr>
          <p:cNvPr id="24" name="テキスト ボックス 23">
            <a:extLst>
              <a:ext uri="{FF2B5EF4-FFF2-40B4-BE49-F238E27FC236}">
                <a16:creationId xmlns:a16="http://schemas.microsoft.com/office/drawing/2014/main" id="{2A943E83-513C-3D77-8D0E-E3704E307C00}"/>
              </a:ext>
            </a:extLst>
          </p:cNvPr>
          <p:cNvSpPr txBox="1"/>
          <p:nvPr/>
        </p:nvSpPr>
        <p:spPr>
          <a:xfrm>
            <a:off x="385370" y="120924"/>
            <a:ext cx="2646878" cy="461665"/>
          </a:xfrm>
          <a:prstGeom prst="rect">
            <a:avLst/>
          </a:prstGeom>
          <a:noFill/>
        </p:spPr>
        <p:txBody>
          <a:bodyPr wrap="none" rtlCol="0">
            <a:spAutoFit/>
          </a:bodyPr>
          <a:lstStyle/>
          <a:p>
            <a:r>
              <a:rPr lang="ja-JP" altLang="en-US" sz="2400" b="1">
                <a:solidFill>
                  <a:schemeClr val="bg1"/>
                </a:solidFill>
              </a:rPr>
              <a:t>カスケード分類器</a:t>
            </a:r>
          </a:p>
        </p:txBody>
      </p:sp>
    </p:spTree>
    <p:extLst>
      <p:ext uri="{BB962C8B-B14F-4D97-AF65-F5344CB8AC3E}">
        <p14:creationId xmlns:p14="http://schemas.microsoft.com/office/powerpoint/2010/main" val="2488912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descr="アイコン&#10;&#10;自動的に生成された説明">
            <a:extLst>
              <a:ext uri="{FF2B5EF4-FFF2-40B4-BE49-F238E27FC236}">
                <a16:creationId xmlns:a16="http://schemas.microsoft.com/office/drawing/2014/main" id="{AE5C9F7E-C296-6DCC-87E3-343FD618F4E9}"/>
              </a:ext>
            </a:extLst>
          </p:cNvPr>
          <p:cNvPicPr>
            <a:picLocks noChangeAspect="1"/>
          </p:cNvPicPr>
          <p:nvPr/>
        </p:nvPicPr>
        <p:blipFill>
          <a:blip r:embed="rId2"/>
          <a:stretch>
            <a:fillRect/>
          </a:stretch>
        </p:blipFill>
        <p:spPr>
          <a:xfrm>
            <a:off x="3837813" y="4584874"/>
            <a:ext cx="1625600" cy="1625600"/>
          </a:xfrm>
          <a:prstGeom prst="rect">
            <a:avLst/>
          </a:prstGeom>
        </p:spPr>
      </p:pic>
      <p:sp>
        <p:nvSpPr>
          <p:cNvPr id="20" name="三角形 19">
            <a:extLst>
              <a:ext uri="{FF2B5EF4-FFF2-40B4-BE49-F238E27FC236}">
                <a16:creationId xmlns:a16="http://schemas.microsoft.com/office/drawing/2014/main" id="{B4842A5C-2DE0-8DB3-A994-B94AEEC369B3}"/>
              </a:ext>
            </a:extLst>
          </p:cNvPr>
          <p:cNvSpPr/>
          <p:nvPr/>
        </p:nvSpPr>
        <p:spPr>
          <a:xfrm rot="13834292">
            <a:off x="2309279" y="2921887"/>
            <a:ext cx="217714" cy="40510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DC7C498D-7874-3DB8-9521-0153362E52A1}"/>
              </a:ext>
            </a:extLst>
          </p:cNvPr>
          <p:cNvSpPr/>
          <p:nvPr/>
        </p:nvSpPr>
        <p:spPr>
          <a:xfrm>
            <a:off x="2418138" y="2118322"/>
            <a:ext cx="3270209" cy="1218842"/>
          </a:xfrm>
          <a:prstGeom prst="round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51487274-FD7F-DA76-2327-C9845EC1FE78}"/>
              </a:ext>
            </a:extLst>
          </p:cNvPr>
          <p:cNvSpPr txBox="1"/>
          <p:nvPr/>
        </p:nvSpPr>
        <p:spPr>
          <a:xfrm>
            <a:off x="2619891" y="2373800"/>
            <a:ext cx="2749471" cy="707886"/>
          </a:xfrm>
          <a:prstGeom prst="rect">
            <a:avLst/>
          </a:prstGeom>
          <a:noFill/>
        </p:spPr>
        <p:txBody>
          <a:bodyPr wrap="none" rtlCol="0">
            <a:spAutoFit/>
          </a:bodyPr>
          <a:lstStyle/>
          <a:p>
            <a:r>
              <a:rPr kumimoji="1" lang="ja-JP" altLang="en-US" sz="2000"/>
              <a:t>この写真から</a:t>
            </a:r>
            <a:endParaRPr kumimoji="1" lang="en-US" altLang="ja-JP" sz="2000" dirty="0"/>
          </a:p>
          <a:p>
            <a:r>
              <a:rPr kumimoji="1" lang="ja-JP" altLang="en-US" sz="2000"/>
              <a:t>人を検出してください</a:t>
            </a:r>
          </a:p>
        </p:txBody>
      </p:sp>
      <p:pic>
        <p:nvPicPr>
          <p:cNvPr id="27" name="図 26" descr="アイコン&#10;&#10;自動的に生成された説明">
            <a:extLst>
              <a:ext uri="{FF2B5EF4-FFF2-40B4-BE49-F238E27FC236}">
                <a16:creationId xmlns:a16="http://schemas.microsoft.com/office/drawing/2014/main" id="{75971AD3-5489-658B-BF76-4806E5369732}"/>
              </a:ext>
            </a:extLst>
          </p:cNvPr>
          <p:cNvPicPr>
            <a:picLocks noChangeAspect="1"/>
          </p:cNvPicPr>
          <p:nvPr/>
        </p:nvPicPr>
        <p:blipFill>
          <a:blip r:embed="rId2"/>
          <a:stretch>
            <a:fillRect/>
          </a:stretch>
        </p:blipFill>
        <p:spPr>
          <a:xfrm>
            <a:off x="9109076" y="4584874"/>
            <a:ext cx="1625600" cy="1625600"/>
          </a:xfrm>
          <a:prstGeom prst="rect">
            <a:avLst/>
          </a:prstGeom>
        </p:spPr>
      </p:pic>
      <p:sp>
        <p:nvSpPr>
          <p:cNvPr id="29" name="三角形 28">
            <a:extLst>
              <a:ext uri="{FF2B5EF4-FFF2-40B4-BE49-F238E27FC236}">
                <a16:creationId xmlns:a16="http://schemas.microsoft.com/office/drawing/2014/main" id="{BA16EF07-C487-5035-807A-9C8D7122DF66}"/>
              </a:ext>
            </a:extLst>
          </p:cNvPr>
          <p:cNvSpPr/>
          <p:nvPr/>
        </p:nvSpPr>
        <p:spPr>
          <a:xfrm rot="11997607">
            <a:off x="10397231" y="4069693"/>
            <a:ext cx="217714" cy="40510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角丸四角形 29">
            <a:extLst>
              <a:ext uri="{FF2B5EF4-FFF2-40B4-BE49-F238E27FC236}">
                <a16:creationId xmlns:a16="http://schemas.microsoft.com/office/drawing/2014/main" id="{CA524EA6-989C-21F0-23D7-7C487713133F}"/>
              </a:ext>
            </a:extLst>
          </p:cNvPr>
          <p:cNvSpPr/>
          <p:nvPr/>
        </p:nvSpPr>
        <p:spPr>
          <a:xfrm>
            <a:off x="9028944" y="3528646"/>
            <a:ext cx="2749078" cy="679198"/>
          </a:xfrm>
          <a:prstGeom prst="round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09730448-A7C6-FCEC-63E4-C837BB11C491}"/>
              </a:ext>
            </a:extLst>
          </p:cNvPr>
          <p:cNvSpPr txBox="1"/>
          <p:nvPr/>
        </p:nvSpPr>
        <p:spPr>
          <a:xfrm>
            <a:off x="9304950" y="3702176"/>
            <a:ext cx="2236510" cy="400110"/>
          </a:xfrm>
          <a:prstGeom prst="rect">
            <a:avLst/>
          </a:prstGeom>
          <a:noFill/>
        </p:spPr>
        <p:txBody>
          <a:bodyPr wrap="none" rtlCol="0">
            <a:spAutoFit/>
          </a:bodyPr>
          <a:lstStyle/>
          <a:p>
            <a:r>
              <a:rPr kumimoji="1" lang="ja-JP" altLang="en-US" sz="2000"/>
              <a:t>これならできます</a:t>
            </a:r>
          </a:p>
        </p:txBody>
      </p:sp>
      <p:pic>
        <p:nvPicPr>
          <p:cNvPr id="33" name="図 32" descr="時計 が含まれている画像&#10;&#10;自動的に生成された説明">
            <a:extLst>
              <a:ext uri="{FF2B5EF4-FFF2-40B4-BE49-F238E27FC236}">
                <a16:creationId xmlns:a16="http://schemas.microsoft.com/office/drawing/2014/main" id="{705C8E03-B2E7-FA54-4A39-2A9331049234}"/>
              </a:ext>
            </a:extLst>
          </p:cNvPr>
          <p:cNvPicPr>
            <a:picLocks noChangeAspect="1"/>
          </p:cNvPicPr>
          <p:nvPr/>
        </p:nvPicPr>
        <p:blipFill>
          <a:blip r:embed="rId3"/>
          <a:stretch>
            <a:fillRect/>
          </a:stretch>
        </p:blipFill>
        <p:spPr>
          <a:xfrm>
            <a:off x="-2634" y="3308296"/>
            <a:ext cx="3175000" cy="3175000"/>
          </a:xfrm>
          <a:prstGeom prst="rect">
            <a:avLst/>
          </a:prstGeom>
        </p:spPr>
      </p:pic>
      <p:grpSp>
        <p:nvGrpSpPr>
          <p:cNvPr id="15" name="グループ化 14">
            <a:extLst>
              <a:ext uri="{FF2B5EF4-FFF2-40B4-BE49-F238E27FC236}">
                <a16:creationId xmlns:a16="http://schemas.microsoft.com/office/drawing/2014/main" id="{EC001A08-0797-7A71-D957-B891B5D47E3E}"/>
              </a:ext>
            </a:extLst>
          </p:cNvPr>
          <p:cNvGrpSpPr/>
          <p:nvPr/>
        </p:nvGrpSpPr>
        <p:grpSpPr>
          <a:xfrm>
            <a:off x="1605929" y="4965604"/>
            <a:ext cx="2075595" cy="1070975"/>
            <a:chOff x="6785225" y="4207844"/>
            <a:chExt cx="2738817" cy="1413187"/>
          </a:xfrm>
        </p:grpSpPr>
        <p:sp>
          <p:nvSpPr>
            <p:cNvPr id="16" name="縦巻き 15">
              <a:extLst>
                <a:ext uri="{FF2B5EF4-FFF2-40B4-BE49-F238E27FC236}">
                  <a16:creationId xmlns:a16="http://schemas.microsoft.com/office/drawing/2014/main" id="{62282E73-6044-1C07-768F-CA66FC8A49B9}"/>
                </a:ext>
              </a:extLst>
            </p:cNvPr>
            <p:cNvSpPr/>
            <p:nvPr/>
          </p:nvSpPr>
          <p:spPr>
            <a:xfrm>
              <a:off x="6785225" y="4207844"/>
              <a:ext cx="2738817" cy="1413187"/>
            </a:xfrm>
            <a:prstGeom prst="verticalScroll">
              <a:avLst/>
            </a:prstGeom>
            <a:solidFill>
              <a:schemeClr val="accent2">
                <a:lumMod val="20000"/>
                <a:lumOff val="80000"/>
              </a:schemeClr>
            </a:solidFill>
            <a:ln w="254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61B15948-E0EC-443B-B0B0-13EFE2EE1260}"/>
                </a:ext>
              </a:extLst>
            </p:cNvPr>
            <p:cNvSpPr txBox="1"/>
            <p:nvPr/>
          </p:nvSpPr>
          <p:spPr>
            <a:xfrm>
              <a:off x="7108636" y="4650861"/>
              <a:ext cx="2138907" cy="690406"/>
            </a:xfrm>
            <a:prstGeom prst="rect">
              <a:avLst/>
            </a:prstGeom>
            <a:noFill/>
          </p:spPr>
          <p:txBody>
            <a:bodyPr wrap="none" rtlCol="0">
              <a:spAutoFit/>
            </a:bodyPr>
            <a:lstStyle/>
            <a:p>
              <a:r>
                <a:rPr kumimoji="1" lang="ja-JP" altLang="en-US" sz="1400" b="1"/>
                <a:t>機械でもわかる！</a:t>
              </a:r>
              <a:endParaRPr kumimoji="1" lang="en-US" altLang="ja-JP" sz="1400" b="1" dirty="0"/>
            </a:p>
            <a:p>
              <a:r>
                <a:rPr lang="ja-JP" altLang="en-US" sz="1400" b="1"/>
                <a:t>人間のまとめ！</a:t>
              </a:r>
              <a:endParaRPr kumimoji="1" lang="ja-JP" altLang="en-US" sz="1400" b="1"/>
            </a:p>
          </p:txBody>
        </p:sp>
      </p:grpSp>
      <p:sp>
        <p:nvSpPr>
          <p:cNvPr id="21" name="三角形 20">
            <a:extLst>
              <a:ext uri="{FF2B5EF4-FFF2-40B4-BE49-F238E27FC236}">
                <a16:creationId xmlns:a16="http://schemas.microsoft.com/office/drawing/2014/main" id="{1101B0EC-6F2E-AC46-2A5D-12EF1EB0398C}"/>
              </a:ext>
            </a:extLst>
          </p:cNvPr>
          <p:cNvSpPr/>
          <p:nvPr/>
        </p:nvSpPr>
        <p:spPr>
          <a:xfrm rot="17217400">
            <a:off x="2309279" y="4115335"/>
            <a:ext cx="217714" cy="40510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82042588-A553-7E10-FCF9-A606FE1A1FD9}"/>
              </a:ext>
            </a:extLst>
          </p:cNvPr>
          <p:cNvSpPr/>
          <p:nvPr/>
        </p:nvSpPr>
        <p:spPr>
          <a:xfrm>
            <a:off x="2418138" y="3429000"/>
            <a:ext cx="3270209" cy="1218842"/>
          </a:xfrm>
          <a:prstGeom prst="round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AE9FC42E-2459-EEC9-91F0-8E04807093E3}"/>
              </a:ext>
            </a:extLst>
          </p:cNvPr>
          <p:cNvSpPr txBox="1"/>
          <p:nvPr/>
        </p:nvSpPr>
        <p:spPr>
          <a:xfrm>
            <a:off x="2619891" y="3684478"/>
            <a:ext cx="3005951" cy="707886"/>
          </a:xfrm>
          <a:prstGeom prst="rect">
            <a:avLst/>
          </a:prstGeom>
          <a:noFill/>
        </p:spPr>
        <p:txBody>
          <a:bodyPr wrap="none" rtlCol="0">
            <a:spAutoFit/>
          </a:bodyPr>
          <a:lstStyle/>
          <a:p>
            <a:r>
              <a:rPr kumimoji="1" lang="ja-JP" altLang="en-US" sz="2000"/>
              <a:t>人間の特徴は</a:t>
            </a:r>
            <a:endParaRPr kumimoji="1" lang="en-US" altLang="ja-JP" sz="2000" dirty="0"/>
          </a:p>
          <a:p>
            <a:r>
              <a:rPr lang="ja-JP" altLang="en-US" sz="2000"/>
              <a:t>ここにまとめてあります</a:t>
            </a:r>
            <a:endParaRPr kumimoji="1" lang="ja-JP" altLang="en-US" sz="2000"/>
          </a:p>
        </p:txBody>
      </p:sp>
      <p:pic>
        <p:nvPicPr>
          <p:cNvPr id="3" name="図 2" descr="アイコン&#10;&#10;自動的に生成された説明">
            <a:extLst>
              <a:ext uri="{FF2B5EF4-FFF2-40B4-BE49-F238E27FC236}">
                <a16:creationId xmlns:a16="http://schemas.microsoft.com/office/drawing/2014/main" id="{0559AEC9-986B-1AB1-9BA9-46BD21FC5362}"/>
              </a:ext>
            </a:extLst>
          </p:cNvPr>
          <p:cNvPicPr>
            <a:picLocks noChangeAspect="1"/>
          </p:cNvPicPr>
          <p:nvPr/>
        </p:nvPicPr>
        <p:blipFill>
          <a:blip r:embed="rId4"/>
          <a:stretch>
            <a:fillRect/>
          </a:stretch>
        </p:blipFill>
        <p:spPr>
          <a:xfrm>
            <a:off x="6423987" y="3308296"/>
            <a:ext cx="3174999" cy="3174999"/>
          </a:xfrm>
          <a:prstGeom prst="rect">
            <a:avLst/>
          </a:prstGeom>
        </p:spPr>
      </p:pic>
      <p:sp>
        <p:nvSpPr>
          <p:cNvPr id="24" name="正方形/長方形 23">
            <a:extLst>
              <a:ext uri="{FF2B5EF4-FFF2-40B4-BE49-F238E27FC236}">
                <a16:creationId xmlns:a16="http://schemas.microsoft.com/office/drawing/2014/main" id="{FA27D5EF-C6D0-1FD5-ABED-DAB7EECAA99D}"/>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675CE1A1-AC84-EFB7-5728-8D2ED9D2875B}"/>
              </a:ext>
            </a:extLst>
          </p:cNvPr>
          <p:cNvSpPr txBox="1"/>
          <p:nvPr/>
        </p:nvSpPr>
        <p:spPr>
          <a:xfrm>
            <a:off x="385370" y="120924"/>
            <a:ext cx="2646878" cy="461665"/>
          </a:xfrm>
          <a:prstGeom prst="rect">
            <a:avLst/>
          </a:prstGeom>
          <a:noFill/>
        </p:spPr>
        <p:txBody>
          <a:bodyPr wrap="none" rtlCol="0">
            <a:spAutoFit/>
          </a:bodyPr>
          <a:lstStyle/>
          <a:p>
            <a:r>
              <a:rPr lang="ja-JP" altLang="en-US" sz="2400" b="1">
                <a:solidFill>
                  <a:schemeClr val="bg1"/>
                </a:solidFill>
              </a:rPr>
              <a:t>カスケード分類器</a:t>
            </a:r>
          </a:p>
        </p:txBody>
      </p:sp>
      <p:sp>
        <p:nvSpPr>
          <p:cNvPr id="26" name="テキスト ボックス 25">
            <a:extLst>
              <a:ext uri="{FF2B5EF4-FFF2-40B4-BE49-F238E27FC236}">
                <a16:creationId xmlns:a16="http://schemas.microsoft.com/office/drawing/2014/main" id="{EF45E2A0-8F06-F1E4-7625-6E12001EB1C9}"/>
              </a:ext>
            </a:extLst>
          </p:cNvPr>
          <p:cNvSpPr txBox="1"/>
          <p:nvPr/>
        </p:nvSpPr>
        <p:spPr>
          <a:xfrm>
            <a:off x="361096" y="872312"/>
            <a:ext cx="11469807" cy="1087092"/>
          </a:xfrm>
          <a:prstGeom prst="rect">
            <a:avLst/>
          </a:prstGeom>
          <a:noFill/>
        </p:spPr>
        <p:txBody>
          <a:bodyPr wrap="none" rtlCol="0">
            <a:spAutoFit/>
          </a:bodyPr>
          <a:lstStyle/>
          <a:p>
            <a:pPr>
              <a:lnSpc>
                <a:spcPct val="150000"/>
              </a:lnSpc>
            </a:pPr>
            <a:r>
              <a:rPr lang="ja-JP" altLang="en-US" sz="2000" b="1">
                <a:solidFill>
                  <a:schemeClr val="accent1">
                    <a:lumMod val="50000"/>
                  </a:schemeClr>
                </a:solidFill>
              </a:rPr>
              <a:t>カスケード分類器は特徴がまとめてあるだけなので学習用画像と比べて圧倒的にデータ量が少ない</a:t>
            </a:r>
            <a:endParaRPr lang="en-US" altLang="ja-JP" sz="2000" b="1" dirty="0">
              <a:solidFill>
                <a:schemeClr val="accent1">
                  <a:lumMod val="50000"/>
                </a:schemeClr>
              </a:solidFill>
            </a:endParaRPr>
          </a:p>
          <a:p>
            <a:pPr algn="ctr">
              <a:lnSpc>
                <a:spcPct val="200000"/>
              </a:lnSpc>
            </a:pPr>
            <a:r>
              <a:rPr lang="ja-JP" altLang="en-US" sz="2000" b="1">
                <a:solidFill>
                  <a:schemeClr val="accent1">
                    <a:lumMod val="50000"/>
                  </a:schemeClr>
                </a:solidFill>
              </a:rPr>
              <a:t>色々配布されている！</a:t>
            </a:r>
          </a:p>
        </p:txBody>
      </p:sp>
      <p:sp>
        <p:nvSpPr>
          <p:cNvPr id="2" name="三角形 1">
            <a:extLst>
              <a:ext uri="{FF2B5EF4-FFF2-40B4-BE49-F238E27FC236}">
                <a16:creationId xmlns:a16="http://schemas.microsoft.com/office/drawing/2014/main" id="{C316FC35-7E95-5511-3C04-CE3AEE7F10C0}"/>
              </a:ext>
            </a:extLst>
          </p:cNvPr>
          <p:cNvSpPr/>
          <p:nvPr/>
        </p:nvSpPr>
        <p:spPr>
          <a:xfrm rot="10800000">
            <a:off x="5987372" y="1384660"/>
            <a:ext cx="217253" cy="18728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3B724278-4954-52DF-61A0-A4A99B731CB5}"/>
              </a:ext>
            </a:extLst>
          </p:cNvPr>
          <p:cNvCxnSpPr/>
          <p:nvPr/>
        </p:nvCxnSpPr>
        <p:spPr>
          <a:xfrm>
            <a:off x="4814371" y="1959404"/>
            <a:ext cx="237964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70055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FA27D5EF-C6D0-1FD5-ABED-DAB7EECAA99D}"/>
              </a:ext>
            </a:extLst>
          </p:cNvPr>
          <p:cNvSpPr/>
          <p:nvPr/>
        </p:nvSpPr>
        <p:spPr>
          <a:xfrm>
            <a:off x="0" y="0"/>
            <a:ext cx="12192000" cy="693683"/>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675CE1A1-AC84-EFB7-5728-8D2ED9D2875B}"/>
              </a:ext>
            </a:extLst>
          </p:cNvPr>
          <p:cNvSpPr txBox="1"/>
          <p:nvPr/>
        </p:nvSpPr>
        <p:spPr>
          <a:xfrm>
            <a:off x="385370" y="120924"/>
            <a:ext cx="3746538" cy="461665"/>
          </a:xfrm>
          <a:prstGeom prst="rect">
            <a:avLst/>
          </a:prstGeom>
          <a:noFill/>
        </p:spPr>
        <p:txBody>
          <a:bodyPr wrap="none" rtlCol="0">
            <a:spAutoFit/>
          </a:bodyPr>
          <a:lstStyle/>
          <a:p>
            <a:r>
              <a:rPr lang="ja-JP" altLang="en-US" sz="2400" b="1">
                <a:solidFill>
                  <a:schemeClr val="bg1"/>
                </a:solidFill>
              </a:rPr>
              <a:t>演習</a:t>
            </a:r>
            <a:r>
              <a:rPr lang="en-US" altLang="ja-JP" sz="2400" b="1" dirty="0">
                <a:solidFill>
                  <a:schemeClr val="bg1"/>
                </a:solidFill>
              </a:rPr>
              <a:t>2</a:t>
            </a:r>
            <a:r>
              <a:rPr lang="ja-JP" altLang="en-US" sz="2400" b="1">
                <a:solidFill>
                  <a:schemeClr val="bg1"/>
                </a:solidFill>
              </a:rPr>
              <a:t>：カスケード分類器</a:t>
            </a:r>
          </a:p>
        </p:txBody>
      </p:sp>
      <p:sp>
        <p:nvSpPr>
          <p:cNvPr id="2" name="テキスト ボックス 1">
            <a:extLst>
              <a:ext uri="{FF2B5EF4-FFF2-40B4-BE49-F238E27FC236}">
                <a16:creationId xmlns:a16="http://schemas.microsoft.com/office/drawing/2014/main" id="{5E1AFF24-10D3-0917-8127-FC52EA9F2CC3}"/>
              </a:ext>
            </a:extLst>
          </p:cNvPr>
          <p:cNvSpPr txBox="1"/>
          <p:nvPr/>
        </p:nvSpPr>
        <p:spPr>
          <a:xfrm>
            <a:off x="1617849" y="1114096"/>
            <a:ext cx="8956299" cy="646331"/>
          </a:xfrm>
          <a:prstGeom prst="rect">
            <a:avLst/>
          </a:prstGeom>
          <a:noFill/>
        </p:spPr>
        <p:txBody>
          <a:bodyPr wrap="none" rtlCol="0">
            <a:spAutoFit/>
          </a:bodyPr>
          <a:lstStyle/>
          <a:p>
            <a:pPr algn="ctr"/>
            <a:r>
              <a:rPr kumimoji="1" lang="ja-JP" altLang="en-US" sz="3600"/>
              <a:t>色々な</a:t>
            </a:r>
            <a:r>
              <a:rPr lang="ja-JP" altLang="en-US" sz="3600"/>
              <a:t>カスケード分類器を</a:t>
            </a:r>
            <a:r>
              <a:rPr kumimoji="1" lang="ja-JP" altLang="en-US" sz="3600"/>
              <a:t>使ってみよう！</a:t>
            </a:r>
          </a:p>
        </p:txBody>
      </p:sp>
      <p:sp>
        <p:nvSpPr>
          <p:cNvPr id="18" name="テキスト ボックス 17">
            <a:extLst>
              <a:ext uri="{FF2B5EF4-FFF2-40B4-BE49-F238E27FC236}">
                <a16:creationId xmlns:a16="http://schemas.microsoft.com/office/drawing/2014/main" id="{C7F322A3-E652-F5B9-7C28-55CC94DE2B98}"/>
              </a:ext>
            </a:extLst>
          </p:cNvPr>
          <p:cNvSpPr txBox="1"/>
          <p:nvPr/>
        </p:nvSpPr>
        <p:spPr>
          <a:xfrm>
            <a:off x="4926449" y="6077071"/>
            <a:ext cx="2339102" cy="461665"/>
          </a:xfrm>
          <a:prstGeom prst="rect">
            <a:avLst/>
          </a:prstGeom>
          <a:noFill/>
        </p:spPr>
        <p:txBody>
          <a:bodyPr wrap="none" rtlCol="0">
            <a:spAutoFit/>
          </a:bodyPr>
          <a:lstStyle/>
          <a:p>
            <a:pPr algn="ctr"/>
            <a:r>
              <a:rPr kumimoji="1" lang="ja-JP" altLang="en-US" sz="2400"/>
              <a:t>他にもあります</a:t>
            </a:r>
          </a:p>
        </p:txBody>
      </p:sp>
      <p:pic>
        <p:nvPicPr>
          <p:cNvPr id="3" name="図 2">
            <a:extLst>
              <a:ext uri="{FF2B5EF4-FFF2-40B4-BE49-F238E27FC236}">
                <a16:creationId xmlns:a16="http://schemas.microsoft.com/office/drawing/2014/main" id="{63B942B3-23E4-24B6-A3BD-FF3D2DD6A89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9847"/>
          <a:stretch/>
        </p:blipFill>
        <p:spPr>
          <a:xfrm>
            <a:off x="483873" y="2233390"/>
            <a:ext cx="5201360" cy="3105863"/>
          </a:xfrm>
          <a:prstGeom prst="rect">
            <a:avLst/>
          </a:prstGeom>
        </p:spPr>
      </p:pic>
      <p:pic>
        <p:nvPicPr>
          <p:cNvPr id="4" name="図 3">
            <a:extLst>
              <a:ext uri="{FF2B5EF4-FFF2-40B4-BE49-F238E27FC236}">
                <a16:creationId xmlns:a16="http://schemas.microsoft.com/office/drawing/2014/main" id="{870C519C-FA2F-7B3E-B27F-606A224B39A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0000"/>
          <a:stretch/>
        </p:blipFill>
        <p:spPr>
          <a:xfrm>
            <a:off x="5959365" y="2233390"/>
            <a:ext cx="5193473" cy="3105863"/>
          </a:xfrm>
          <a:prstGeom prst="rect">
            <a:avLst/>
          </a:prstGeom>
        </p:spPr>
      </p:pic>
      <p:sp>
        <p:nvSpPr>
          <p:cNvPr id="5" name="テキスト ボックス 4">
            <a:extLst>
              <a:ext uri="{FF2B5EF4-FFF2-40B4-BE49-F238E27FC236}">
                <a16:creationId xmlns:a16="http://schemas.microsoft.com/office/drawing/2014/main" id="{2F9FB122-FFFF-9BBE-36B2-38B96549656E}"/>
              </a:ext>
            </a:extLst>
          </p:cNvPr>
          <p:cNvSpPr txBox="1"/>
          <p:nvPr/>
        </p:nvSpPr>
        <p:spPr>
          <a:xfrm>
            <a:off x="2530555" y="5414919"/>
            <a:ext cx="1107996" cy="461665"/>
          </a:xfrm>
          <a:prstGeom prst="rect">
            <a:avLst/>
          </a:prstGeom>
          <a:noFill/>
        </p:spPr>
        <p:txBody>
          <a:bodyPr wrap="none" rtlCol="0">
            <a:spAutoFit/>
          </a:bodyPr>
          <a:lstStyle/>
          <a:p>
            <a:pPr algn="ctr"/>
            <a:r>
              <a:rPr kumimoji="1" lang="ja-JP" altLang="en-US" sz="2400"/>
              <a:t>顔領域</a:t>
            </a:r>
          </a:p>
        </p:txBody>
      </p:sp>
      <p:sp>
        <p:nvSpPr>
          <p:cNvPr id="6" name="テキスト ボックス 5">
            <a:extLst>
              <a:ext uri="{FF2B5EF4-FFF2-40B4-BE49-F238E27FC236}">
                <a16:creationId xmlns:a16="http://schemas.microsoft.com/office/drawing/2014/main" id="{19E33EBD-B53C-EA13-046E-FA2F12B5B956}"/>
              </a:ext>
            </a:extLst>
          </p:cNvPr>
          <p:cNvSpPr txBox="1"/>
          <p:nvPr/>
        </p:nvSpPr>
        <p:spPr>
          <a:xfrm>
            <a:off x="6614458" y="5414919"/>
            <a:ext cx="3877986" cy="461665"/>
          </a:xfrm>
          <a:prstGeom prst="rect">
            <a:avLst/>
          </a:prstGeom>
          <a:noFill/>
        </p:spPr>
        <p:txBody>
          <a:bodyPr wrap="none" rtlCol="0">
            <a:spAutoFit/>
          </a:bodyPr>
          <a:lstStyle/>
          <a:p>
            <a:pPr algn="ctr"/>
            <a:r>
              <a:rPr kumimoji="1" lang="ja-JP" altLang="en-US" sz="2400"/>
              <a:t>眼領域（左右別々もある）</a:t>
            </a:r>
          </a:p>
        </p:txBody>
      </p:sp>
    </p:spTree>
    <p:extLst>
      <p:ext uri="{BB962C8B-B14F-4D97-AF65-F5344CB8AC3E}">
        <p14:creationId xmlns:p14="http://schemas.microsoft.com/office/powerpoint/2010/main" val="1070041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FA27D5EF-C6D0-1FD5-ABED-DAB7EECAA99D}"/>
              </a:ext>
            </a:extLst>
          </p:cNvPr>
          <p:cNvSpPr/>
          <p:nvPr/>
        </p:nvSpPr>
        <p:spPr>
          <a:xfrm>
            <a:off x="0" y="0"/>
            <a:ext cx="12192000" cy="693683"/>
          </a:xfrm>
          <a:prstGeom prst="rect">
            <a:avLst/>
          </a:prstGeom>
          <a:solidFill>
            <a:srgbClr val="1F37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675CE1A1-AC84-EFB7-5728-8D2ED9D2875B}"/>
              </a:ext>
            </a:extLst>
          </p:cNvPr>
          <p:cNvSpPr txBox="1"/>
          <p:nvPr/>
        </p:nvSpPr>
        <p:spPr>
          <a:xfrm>
            <a:off x="385370" y="120924"/>
            <a:ext cx="3570208" cy="461665"/>
          </a:xfrm>
          <a:prstGeom prst="rect">
            <a:avLst/>
          </a:prstGeom>
          <a:noFill/>
        </p:spPr>
        <p:txBody>
          <a:bodyPr wrap="none" rtlCol="0">
            <a:spAutoFit/>
          </a:bodyPr>
          <a:lstStyle/>
          <a:p>
            <a:r>
              <a:rPr lang="ja-JP" altLang="en-US" sz="2400" b="1">
                <a:solidFill>
                  <a:schemeClr val="bg1"/>
                </a:solidFill>
              </a:rPr>
              <a:t>課題：カスケード分類器</a:t>
            </a:r>
          </a:p>
        </p:txBody>
      </p:sp>
      <p:sp>
        <p:nvSpPr>
          <p:cNvPr id="2" name="テキスト ボックス 1">
            <a:extLst>
              <a:ext uri="{FF2B5EF4-FFF2-40B4-BE49-F238E27FC236}">
                <a16:creationId xmlns:a16="http://schemas.microsoft.com/office/drawing/2014/main" id="{6AE654FD-8354-0771-68F5-EC07E31782BA}"/>
              </a:ext>
            </a:extLst>
          </p:cNvPr>
          <p:cNvSpPr txBox="1"/>
          <p:nvPr/>
        </p:nvSpPr>
        <p:spPr>
          <a:xfrm>
            <a:off x="258503" y="937125"/>
            <a:ext cx="11674992" cy="584775"/>
          </a:xfrm>
          <a:prstGeom prst="rect">
            <a:avLst/>
          </a:prstGeom>
          <a:noFill/>
        </p:spPr>
        <p:txBody>
          <a:bodyPr wrap="none" rtlCol="0">
            <a:spAutoFit/>
          </a:bodyPr>
          <a:lstStyle/>
          <a:p>
            <a:pPr algn="ctr"/>
            <a:r>
              <a:rPr kumimoji="1" lang="ja-JP" altLang="en-US" sz="3200"/>
              <a:t>人の顔以外のカスケード分類器</a:t>
            </a:r>
            <a:r>
              <a:rPr lang="ja-JP" altLang="en-US" sz="3200"/>
              <a:t>をネットで探して</a:t>
            </a:r>
            <a:r>
              <a:rPr kumimoji="1" lang="ja-JP" altLang="en-US" sz="3200"/>
              <a:t>使ってみよう</a:t>
            </a:r>
          </a:p>
        </p:txBody>
      </p:sp>
      <p:sp>
        <p:nvSpPr>
          <p:cNvPr id="3" name="テキスト ボックス 2">
            <a:extLst>
              <a:ext uri="{FF2B5EF4-FFF2-40B4-BE49-F238E27FC236}">
                <a16:creationId xmlns:a16="http://schemas.microsoft.com/office/drawing/2014/main" id="{3164E95E-B4D2-4F3A-C4B9-56A8CFF06045}"/>
              </a:ext>
            </a:extLst>
          </p:cNvPr>
          <p:cNvSpPr txBox="1"/>
          <p:nvPr/>
        </p:nvSpPr>
        <p:spPr>
          <a:xfrm>
            <a:off x="4618671" y="1761635"/>
            <a:ext cx="2954655" cy="461665"/>
          </a:xfrm>
          <a:prstGeom prst="rect">
            <a:avLst/>
          </a:prstGeom>
          <a:noFill/>
        </p:spPr>
        <p:txBody>
          <a:bodyPr wrap="none" rtlCol="0">
            <a:spAutoFit/>
          </a:bodyPr>
          <a:lstStyle/>
          <a:p>
            <a:r>
              <a:rPr kumimoji="1" lang="ja-JP" altLang="en-US" sz="2400"/>
              <a:t>例：</a:t>
            </a:r>
            <a:r>
              <a:rPr lang="ja-JP" altLang="en-US" sz="2400"/>
              <a:t>アニメ顔の検出</a:t>
            </a:r>
            <a:endParaRPr lang="ja-JP" altLang="en-US"/>
          </a:p>
        </p:txBody>
      </p:sp>
      <p:sp>
        <p:nvSpPr>
          <p:cNvPr id="4" name="テキスト ボックス 3">
            <a:extLst>
              <a:ext uri="{FF2B5EF4-FFF2-40B4-BE49-F238E27FC236}">
                <a16:creationId xmlns:a16="http://schemas.microsoft.com/office/drawing/2014/main" id="{180B2BC2-BE96-3027-ECE5-B8ADF085A25C}"/>
              </a:ext>
            </a:extLst>
          </p:cNvPr>
          <p:cNvSpPr txBox="1"/>
          <p:nvPr/>
        </p:nvSpPr>
        <p:spPr>
          <a:xfrm>
            <a:off x="2618124" y="6205568"/>
            <a:ext cx="6955750" cy="461665"/>
          </a:xfrm>
          <a:prstGeom prst="rect">
            <a:avLst/>
          </a:prstGeom>
          <a:noFill/>
        </p:spPr>
        <p:txBody>
          <a:bodyPr wrap="none" rtlCol="0">
            <a:spAutoFit/>
          </a:bodyPr>
          <a:lstStyle/>
          <a:p>
            <a:pPr algn="ctr"/>
            <a:r>
              <a:rPr lang="ja-JP" altLang="en-US" sz="2400" b="1">
                <a:solidFill>
                  <a:srgbClr val="FF0000"/>
                </a:solidFill>
              </a:rPr>
              <a:t>アニメ顔の検出以外のものを探してきてください</a:t>
            </a:r>
          </a:p>
        </p:txBody>
      </p:sp>
      <p:pic>
        <p:nvPicPr>
          <p:cNvPr id="6" name="図 5" descr="テーブル, グループ, 立つ, 男 が含まれている画像&#10;&#10;自動的に生成された説明">
            <a:extLst>
              <a:ext uri="{FF2B5EF4-FFF2-40B4-BE49-F238E27FC236}">
                <a16:creationId xmlns:a16="http://schemas.microsoft.com/office/drawing/2014/main" id="{39778E21-C8AA-BBB5-C2E7-36FAA433D897}"/>
              </a:ext>
            </a:extLst>
          </p:cNvPr>
          <p:cNvPicPr>
            <a:picLocks noChangeAspect="1"/>
          </p:cNvPicPr>
          <p:nvPr/>
        </p:nvPicPr>
        <p:blipFill>
          <a:blip r:embed="rId2"/>
          <a:stretch>
            <a:fillRect/>
          </a:stretch>
        </p:blipFill>
        <p:spPr>
          <a:xfrm>
            <a:off x="6860767" y="2350118"/>
            <a:ext cx="4634055" cy="3624618"/>
          </a:xfrm>
          <a:prstGeom prst="rect">
            <a:avLst/>
          </a:prstGeom>
        </p:spPr>
      </p:pic>
      <p:pic>
        <p:nvPicPr>
          <p:cNvPr id="8" name="図 7" descr="テーブル, ケーキ, 座る, 女性 が含まれている画像&#10;&#10;自動的に生成された説明">
            <a:extLst>
              <a:ext uri="{FF2B5EF4-FFF2-40B4-BE49-F238E27FC236}">
                <a16:creationId xmlns:a16="http://schemas.microsoft.com/office/drawing/2014/main" id="{BFB7062B-AE31-0768-A934-B805EFDA07AF}"/>
              </a:ext>
            </a:extLst>
          </p:cNvPr>
          <p:cNvPicPr>
            <a:picLocks noChangeAspect="1"/>
          </p:cNvPicPr>
          <p:nvPr/>
        </p:nvPicPr>
        <p:blipFill>
          <a:blip r:embed="rId3"/>
          <a:stretch>
            <a:fillRect/>
          </a:stretch>
        </p:blipFill>
        <p:spPr>
          <a:xfrm>
            <a:off x="697180" y="2350118"/>
            <a:ext cx="4634055" cy="3624618"/>
          </a:xfrm>
          <a:prstGeom prst="rect">
            <a:avLst/>
          </a:prstGeom>
        </p:spPr>
      </p:pic>
      <p:sp>
        <p:nvSpPr>
          <p:cNvPr id="9" name="右矢印 8">
            <a:extLst>
              <a:ext uri="{FF2B5EF4-FFF2-40B4-BE49-F238E27FC236}">
                <a16:creationId xmlns:a16="http://schemas.microsoft.com/office/drawing/2014/main" id="{955FD4B6-6AE0-8C95-B183-25F69896240B}"/>
              </a:ext>
            </a:extLst>
          </p:cNvPr>
          <p:cNvSpPr/>
          <p:nvPr/>
        </p:nvSpPr>
        <p:spPr>
          <a:xfrm>
            <a:off x="5754415" y="3983751"/>
            <a:ext cx="683172" cy="357351"/>
          </a:xfrm>
          <a:prstGeom prst="rightArrow">
            <a:avLst/>
          </a:prstGeom>
          <a:solidFill>
            <a:srgbClr val="1F376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9365780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3401</TotalTime>
  <Words>1187</Words>
  <Application>Microsoft Macintosh PowerPoint</Application>
  <PresentationFormat>ワイド画面</PresentationFormat>
  <Paragraphs>168</Paragraphs>
  <Slides>27</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27</vt:i4>
      </vt:variant>
    </vt:vector>
  </HeadingPairs>
  <TitlesOfParts>
    <vt:vector size="33" baseType="lpstr">
      <vt:lpstr>游ゴシック</vt:lpstr>
      <vt:lpstr>游ゴシック Light</vt:lpstr>
      <vt:lpstr>Arial</vt:lpstr>
      <vt:lpstr>Courier New</vt:lpstr>
      <vt:lpstr>Wingdings</vt:lpstr>
      <vt:lpstr>Office テーマ</vt:lpstr>
      <vt:lpstr>メディアコンピューティング2026 </vt:lpstr>
      <vt:lpstr>次元削減と主成分分析</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メディアコンピューティング2020 </dc:title>
  <dc:creator>北坂　孝幸</dc:creator>
  <cp:lastModifiedBy>Takayuki Kitasaka</cp:lastModifiedBy>
  <cp:revision>457</cp:revision>
  <dcterms:created xsi:type="dcterms:W3CDTF">2020-05-14T05:40:54Z</dcterms:created>
  <dcterms:modified xsi:type="dcterms:W3CDTF">2026-07-08T04:09:04Z</dcterms:modified>
</cp:coreProperties>
</file>